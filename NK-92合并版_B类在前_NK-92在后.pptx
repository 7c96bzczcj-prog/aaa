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theme/theme3.xml" ContentType="application/vnd.openxmlformats-officedocument.theme+xml"/>
  <Override PartName="/ppt/slideLayouts/slideLayout24.xml" ContentType="application/vnd.openxmlformats-officedocument.presentationml.slideLayout+xml"/>
  <Override PartName="/ppt/slideMasters/slideMaster3.xml" ContentType="application/vnd.openxmlformats-officedocument.presentationml.slide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theme/theme4.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 id="2147483673" r:id="rId201"/>
  </p:sldMasterIdLst>
  <p:notesMasterIdLst>
    <p:notesMasterId r:id="rId202"/>
  </p:notesMasterIdLst>
  <p:sldIdLst>
    <p:sldId id="400" r:id="rId210"/>
    <p:sldId id="401" r:id="rId211"/>
    <p:sldId id="402" r:id="rId212"/>
    <p:sldId id="403" r:id="rId213"/>
    <p:sldId id="404" r:id="rId214"/>
    <p:sldId id="405" r:id="rId215"/>
    <p:sldId id="406" r:id="rId216"/>
    <p:sldId id="407" r:id="rId217"/>
    <p:sldId id="408" r:id="rId218"/>
    <p:sldId id="409" r:id="rId219"/>
    <p:sldId id="410" r:id="rId220"/>
    <p:sldId id="411" r:id="rId221"/>
    <p:sldId id="283" r:id="rId4"/>
    <p:sldId id="284" r:id="rId5"/>
    <p:sldId id="285" r:id="rId6"/>
    <p:sldId id="286" r:id="rId7"/>
    <p:sldId id="287" r:id="rId8"/>
    <p:sldId id="288" r:id="rId9"/>
    <p:sldId id="289" r:id="rId10"/>
    <p:sldId id="290" r:id="rId11"/>
    <p:sldId id="291" r:id="rId12"/>
    <p:sldId id="292" r:id="rId13"/>
    <p:sldId id="293" r:id="rId14"/>
    <p:sldId id="294" r:id="rId15"/>
    <p:sldId id="295" r:id="rId16"/>
    <p:sldId id="296" r:id="rId17"/>
    <p:sldId id="297" r:id="rId18"/>
    <p:sldId id="299" r:id="rId20"/>
    <p:sldId id="300" r:id="rId21"/>
    <p:sldId id="301" r:id="rId22"/>
    <p:sldId id="302" r:id="rId23"/>
    <p:sldId id="303" r:id="rId24"/>
    <p:sldId id="304" r:id="rId25"/>
    <p:sldId id="305" r:id="rId26"/>
    <p:sldId id="307" r:id="rId28"/>
    <p:sldId id="308" r:id="rId29"/>
    <p:sldId id="309" r:id="rId30"/>
    <p:sldId id="325" r:id="rId47"/>
    <p:sldId id="326" r:id="rId48"/>
    <p:sldId id="327" r:id="rId49"/>
    <p:sldId id="328" r:id="rId50"/>
    <p:sldId id="310" r:id="rId31"/>
    <p:sldId id="311" r:id="rId32"/>
    <p:sldId id="313" r:id="rId33"/>
    <p:sldId id="314" r:id="rId34"/>
    <p:sldId id="315" r:id="rId35"/>
    <p:sldId id="316" r:id="rId36"/>
    <p:sldId id="317" r:id="rId37"/>
    <p:sldId id="318" r:id="rId38"/>
    <p:sldId id="319" r:id="rId39"/>
    <p:sldId id="320" r:id="rId40"/>
    <p:sldId id="321" r:id="rId41"/>
    <p:sldId id="323" r:id="rId42"/>
    <p:sldId id="324" r:id="rId43"/>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201" Type="http://schemas.openxmlformats.org/officeDocument/2006/relationships/slideMaster" Target="slideMasters/slideMaster3.xml"/><Relationship Id="rId202" Type="http://schemas.openxmlformats.org/officeDocument/2006/relationships/notesMaster" Target="notesMasters/notesMaster1.xml"/><Relationship Id="rId210" Type="http://schemas.openxmlformats.org/officeDocument/2006/relationships/slide" Target="slides/slide45.xml"/><Relationship Id="rId211" Type="http://schemas.openxmlformats.org/officeDocument/2006/relationships/slide" Target="slides/slide46.xml"/><Relationship Id="rId212" Type="http://schemas.openxmlformats.org/officeDocument/2006/relationships/slide" Target="slides/slide47.xml"/><Relationship Id="rId213" Type="http://schemas.openxmlformats.org/officeDocument/2006/relationships/slide" Target="slides/slide48.xml"/><Relationship Id="rId214" Type="http://schemas.openxmlformats.org/officeDocument/2006/relationships/slide" Target="slides/slide49.xml"/><Relationship Id="rId215" Type="http://schemas.openxmlformats.org/officeDocument/2006/relationships/slide" Target="slides/slide50.xml"/><Relationship Id="rId216" Type="http://schemas.openxmlformats.org/officeDocument/2006/relationships/slide" Target="slides/slide51.xml"/><Relationship Id="rId217" Type="http://schemas.openxmlformats.org/officeDocument/2006/relationships/slide" Target="slides/slide52.xml"/><Relationship Id="rId218" Type="http://schemas.openxmlformats.org/officeDocument/2006/relationships/slide" Target="slides/slide53.xml"/><Relationship Id="rId219" Type="http://schemas.openxmlformats.org/officeDocument/2006/relationships/slide" Target="slides/slide54.xml"/><Relationship Id="rId220" Type="http://schemas.openxmlformats.org/officeDocument/2006/relationships/slide" Target="slides/slide55.xml"/><Relationship Id="rId221" Type="http://schemas.openxmlformats.org/officeDocument/2006/relationships/slide" Target="slides/slide56.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4.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Kopcow 2005：裂解活性仅为 pbNK 的约 15%，黏附、受体活化、F-actin 重塑均正常，颗粒亦可汇聚至 MTOC 附近。PNAS 2025：HLA-A/B/C 聚集于免疫突触，接合抑制性 KIR，经 ITIM → SHP-1/2 传递；抗体阻断 HLA–KIR 后极化恢复（Fig 4）；该文仅做极化成像，杀伤数据来自同组 2018 年 Al Absi, Cancer Res，体系不同。Das &amp; Long 2010：果蝇 S2 细胞上逐一表达 ICAM-1 / HLA-C / HLA-E / ULBP1 / LLT1。　两点需准确表述：第 1 至第 4 步均正常，包括 F-actin 重塑，本命题的前提正是「前序步骤完整而受阻于第 5 步」；且第 5 步并非颗粒释放的必经控制点。理论上，凡病变位于「活化受体信号下游、MTOC 转运上游」这一区间，即会影响第 5 步而不影响第 4 步（Hsu &amp; Orange 2014）。　721.221 为 EB 病毒转化的 B 淋巴母细胞株，LLT1 在该株上为实测阳性，其受体为 dNK 细胞表达的 CD161（NKR-P1A）；K562 高表达 CD155/CD112，对应 TIGIT/CD96。Das &amp; Long 已证明 LLT1 的作用位点正是第 5 步。因此「MHC-I 阴性即无抑制信号」这一表述不成立。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补充说明：Kopcow 所用靶细胞携带多条候选非 HLA 抑制轴 —— 721.221 为 EB 病毒转化 B 淋巴母细胞株且 LLT1 实测阳性，K562 高表达 CD155/CD112；受体侧 CD161 与 TIGIT 在 dNK 细胞中的表达比例从未被直接测定（Vento-Tormo 将 KLRB1 列为 dNK3 亚群标志基因，可能为亚群限定），故各条抑制轴均未被排除，其权重亦未知。PNAS 2025 Fig 5 中 KIR2DL1 阴性亚群仅去除匹配的 KIR–HLA-C，未去除 NKG2A–HLA-E。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2 层必须不使用靶细胞：721.221 表达 LLT1（受体为 CD161），K562 表达 CD155（受体为 TIGIT），「MHC-I 阴性」并不等同于无抑制性配体，该层的关键在于抑制性配体为零。　若需区分 A 类与 C 类，应在含靶细胞条件下比较「阻断 HLA/KIR」与「补充活化信号」两种恢复手段，该实验不在本方案范围内。　一项有参考价值的数据：PNAS 2025 中 MDA-MB-231 的 HLA-C2 表达密度偏低，在低配体密度下仍可测出效应，说明 A 类抑制是可滴定、配体依赖的 —— 这正是「以实验条件区分机制」得以成立的前提。若 A 类不是配体依赖的，去除靶细胞也无法排除它。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NK-92 仅用于本阶段的三条理由：① 该细胞株本身为 CD56 强阳性、CD16 阴性表型，无法设置亚群对照；② 其培养依赖持续存在的白介素-2，无法实施撤除诱导物的洗脱实验；③ 本研究的 TGF-β 联合缺氧诱导方案系针对原代外周血 NK 细胞建立。　本平台共聚焦显微镜与成像流式细胞仪均具备，设备非限制因素。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采用绝对数值而非相对数值：若四组整体劣化，相对匹配可能仍然成立，但实验实际已失去检测效力。判读标准置于实验实施之前，是本方案得以在任一结果下明确终止的前提。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9C8440F-B860-43C9-8460-A0F81E22E113}"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9C8440F-B860-43C9-8460-A0F81E22E113}"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9C8440F-B860-43C9-8460-A0F81E22E113}"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9C8440F-B860-43C9-8460-A0F81E22E113}"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9C8440F-B860-43C9-8460-A0F81E22E113}"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9C8440F-B860-43C9-8460-A0F81E22E113}"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9C8440F-B860-43C9-8460-A0F81E22E113}"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9C8440F-B860-43C9-8460-A0F81E22E113}"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9C8440F-B860-43C9-8460-A0F81E22E113}"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9C8440F-B860-43C9-8460-A0F81E22E113}"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9C8440F-B860-43C9-8460-A0F81E22E113}"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cSld name="1_仅标题">
    <p:spTree>
      <p:nvGrpSpPr>
        <p:cNvPr id="1" name=""/>
        <p:cNvGrpSpPr/>
        <p:nvPr/>
      </p:nvGrpSpPr>
      <p:grpSpPr>
        <a:xfrm>
          <a:off x="0" y="0"/>
          <a:ext cx="0" cy="0"/>
          <a:chOff x="0" y="0"/>
          <a:chExt cx="0" cy="0"/>
        </a:xfrm>
      </p:grpSpPr>
      <p:sp>
        <p:nvSpPr>
          <p:cNvPr id="6" name="矩形 5"/>
          <p:cNvSpPr/>
          <p:nvPr userDrawn="1"/>
        </p:nvSpPr>
        <p:spPr>
          <a:xfrm>
            <a:off x="-635" y="6353810"/>
            <a:ext cx="12216130" cy="504000"/>
          </a:xfrm>
          <a:prstGeom prst="rect">
            <a:avLst/>
          </a:prstGeom>
          <a:solidFill>
            <a:srgbClr val="163D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userDrawn="1"/>
        </p:nvSpPr>
        <p:spPr>
          <a:xfrm>
            <a:off x="4224655" y="6377305"/>
            <a:ext cx="3602990" cy="480695"/>
          </a:xfrm>
          <a:prstGeom prst="rect">
            <a:avLst/>
          </a:prstGeom>
          <a:noFill/>
        </p:spPr>
        <p:txBody>
          <a:bodyPr wrap="square" rtlCol="0" anchor="ctr" anchorCtr="0">
            <a:noAutofit/>
          </a:bodyPr>
          <a:lstStyle/>
          <a:p>
            <a:r>
              <a:rPr lang="zh-CN" altLang="en-US" sz="2400">
                <a:solidFill>
                  <a:schemeClr val="bg1"/>
                </a:solidFill>
                <a:latin typeface="华文行楷" panose="02010800040101010101" pitchFamily="2" charset="-122"/>
                <a:ea typeface="华文行楷" panose="02010800040101010101" pitchFamily="2" charset="-122"/>
                <a:cs typeface="华文行楷" panose="02010800040101010101" pitchFamily="2" charset="-122"/>
              </a:rPr>
              <a:t>厚德</a:t>
            </a:r>
            <a:r>
              <a:rPr lang="en-US" altLang="zh-CN" sz="2400">
                <a:solidFill>
                  <a:schemeClr val="bg1"/>
                </a:solidFill>
                <a:latin typeface="华文行楷" panose="02010800040101010101" pitchFamily="2" charset="-122"/>
                <a:ea typeface="华文行楷" panose="02010800040101010101" pitchFamily="2" charset="-122"/>
                <a:cs typeface="华文行楷" panose="02010800040101010101" pitchFamily="2" charset="-122"/>
              </a:rPr>
              <a:t>  </a:t>
            </a:r>
            <a:r>
              <a:rPr lang="zh-CN" altLang="en-US" sz="2400">
                <a:solidFill>
                  <a:schemeClr val="bg1"/>
                </a:solidFill>
                <a:latin typeface="华文行楷" panose="02010800040101010101" pitchFamily="2" charset="-122"/>
                <a:ea typeface="华文行楷" panose="02010800040101010101" pitchFamily="2" charset="-122"/>
                <a:cs typeface="华文行楷" panose="02010800040101010101" pitchFamily="2" charset="-122"/>
              </a:rPr>
              <a:t>严谨</a:t>
            </a:r>
            <a:r>
              <a:rPr lang="en-US" altLang="zh-CN" sz="2400">
                <a:solidFill>
                  <a:schemeClr val="bg1"/>
                </a:solidFill>
                <a:latin typeface="华文行楷" panose="02010800040101010101" pitchFamily="2" charset="-122"/>
                <a:ea typeface="华文行楷" panose="02010800040101010101" pitchFamily="2" charset="-122"/>
                <a:cs typeface="华文行楷" panose="02010800040101010101" pitchFamily="2" charset="-122"/>
              </a:rPr>
              <a:t>  </a:t>
            </a:r>
            <a:r>
              <a:rPr lang="zh-CN" altLang="en-US" sz="2400">
                <a:solidFill>
                  <a:schemeClr val="bg1"/>
                </a:solidFill>
                <a:latin typeface="华文行楷" panose="02010800040101010101" pitchFamily="2" charset="-122"/>
                <a:ea typeface="华文行楷" panose="02010800040101010101" pitchFamily="2" charset="-122"/>
                <a:cs typeface="华文行楷" panose="02010800040101010101" pitchFamily="2" charset="-122"/>
              </a:rPr>
              <a:t>博学</a:t>
            </a:r>
            <a:r>
              <a:rPr lang="en-US" altLang="zh-CN" sz="2400">
                <a:solidFill>
                  <a:schemeClr val="bg1"/>
                </a:solidFill>
                <a:latin typeface="华文行楷" panose="02010800040101010101" pitchFamily="2" charset="-122"/>
                <a:ea typeface="华文行楷" panose="02010800040101010101" pitchFamily="2" charset="-122"/>
                <a:cs typeface="华文行楷" panose="02010800040101010101" pitchFamily="2" charset="-122"/>
              </a:rPr>
              <a:t>  </a:t>
            </a:r>
            <a:r>
              <a:rPr lang="zh-CN" altLang="en-US" sz="2400">
                <a:solidFill>
                  <a:schemeClr val="bg1"/>
                </a:solidFill>
                <a:latin typeface="华文行楷" panose="02010800040101010101" pitchFamily="2" charset="-122"/>
                <a:ea typeface="华文行楷" panose="02010800040101010101" pitchFamily="2" charset="-122"/>
                <a:cs typeface="华文行楷" panose="02010800040101010101" pitchFamily="2" charset="-122"/>
              </a:rPr>
              <a:t>和谐</a:t>
            </a:r>
            <a:endParaRPr lang="zh-CN" altLang="en-US" sz="2400">
              <a:solidFill>
                <a:schemeClr val="bg1"/>
              </a:solidFill>
              <a:latin typeface="华文行楷" panose="02010800040101010101" pitchFamily="2" charset="-122"/>
              <a:ea typeface="华文行楷" panose="02010800040101010101" pitchFamily="2" charset="-122"/>
              <a:cs typeface="华文行楷" panose="02010800040101010101" pitchFamily="2" charset="-122"/>
            </a:endParaRPr>
          </a:p>
        </p:txBody>
      </p:sp>
      <p:sp>
        <p:nvSpPr>
          <p:cNvPr id="3" name="矩形 21"/>
          <p:cNvSpPr/>
          <p:nvPr userDrawn="1"/>
        </p:nvSpPr>
        <p:spPr>
          <a:xfrm>
            <a:off x="0" y="814052"/>
            <a:ext cx="12204000" cy="4286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lt1"/>
              </a:solidFill>
              <a:latin typeface="Calibri" panose="020F0502020204030204" charset="0"/>
              <a:ea typeface="宋体" pitchFamily="2" charset="-122"/>
            </a:endParaRPr>
          </a:p>
        </p:txBody>
      </p:sp>
      <p:pic>
        <p:nvPicPr>
          <p:cNvPr id="12" name="图片 11" descr="海南医科大学校徽+医科院院徽"/>
          <p:cNvPicPr>
            <a:picLocks noChangeAspect="1"/>
          </p:cNvPicPr>
          <p:nvPr userDrawn="1"/>
        </p:nvPicPr>
        <p:blipFill>
          <a:blip r:embed="rId2"/>
          <a:stretch>
            <a:fillRect/>
          </a:stretch>
        </p:blipFill>
        <p:spPr>
          <a:xfrm>
            <a:off x="8105140" y="202565"/>
            <a:ext cx="3995420" cy="504825"/>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7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7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7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C8440F-B860-43C9-8460-A0F81E22E11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4"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7.png"/></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e105_image1001.png"/><Relationship Id="rId6" Type="http://schemas.openxmlformats.org/officeDocument/2006/relationships/image" Target="../media/e105_image1002.png"/><Relationship Id="rId5" Type="http://schemas.openxmlformats.org/officeDocument/2006/relationships/image" Target="../media/e105_image1003.png"/><Relationship Id="rId4" Type="http://schemas.openxmlformats.org/officeDocument/2006/relationships/image" Target="../media/e105_image1004.png"/><Relationship Id="rId3" Type="http://schemas.openxmlformats.org/officeDocument/2006/relationships/image" Target="../media/e105_image1005.png"/><Relationship Id="rId2" Type="http://schemas.openxmlformats.org/officeDocument/2006/relationships/image" Target="../media/e105_image1006.png"/><Relationship Id="rId1" Type="http://schemas.openxmlformats.org/officeDocument/2006/relationships/image" Target="../media/e105_image1007.png"/></Relationships>
</file>

<file path=ppt/slides/_rels/slide42.xml.rels><?xml version="1.0" encoding="UTF-8" standalone="yes"?>
<Relationships xmlns="http://schemas.openxmlformats.org/package/2006/relationships"><Relationship Id="rId9" Type="http://schemas.openxmlformats.org/officeDocument/2006/relationships/image" Target="../media/e105_image1008.png"/><Relationship Id="rId8" Type="http://schemas.openxmlformats.org/officeDocument/2006/relationships/image" Target="../media/e105_image1009.png"/><Relationship Id="rId7" Type="http://schemas.openxmlformats.org/officeDocument/2006/relationships/image" Target="../media/e105_image1010.png"/><Relationship Id="rId6" Type="http://schemas.openxmlformats.org/officeDocument/2006/relationships/image" Target="../media/e105_image1011.png"/><Relationship Id="rId5" Type="http://schemas.openxmlformats.org/officeDocument/2006/relationships/image" Target="../media/e105_image1012.png"/><Relationship Id="rId4" Type="http://schemas.openxmlformats.org/officeDocument/2006/relationships/image" Target="../media/e105_image1013.png"/><Relationship Id="rId3" Type="http://schemas.openxmlformats.org/officeDocument/2006/relationships/image" Target="../media/e105_image1014.png"/><Relationship Id="rId2" Type="http://schemas.openxmlformats.org/officeDocument/2006/relationships/image" Target="../media/e105_image1015.png"/><Relationship Id="rId18" Type="http://schemas.openxmlformats.org/officeDocument/2006/relationships/slideLayout" Target="../slideLayouts/slideLayout7.xml"/><Relationship Id="rId17" Type="http://schemas.openxmlformats.org/officeDocument/2006/relationships/image" Target="../media/e105_image1016.png"/><Relationship Id="rId16" Type="http://schemas.openxmlformats.org/officeDocument/2006/relationships/image" Target="../media/e105_image1017.png"/><Relationship Id="rId15" Type="http://schemas.openxmlformats.org/officeDocument/2006/relationships/image" Target="../media/e105_image1018.png"/><Relationship Id="rId14" Type="http://schemas.openxmlformats.org/officeDocument/2006/relationships/image" Target="../media/e105_image1019.png"/><Relationship Id="rId13" Type="http://schemas.openxmlformats.org/officeDocument/2006/relationships/image" Target="../media/e105_image1020.png"/><Relationship Id="rId12" Type="http://schemas.openxmlformats.org/officeDocument/2006/relationships/image" Target="../media/e105_image1021.png"/><Relationship Id="rId11" Type="http://schemas.openxmlformats.org/officeDocument/2006/relationships/image" Target="../media/e105_image1022.png"/><Relationship Id="rId10" Type="http://schemas.openxmlformats.org/officeDocument/2006/relationships/image" Target="../media/e105_image1023.png"/><Relationship Id="rId1" Type="http://schemas.openxmlformats.org/officeDocument/2006/relationships/image" Target="../media/e105_image1024.png"/></Relationships>
</file>

<file path=ppt/slides/_rels/slide43.xml.rels><?xml version="1.0" encoding="UTF-8" standalone="yes"?>
<Relationships xmlns="http://schemas.openxmlformats.org/package/2006/relationships"><Relationship Id="rId9" Type="http://schemas.openxmlformats.org/officeDocument/2006/relationships/image" Target="../media/e105_image1025.png"/><Relationship Id="rId8" Type="http://schemas.openxmlformats.org/officeDocument/2006/relationships/image" Target="../media/e105_image1026.png"/><Relationship Id="rId7" Type="http://schemas.openxmlformats.org/officeDocument/2006/relationships/image" Target="../media/e105_image1027.png"/><Relationship Id="rId6" Type="http://schemas.openxmlformats.org/officeDocument/2006/relationships/image" Target="../media/e105_image1028.png"/><Relationship Id="rId5" Type="http://schemas.openxmlformats.org/officeDocument/2006/relationships/image" Target="../media/e105_image1029.png"/><Relationship Id="rId4" Type="http://schemas.openxmlformats.org/officeDocument/2006/relationships/image" Target="../media/e105_image1030.png"/><Relationship Id="rId3" Type="http://schemas.openxmlformats.org/officeDocument/2006/relationships/image" Target="../media/e105_image1031.png"/><Relationship Id="rId2" Type="http://schemas.openxmlformats.org/officeDocument/2006/relationships/image" Target="../media/e105_image1032.png"/><Relationship Id="rId18" Type="http://schemas.openxmlformats.org/officeDocument/2006/relationships/slideLayout" Target="../slideLayouts/slideLayout7.xml"/><Relationship Id="rId17" Type="http://schemas.openxmlformats.org/officeDocument/2006/relationships/image" Target="../media/e105_image1033.png"/><Relationship Id="rId16" Type="http://schemas.openxmlformats.org/officeDocument/2006/relationships/image" Target="../media/e105_image1034.png"/><Relationship Id="rId15" Type="http://schemas.openxmlformats.org/officeDocument/2006/relationships/image" Target="../media/e105_image1035.png"/><Relationship Id="rId14" Type="http://schemas.openxmlformats.org/officeDocument/2006/relationships/image" Target="../media/e105_image1036.png"/><Relationship Id="rId13" Type="http://schemas.openxmlformats.org/officeDocument/2006/relationships/image" Target="../media/e105_image1037.png"/><Relationship Id="rId12" Type="http://schemas.openxmlformats.org/officeDocument/2006/relationships/image" Target="../media/e105_image1038.png"/><Relationship Id="rId11" Type="http://schemas.openxmlformats.org/officeDocument/2006/relationships/image" Target="../media/e105_image1039.png"/><Relationship Id="rId10" Type="http://schemas.openxmlformats.org/officeDocument/2006/relationships/image" Target="../media/e105_image1040.png"/><Relationship Id="rId1" Type="http://schemas.openxmlformats.org/officeDocument/2006/relationships/image" Target="../media/e105_image10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image" Target="../media/bmerge_image-1-1.png"/><Relationship Id="rId2" Type="http://schemas.openxmlformats.org/officeDocument/2006/relationships/slideLayout" Target="../slideLayouts/slideLayout24.xml"/><Relationship Id="rId3" Type="http://schemas.openxmlformats.org/officeDocument/2006/relationships/notesSlide" Target="../notesSlides/notesSlide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8.xml.rels><?xml version="1.0" encoding="UTF-8" standalone="yes"?>
<Relationships xmlns="http://schemas.openxmlformats.org/package/2006/relationships"><Relationship Id="rId1" Type="http://schemas.openxmlformats.org/officeDocument/2006/relationships/image" Target="../media/bmerge_image-4-1.png"/><Relationship Id="rId2" Type="http://schemas.openxmlformats.org/officeDocument/2006/relationships/slideLayout" Target="../slideLayouts/slideLayout24.xml"/><Relationship Id="rId3" Type="http://schemas.openxmlformats.org/officeDocument/2006/relationships/notesSlide" Target="../notesSlides/notesSlide4.xml"/></Relationships>
</file>

<file path=ppt/slides/_rels/slide49.xml.rels><?xml version="1.0" encoding="UTF-8" standalone="yes"?>
<Relationships xmlns="http://schemas.openxmlformats.org/package/2006/relationships"><Relationship Id="rId1" Type="http://schemas.openxmlformats.org/officeDocument/2006/relationships/image" Target="../media/bmerge_image-5-1.png"/><Relationship Id="rId2" Type="http://schemas.openxmlformats.org/officeDocument/2006/relationships/slideLayout" Target="../slideLayouts/slideLayout24.xml"/><Relationship Id="rId3" Type="http://schemas.openxmlformats.org/officeDocument/2006/relationships/notesSlide" Target="../notesSlides/notesSlide5.xml"/></Relationships>
</file>

<file path=ppt/slides/_rels/slide50.xml.rels><?xml version="1.0" encoding="UTF-8" standalone="yes"?>
<Relationships xmlns="http://schemas.openxmlformats.org/package/2006/relationships"><Relationship Id="rId1" Type="http://schemas.openxmlformats.org/officeDocument/2006/relationships/image" Target="../media/bmerge_image-6-1.png"/><Relationship Id="rId2" Type="http://schemas.openxmlformats.org/officeDocument/2006/relationships/slideLayout" Target="../slideLayouts/slideLayout24.xml"/><Relationship Id="rId3" Type="http://schemas.openxmlformats.org/officeDocument/2006/relationships/notesSlide" Target="../notesSlides/notesSlide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1" name="文本框 42"/>
          <p:cNvSpPr txBox="1"/>
          <p:nvPr/>
        </p:nvSpPr>
        <p:spPr>
          <a:xfrm>
            <a:off x="592455" y="2132891"/>
            <a:ext cx="11007090" cy="1069845"/>
          </a:xfrm>
          <a:prstGeom prst="rect">
            <a:avLst/>
          </a:prstGeom>
          <a:noFill/>
        </p:spPr>
        <p:txBody>
          <a:bodyPr wrap="square" rtlCol="0">
            <a:spAutoFit/>
          </a:bodyPr>
          <a:lstStyle/>
          <a:p>
            <a:pPr algn="ctr">
              <a:lnSpc>
                <a:spcPct val="150000"/>
              </a:lnSpc>
            </a:pPr>
            <a:r>
              <a:rPr lang="zh-CN" altLang="en-US" sz="44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rPr>
              <a:t>NK-92：醋酸钠与 TGF-β 流式数据汇报</a:t>
            </a:r>
            <a:endParaRPr lang="zh-CN" altLang="en-US" sz="44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endParaRPr>
          </a:p>
        </p:txBody>
      </p:sp>
      <p:sp>
        <p:nvSpPr>
          <p:cNvPr id="1002" name="文本框 2"/>
          <p:cNvSpPr txBox="1"/>
          <p:nvPr/>
        </p:nvSpPr>
        <p:spPr>
          <a:xfrm>
            <a:off x="2143030" y="3983287"/>
            <a:ext cx="7702239" cy="1254125"/>
          </a:xfrm>
          <a:prstGeom prst="rect">
            <a:avLst/>
          </a:prstGeom>
          <a:noFill/>
        </p:spPr>
        <p:txBody>
          <a:bodyPr wrap="square" rtlCol="0" anchor="t">
            <a:noAutofit/>
          </a:bodyPr>
          <a:lstStyle/>
          <a:p>
            <a:pPr algn="ctr">
              <a:lnSpc>
                <a:spcPct val="150000"/>
              </a:lnSpc>
            </a:pPr>
            <a:r>
              <a:rPr lang="zh-CN" altLang="en-US" sz="2800" b="1" dirty="0">
                <a:latin typeface="Times New Roman" panose="02020603050405020304" charset="0"/>
                <a:ea typeface="楷体" panose="02010609060101010101" charset="-122"/>
                <a:cs typeface="Times New Roman" panose="02020603050405020304" charset="0"/>
                <a:sym typeface="+mn-lt"/>
              </a:rPr>
              <a:t>汇报人：唐泽宇</a:t>
            </a:r>
            <a:endParaRPr lang="zh-CN" altLang="en-US" sz="2800" b="1" dirty="0">
              <a:latin typeface="Times New Roman" panose="02020603050405020304" charset="0"/>
              <a:ea typeface="楷体" panose="02010609060101010101" charset="-122"/>
              <a:cs typeface="Times New Roman" panose="02020603050405020304" charset="0"/>
              <a:sym typeface="+mn-lt"/>
            </a:endParaRPr>
          </a:p>
          <a:p>
            <a:pPr algn="ctr">
              <a:lnSpc>
                <a:spcPct val="150000"/>
              </a:lnSpc>
            </a:pPr>
            <a:r>
              <a:rPr lang="zh-CN" altLang="en-US" sz="2800" b="1" dirty="0">
                <a:latin typeface="Times New Roman" panose="02020603050405020304" charset="0"/>
                <a:ea typeface="楷体" panose="02010609060101010101" charset="-122"/>
                <a:cs typeface="Times New Roman" panose="02020603050405020304" charset="0"/>
                <a:sym typeface="+mn-lt"/>
              </a:rPr>
              <a:t>海南医科大学(海南省医学科学院)</a:t>
            </a:r>
            <a:endParaRPr lang="zh-CN" altLang="en-US" sz="2800" b="1" dirty="0">
              <a:latin typeface="Times New Roman" panose="02020603050405020304" charset="0"/>
              <a:ea typeface="楷体" panose="02010609060101010101" charset="-122"/>
              <a:cs typeface="Times New Roman" panose="02020603050405020304" charset="0"/>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 name="文本框 2"/>
          <p:cNvSpPr txBox="1"/>
          <p:nvPr/>
        </p:nvSpPr>
        <p:spPr>
          <a:xfrm>
            <a:off x="190500" y="256853"/>
            <a:ext cx="6781800" cy="400110"/>
          </a:xfrm>
          <a:prstGeom prst="rect">
            <a:avLst/>
          </a:prstGeom>
          <a:noFill/>
        </p:spPr>
        <p:txBody>
          <a:bodyPr wrap="square" rtlCol="0">
            <a:spAutoFit/>
          </a:bodyPr>
          <a:lstStyle/>
          <a:p>
            <a:r>
              <a:rPr lang="zh-CN" altLang="en-US" sz="2000" b="1" dirty="0">
                <a:solidFill>
                  <a:schemeClr val="accent4">
                    <a:lumMod val="50000"/>
                  </a:schemeClr>
                </a:solidFill>
                <a:latin typeface="微软雅黑" panose="020B0503020204020204" charset="-122"/>
                <a:ea typeface="微软雅黑" panose="020B0503020204020204" charset="-122"/>
              </a:rPr>
              <a:t>汇报提纲</a:t>
            </a:r>
            <a:endParaRPr lang="zh-CN" altLang="en-US" sz="2000" b="1" dirty="0">
              <a:solidFill>
                <a:schemeClr val="accent4">
                  <a:lumMod val="50000"/>
                </a:schemeClr>
              </a:solidFill>
              <a:latin typeface="微软雅黑" panose="020B0503020204020204" charset="-122"/>
              <a:ea typeface="微软雅黑" panose="020B0503020204020204" charset="-122"/>
            </a:endParaRPr>
          </a:p>
        </p:txBody>
      </p:sp>
      <p:sp>
        <p:nvSpPr>
          <p:cNvPr id="1004" name="文本框 64"/>
          <p:cNvSpPr txBox="1"/>
          <p:nvPr/>
        </p:nvSpPr>
        <p:spPr>
          <a:xfrm>
            <a:off x="1005840" y="1280160"/>
            <a:ext cx="10241280" cy="4023360"/>
          </a:xfrm>
          <a:prstGeom prst="rect">
            <a:avLst/>
          </a:prstGeom>
          <a:noFill/>
        </p:spPr>
        <p:txBody>
          <a:bodyPr wrap="square">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640080" indent="-18288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925955" indent="-554355"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85750" indent="-285750" algn="just">
              <a:lnSpc>
                <a:spcPct val="150000"/>
              </a:lnSpc>
              <a:buFont typeface="Wingdings" panose="05000000000000000000" pitchFamily="2" charset="2"/>
              <a:buChar char="l"/>
            </a:pPr>
            <a:r>
              <a:rPr lang="zh-CN" altLang="en-US" sz="2200" b="1" dirty="0">
                <a:latin typeface="微软雅黑" panose="020B0503020204020204" charset="-122"/>
                <a:ea typeface="微软雅黑" panose="020B0503020204020204" charset="-122"/>
              </a:rPr>
              <a:t>第一部分  醋酸钠浓度梯度对细胞活率的影响（活死染色，2026-09-05）</a:t>
            </a:r>
            <a:endParaRPr lang="zh-CN" altLang="en-US" sz="2200" b="1" dirty="0">
              <a:latin typeface="微软雅黑" panose="020B0503020204020204" charset="-122"/>
              <a:ea typeface="微软雅黑" panose="020B0503020204020204" charset="-122"/>
            </a:endParaRPr>
          </a:p>
          <a:p>
            <a:pPr marL="285750" indent="-285750" algn="just">
              <a:lnSpc>
                <a:spcPct val="150000"/>
              </a:lnSpc>
              <a:buFont typeface="Wingdings" panose="05000000000000000000" pitchFamily="2" charset="2"/>
              <a:buChar char="l"/>
            </a:pPr>
            <a:r>
              <a:rPr lang="zh-CN" altLang="en-US" sz="2200" b="1" dirty="0">
                <a:latin typeface="微软雅黑" panose="020B0503020204020204" charset="-122"/>
                <a:ea typeface="微软雅黑" panose="020B0503020204020204" charset="-122"/>
              </a:rPr>
              <a:t>第二部分  TGF-β 对效应分子表达的影响（Perforin、IFN-γ、Granzyme B，2026-09-05）</a:t>
            </a:r>
            <a:endParaRPr lang="zh-CN" altLang="en-US" sz="2200" b="1" dirty="0">
              <a:latin typeface="微软雅黑" panose="020B0503020204020204" charset="-122"/>
              <a:ea typeface="微软雅黑" panose="020B0503020204020204" charset="-122"/>
            </a:endParaRPr>
          </a:p>
          <a:p>
            <a:pPr marL="285750" indent="-285750" algn="just">
              <a:lnSpc>
                <a:spcPct val="150000"/>
              </a:lnSpc>
              <a:buFont typeface="Wingdings" panose="05000000000000000000" pitchFamily="2" charset="2"/>
              <a:buChar char="l"/>
            </a:pPr>
            <a:r>
              <a:rPr lang="zh-CN" altLang="en-US" sz="2200" b="1" dirty="0">
                <a:latin typeface="微软雅黑" panose="020B0503020204020204" charset="-122"/>
                <a:ea typeface="微软雅黑" panose="020B0503020204020204" charset="-122"/>
              </a:rPr>
              <a:t>第三部分  醋酸钠与 BMS-303141 对 TGF-β 抑制效应分子的影响（2026-09-11）</a:t>
            </a:r>
            <a:endParaRPr lang="zh-CN" altLang="en-US" sz="2200" b="1" dirty="0">
              <a:latin typeface="微软雅黑" panose="020B0503020204020204" charset="-122"/>
              <a:ea typeface="微软雅黑" panose="020B0503020204020204" charset="-122"/>
            </a:endParaRPr>
          </a:p>
          <a:p>
            <a:pPr marL="285750" indent="-285750" algn="just">
              <a:lnSpc>
                <a:spcPct val="150000"/>
              </a:lnSpc>
              <a:buFont typeface="Wingdings" panose="05000000000000000000" pitchFamily="2" charset="2"/>
              <a:buChar char="l"/>
            </a:pPr>
            <a:r>
              <a:rPr lang="zh-CN" altLang="en-US" sz="2200" b="1" dirty="0">
                <a:latin typeface="微软雅黑" panose="020B0503020204020204" charset="-122"/>
                <a:ea typeface="微软雅黑" panose="020B0503020204020204" charset="-122"/>
              </a:rPr>
              <a:t>第四部分  TGF-β 与醋酸钠对驻留标志、增殖与效应分子的影响（2026-09-29）</a:t>
            </a:r>
            <a:endParaRPr lang="zh-CN" altLang="en-US" sz="2200" b="1" dirty="0">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5" name="文本框 42"/>
          <p:cNvSpPr txBox="1"/>
          <p:nvPr/>
        </p:nvSpPr>
        <p:spPr>
          <a:xfrm>
            <a:off x="592455" y="2300000"/>
            <a:ext cx="11007090" cy="1069845"/>
          </a:xfrm>
          <a:prstGeom prst="rect">
            <a:avLst/>
          </a:prstGeom>
          <a:noFill/>
        </p:spPr>
        <p:txBody>
          <a:bodyPr wrap="square" rtlCol="0">
            <a:spAutoFit/>
          </a:bodyPr>
          <a:lstStyle/>
          <a:p>
            <a:pPr algn="ctr">
              <a:lnSpc>
                <a:spcPct val="150000"/>
              </a:lnSpc>
            </a:pPr>
            <a:r>
              <a:rPr lang="zh-CN" altLang="en-US" sz="32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rPr>
              <a:t>第一部分  醋酸钠浓度梯度对细胞活率的影响</a:t>
            </a:r>
            <a:endParaRPr lang="zh-CN" altLang="en-US" sz="32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FFFFFF"/>
                </a:solidFill>
              </a:rPr>
              <a:t>试验日期：2026-09-05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6"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数据汇报：醋酸钠浓度梯度对细胞活率的影响（活死染色）</a:t>
            </a:r>
            <a:endPar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07"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08"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09"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3" name="TextBox 2"/>
          <p:cNvSpPr txBox="1"/>
          <p:nvPr/>
        </p:nvSpPr>
        <p:spPr>
          <a:xfrm>
            <a:off x="457200" y="1463040"/>
            <a:ext cx="10972800" cy="2743200"/>
          </a:xfrm>
          <a:prstGeom prst="rect">
            <a:avLst/>
          </a:prstGeom>
          <a:noFill/>
        </p:spPr>
        <p:txBody>
          <a:bodyPr wrap="square">
            <a:spAutoFit/>
          </a:bodyPr>
          <a:lstStyle/>
          <a:p>
            <a:r>
              <a:rPr sz="2000" b="0">
                <a:latin typeface="Arial" panose="020B0704020202020204"/>
              </a:rPr>
              <a:t>实验：20260905D/A</a:t>
            </a:r>
            <a:endParaRPr sz="2000" b="0">
              <a:latin typeface="Arial" panose="020B0704020202020204"/>
            </a:endParaRPr>
          </a:p>
          <a:p>
            <a:r>
              <a:rPr sz="2000" b="0">
                <a:latin typeface="Arial" panose="020B0704020202020204"/>
              </a:rPr>
              <a:t>仪器：BD LSRFortessa X-20</a:t>
            </a:r>
            <a:endParaRPr sz="2000" b="0">
              <a:latin typeface="Arial" panose="020B0704020202020204"/>
            </a:endParaRPr>
          </a:p>
          <a:p>
            <a:r>
              <a:rPr sz="2000" b="0">
                <a:latin typeface="Arial" panose="020B0704020202020204"/>
              </a:rPr>
              <a:t>染料：APC-Cy7 活死染料</a:t>
            </a:r>
            <a:endParaRPr sz="2000" b="0">
              <a:latin typeface="Arial" panose="020B0704020202020204"/>
            </a:endParaRPr>
          </a:p>
          <a:p>
            <a:r>
              <a:rPr sz="2000" b="0">
                <a:latin typeface="Arial" panose="020B0704020202020204"/>
              </a:rPr>
              <a:t>处理：醋酸钠 0、2.5、5、10、20 mM，N 为未处理对照，每组 3 个重复</a:t>
            </a:r>
            <a:endParaRPr sz="2000" b="0">
              <a:latin typeface="Arial" panose="020B0704020202020204"/>
            </a:endParaRPr>
          </a:p>
          <a:p>
            <a:r>
              <a:rPr sz="2000" b="0">
                <a:latin typeface="Arial" panose="020B0704020202020204"/>
              </a:rPr>
              <a:t>分析：FlowJo 10.8.1；统计：单因素方差分析 + Dunnett 事后检验</a:t>
            </a:r>
            <a:endParaRPr sz="2000" b="0">
              <a:latin typeface="Arial" panose="020B0704020202020204"/>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试验日期：2026-09-05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0"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门控策略（示例：管 N）</a:t>
            </a:r>
            <a:endPar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11"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12"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13"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pic>
        <p:nvPicPr>
          <p:cNvPr id="3" name="Picture 2" descr="N_N.png"/>
          <p:cNvPicPr>
            <a:picLocks noChangeAspect="1"/>
          </p:cNvPicPr>
          <p:nvPr/>
        </p:nvPicPr>
        <p:blipFill>
          <a:blip r:embed="rId1"/>
          <a:stretch>
            <a:fillRect/>
          </a:stretch>
        </p:blipFill>
        <p:spPr>
          <a:xfrm>
            <a:off x="1052255" y="1188720"/>
            <a:ext cx="10057008" cy="2926080"/>
          </a:xfrm>
          <a:prstGeom prst="rect">
            <a:avLst/>
          </a:prstGeom>
        </p:spPr>
      </p:pic>
      <p:sp>
        <p:nvSpPr>
          <p:cNvPr id="4" name="TextBox 3"/>
          <p:cNvSpPr txBox="1"/>
          <p:nvPr/>
        </p:nvSpPr>
        <p:spPr>
          <a:xfrm>
            <a:off x="457200" y="4389120"/>
            <a:ext cx="11247120" cy="2011680"/>
          </a:xfrm>
          <a:prstGeom prst="rect">
            <a:avLst/>
          </a:prstGeom>
          <a:noFill/>
        </p:spPr>
        <p:txBody>
          <a:bodyPr wrap="square">
            <a:spAutoFit/>
          </a:bodyPr>
          <a:lstStyle/>
          <a:p>
            <a:r>
              <a:rPr sz="1600" b="0">
                <a:latin typeface="Arial" panose="020B0704020202020204"/>
              </a:rPr>
              <a:t>Cells：FSC-A ≥ 10K、SSC-A ≥ 16K 去除碎片 → Singlets：SSC-A / SSC-H 去除双细胞（FSC-H 在约 90K 处饱和，故不用 FSC-A/FSC-H）→ Live / Dead：APC-Cy7-A 阈值 3500，活率 = Live / Singlets</a:t>
            </a:r>
            <a:endParaRPr sz="1600" b="0">
              <a:latin typeface="Arial" panose="020B0704020202020204"/>
            </a:endParaRPr>
          </a:p>
          <a:p>
            <a:r>
              <a:rPr sz="1600">
                <a:latin typeface="Arial" panose="020B0704020202020204"/>
              </a:rPr>
              <a:t>所有门为 All Samples 组门，18 管统一套用；图由 FlowJo Layout Editor 批量导出</a:t>
            </a:r>
            <a:endParaRPr sz="1600">
              <a:latin typeface="Arial" panose="020B0704020202020204"/>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4"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19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各醋酸钠浓度代表性 Live / Dead 图（每组取最接近均值的一管）</a:t>
            </a:r>
            <a:endParaRPr lang="zh-CN" altLang="zh-CN" sz="19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15"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16"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17"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3" name="TextBox 2"/>
          <p:cNvSpPr txBox="1"/>
          <p:nvPr/>
        </p:nvSpPr>
        <p:spPr>
          <a:xfrm>
            <a:off x="548640" y="1143000"/>
            <a:ext cx="3657600" cy="320040"/>
          </a:xfrm>
          <a:prstGeom prst="rect">
            <a:avLst/>
          </a:prstGeom>
          <a:noFill/>
        </p:spPr>
        <p:txBody>
          <a:bodyPr wrap="square">
            <a:spAutoFit/>
          </a:bodyPr>
          <a:lstStyle/>
          <a:p>
            <a:r>
              <a:rPr sz="1400" b="1">
                <a:latin typeface="Arial" panose="020B0704020202020204"/>
              </a:rPr>
              <a:t>N（未处理）（管 N_001）</a:t>
            </a:r>
            <a:endParaRPr sz="1400" b="1">
              <a:latin typeface="Arial" panose="020B0704020202020204"/>
            </a:endParaRPr>
          </a:p>
        </p:txBody>
      </p:sp>
      <p:pic>
        <p:nvPicPr>
          <p:cNvPr id="4" name="Picture 3" descr="N_N_001.png"/>
          <p:cNvPicPr>
            <a:picLocks noChangeAspect="1"/>
          </p:cNvPicPr>
          <p:nvPr/>
        </p:nvPicPr>
        <p:blipFill>
          <a:blip r:embed="rId1"/>
          <a:stretch>
            <a:fillRect/>
          </a:stretch>
        </p:blipFill>
        <p:spPr>
          <a:xfrm>
            <a:off x="1004150" y="1463040"/>
            <a:ext cx="2746579" cy="2240280"/>
          </a:xfrm>
          <a:prstGeom prst="rect">
            <a:avLst/>
          </a:prstGeom>
        </p:spPr>
      </p:pic>
      <p:sp>
        <p:nvSpPr>
          <p:cNvPr id="5" name="TextBox 4"/>
          <p:cNvSpPr txBox="1"/>
          <p:nvPr/>
        </p:nvSpPr>
        <p:spPr>
          <a:xfrm>
            <a:off x="4343400" y="1143000"/>
            <a:ext cx="3657600" cy="320040"/>
          </a:xfrm>
          <a:prstGeom prst="rect">
            <a:avLst/>
          </a:prstGeom>
          <a:noFill/>
        </p:spPr>
        <p:txBody>
          <a:bodyPr wrap="square">
            <a:spAutoFit/>
          </a:bodyPr>
          <a:lstStyle/>
          <a:p>
            <a:r>
              <a:rPr sz="1400" b="1">
                <a:latin typeface="Arial" panose="020B0704020202020204"/>
              </a:rPr>
              <a:t>0 mM（管 0_002）</a:t>
            </a:r>
            <a:endParaRPr sz="1400" b="1">
              <a:latin typeface="Arial" panose="020B0704020202020204"/>
            </a:endParaRPr>
          </a:p>
        </p:txBody>
      </p:sp>
      <p:pic>
        <p:nvPicPr>
          <p:cNvPr id="6" name="Picture 5" descr="0_0_002.png"/>
          <p:cNvPicPr>
            <a:picLocks noChangeAspect="1"/>
          </p:cNvPicPr>
          <p:nvPr/>
        </p:nvPicPr>
        <p:blipFill>
          <a:blip r:embed="rId2"/>
          <a:stretch>
            <a:fillRect/>
          </a:stretch>
        </p:blipFill>
        <p:spPr>
          <a:xfrm>
            <a:off x="4798910" y="1463040"/>
            <a:ext cx="2746579" cy="2240280"/>
          </a:xfrm>
          <a:prstGeom prst="rect">
            <a:avLst/>
          </a:prstGeom>
        </p:spPr>
      </p:pic>
      <p:sp>
        <p:nvSpPr>
          <p:cNvPr id="7" name="TextBox 6"/>
          <p:cNvSpPr txBox="1"/>
          <p:nvPr/>
        </p:nvSpPr>
        <p:spPr>
          <a:xfrm>
            <a:off x="8138160" y="1143000"/>
            <a:ext cx="3657600" cy="320040"/>
          </a:xfrm>
          <a:prstGeom prst="rect">
            <a:avLst/>
          </a:prstGeom>
          <a:noFill/>
        </p:spPr>
        <p:txBody>
          <a:bodyPr wrap="square">
            <a:spAutoFit/>
          </a:bodyPr>
          <a:lstStyle/>
          <a:p>
            <a:r>
              <a:rPr sz="1400" b="1">
                <a:latin typeface="Arial" panose="020B0704020202020204"/>
              </a:rPr>
              <a:t>2.5 mM（管 5-1）</a:t>
            </a:r>
            <a:endParaRPr sz="1400" b="1">
              <a:latin typeface="Arial" panose="020B0704020202020204"/>
            </a:endParaRPr>
          </a:p>
        </p:txBody>
      </p:sp>
      <p:pic>
        <p:nvPicPr>
          <p:cNvPr id="8" name="Picture 7" descr="2.5_5-1.png"/>
          <p:cNvPicPr>
            <a:picLocks noChangeAspect="1"/>
          </p:cNvPicPr>
          <p:nvPr/>
        </p:nvPicPr>
        <p:blipFill>
          <a:blip r:embed="rId3"/>
          <a:stretch>
            <a:fillRect/>
          </a:stretch>
        </p:blipFill>
        <p:spPr>
          <a:xfrm>
            <a:off x="8593670" y="1463040"/>
            <a:ext cx="2746579" cy="2240280"/>
          </a:xfrm>
          <a:prstGeom prst="rect">
            <a:avLst/>
          </a:prstGeom>
        </p:spPr>
      </p:pic>
      <p:sp>
        <p:nvSpPr>
          <p:cNvPr id="9" name="TextBox 8"/>
          <p:cNvSpPr txBox="1"/>
          <p:nvPr/>
        </p:nvSpPr>
        <p:spPr>
          <a:xfrm>
            <a:off x="548640" y="3977639"/>
            <a:ext cx="3657600" cy="320040"/>
          </a:xfrm>
          <a:prstGeom prst="rect">
            <a:avLst/>
          </a:prstGeom>
          <a:noFill/>
        </p:spPr>
        <p:txBody>
          <a:bodyPr wrap="square">
            <a:spAutoFit/>
          </a:bodyPr>
          <a:lstStyle/>
          <a:p>
            <a:r>
              <a:rPr sz="1400" b="1">
                <a:latin typeface="Arial" panose="020B0704020202020204"/>
              </a:rPr>
              <a:t>5 mM（管 10_001）</a:t>
            </a:r>
            <a:endParaRPr sz="1400" b="1">
              <a:latin typeface="Arial" panose="020B0704020202020204"/>
            </a:endParaRPr>
          </a:p>
        </p:txBody>
      </p:sp>
      <p:pic>
        <p:nvPicPr>
          <p:cNvPr id="10" name="Picture 9" descr="5_10_001.png"/>
          <p:cNvPicPr>
            <a:picLocks noChangeAspect="1"/>
          </p:cNvPicPr>
          <p:nvPr/>
        </p:nvPicPr>
        <p:blipFill>
          <a:blip r:embed="rId4"/>
          <a:stretch>
            <a:fillRect/>
          </a:stretch>
        </p:blipFill>
        <p:spPr>
          <a:xfrm>
            <a:off x="1004150" y="4297679"/>
            <a:ext cx="2746579" cy="2240280"/>
          </a:xfrm>
          <a:prstGeom prst="rect">
            <a:avLst/>
          </a:prstGeom>
        </p:spPr>
      </p:pic>
      <p:sp>
        <p:nvSpPr>
          <p:cNvPr id="11" name="TextBox 10"/>
          <p:cNvSpPr txBox="1"/>
          <p:nvPr/>
        </p:nvSpPr>
        <p:spPr>
          <a:xfrm>
            <a:off x="4343400" y="3977639"/>
            <a:ext cx="3657600" cy="320040"/>
          </a:xfrm>
          <a:prstGeom prst="rect">
            <a:avLst/>
          </a:prstGeom>
          <a:noFill/>
        </p:spPr>
        <p:txBody>
          <a:bodyPr wrap="square">
            <a:spAutoFit/>
          </a:bodyPr>
          <a:lstStyle/>
          <a:p>
            <a:r>
              <a:rPr sz="1400" b="1">
                <a:latin typeface="Arial" panose="020B0704020202020204"/>
              </a:rPr>
              <a:t>10 mM（管 15_002）</a:t>
            </a:r>
            <a:endParaRPr sz="1400" b="1">
              <a:latin typeface="Arial" panose="020B0704020202020204"/>
            </a:endParaRPr>
          </a:p>
        </p:txBody>
      </p:sp>
      <p:pic>
        <p:nvPicPr>
          <p:cNvPr id="12" name="Picture 11" descr="10_15_002.png"/>
          <p:cNvPicPr>
            <a:picLocks noChangeAspect="1"/>
          </p:cNvPicPr>
          <p:nvPr/>
        </p:nvPicPr>
        <p:blipFill>
          <a:blip r:embed="rId5"/>
          <a:stretch>
            <a:fillRect/>
          </a:stretch>
        </p:blipFill>
        <p:spPr>
          <a:xfrm>
            <a:off x="4798910" y="4297679"/>
            <a:ext cx="2746579" cy="2240280"/>
          </a:xfrm>
          <a:prstGeom prst="rect">
            <a:avLst/>
          </a:prstGeom>
        </p:spPr>
      </p:pic>
      <p:sp>
        <p:nvSpPr>
          <p:cNvPr id="13" name="TextBox 12"/>
          <p:cNvSpPr txBox="1"/>
          <p:nvPr/>
        </p:nvSpPr>
        <p:spPr>
          <a:xfrm>
            <a:off x="8138160" y="3977639"/>
            <a:ext cx="3657600" cy="320040"/>
          </a:xfrm>
          <a:prstGeom prst="rect">
            <a:avLst/>
          </a:prstGeom>
          <a:noFill/>
        </p:spPr>
        <p:txBody>
          <a:bodyPr wrap="square">
            <a:spAutoFit/>
          </a:bodyPr>
          <a:lstStyle/>
          <a:p>
            <a:r>
              <a:rPr sz="1400" b="1">
                <a:latin typeface="Arial" panose="020B0704020202020204"/>
              </a:rPr>
              <a:t>20 mM（管 20_001）</a:t>
            </a:r>
            <a:endParaRPr sz="1400" b="1">
              <a:latin typeface="Arial" panose="020B0704020202020204"/>
            </a:endParaRPr>
          </a:p>
        </p:txBody>
      </p:sp>
      <p:pic>
        <p:nvPicPr>
          <p:cNvPr id="14" name="Picture 13" descr="20_20_001.png"/>
          <p:cNvPicPr>
            <a:picLocks noChangeAspect="1"/>
          </p:cNvPicPr>
          <p:nvPr/>
        </p:nvPicPr>
        <p:blipFill>
          <a:blip r:embed="rId6"/>
          <a:stretch>
            <a:fillRect/>
          </a:stretch>
        </p:blipFill>
        <p:spPr>
          <a:xfrm>
            <a:off x="8593670" y="4297679"/>
            <a:ext cx="2746579" cy="2240280"/>
          </a:xfrm>
          <a:prstGeom prst="rect">
            <a:avLst/>
          </a:prstGeom>
        </p:spPr>
      </p:pic>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8"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醋酸钠处理后活细胞比例（mean ± SD，n = 3）</a:t>
            </a:r>
            <a:endPar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19"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20"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21"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pic>
        <p:nvPicPr>
          <p:cNvPr id="3" name="Picture 2" descr="活率柱状图_Prism风格.png"/>
          <p:cNvPicPr>
            <a:picLocks noChangeAspect="1"/>
          </p:cNvPicPr>
          <p:nvPr/>
        </p:nvPicPr>
        <p:blipFill>
          <a:blip r:embed="rId1"/>
          <a:stretch>
            <a:fillRect/>
          </a:stretch>
        </p:blipFill>
        <p:spPr>
          <a:xfrm>
            <a:off x="457200" y="1216741"/>
            <a:ext cx="6949439" cy="5156036"/>
          </a:xfrm>
          <a:prstGeom prst="rect">
            <a:avLst/>
          </a:prstGeom>
        </p:spPr>
      </p:pic>
      <p:sp>
        <p:nvSpPr>
          <p:cNvPr id="4" name="TextBox 3"/>
          <p:cNvSpPr txBox="1"/>
          <p:nvPr/>
        </p:nvSpPr>
        <p:spPr>
          <a:xfrm>
            <a:off x="7680960" y="1188720"/>
            <a:ext cx="4206240" cy="5303520"/>
          </a:xfrm>
          <a:prstGeom prst="rect">
            <a:avLst/>
          </a:prstGeom>
          <a:noFill/>
        </p:spPr>
        <p:txBody>
          <a:bodyPr wrap="square">
            <a:spAutoFit/>
          </a:bodyPr>
          <a:lstStyle/>
          <a:p>
            <a:r>
              <a:rPr sz="1400" b="0">
                <a:latin typeface="Arial" panose="020B0704020202020204"/>
              </a:rPr>
              <a:t>统计方法</a:t>
            </a:r>
            <a:endParaRPr sz="1400" b="0">
              <a:latin typeface="Arial" panose="020B0704020202020204"/>
            </a:endParaRPr>
          </a:p>
          <a:p>
            <a:r>
              <a:rPr sz="1400">
                <a:latin typeface="Arial" panose="020B0704020202020204"/>
              </a:rPr>
              <a:t>单因素方差分析（one-way ANOVA），</a:t>
            </a:r>
            <a:endParaRPr sz="1400">
              <a:latin typeface="Arial" panose="020B0704020202020204"/>
            </a:endParaRPr>
          </a:p>
          <a:p>
            <a:r>
              <a:rPr sz="1400">
                <a:latin typeface="Arial" panose="020B0704020202020204"/>
              </a:rPr>
              <a:t>事后 Dunnett 多重比较，各浓度与 0 mM 组比较。</a:t>
            </a:r>
            <a:endParaRPr sz="1400">
              <a:latin typeface="Arial" panose="020B0704020202020204"/>
            </a:endParaRPr>
          </a:p>
          <a:p>
            <a:endParaRPr sz="1400"/>
          </a:p>
          <a:p>
            <a:r>
              <a:rPr sz="1400">
                <a:latin typeface="Arial" panose="020B0704020202020204"/>
              </a:rPr>
              <a:t>结果</a:t>
            </a:r>
            <a:endParaRPr sz="1400">
              <a:latin typeface="Arial" panose="020B0704020202020204"/>
            </a:endParaRPr>
          </a:p>
          <a:p>
            <a:r>
              <a:rPr sz="1400">
                <a:latin typeface="Arial" panose="020B0704020202020204"/>
              </a:rPr>
              <a:t>ANOVA：F = 1.39，P = 0.297</a:t>
            </a:r>
            <a:endParaRPr sz="1400">
              <a:latin typeface="Arial" panose="020B0704020202020204"/>
            </a:endParaRPr>
          </a:p>
          <a:p>
            <a:r>
              <a:rPr sz="1400">
                <a:latin typeface="Arial" panose="020B0704020202020204"/>
              </a:rPr>
              <a:t>Dunnett vs 0 mM：所有浓度 P &gt; 0.5，均为 ns</a:t>
            </a:r>
            <a:endParaRPr sz="1400">
              <a:latin typeface="Arial" panose="020B0704020202020204"/>
            </a:endParaRPr>
          </a:p>
          <a:p>
            <a:endParaRPr sz="1400"/>
          </a:p>
          <a:p>
            <a:r>
              <a:rPr sz="1400">
                <a:latin typeface="Arial" panose="020B0704020202020204"/>
              </a:rPr>
              <a:t>结论</a:t>
            </a:r>
            <a:endParaRPr sz="1400">
              <a:latin typeface="Arial" panose="020B0704020202020204"/>
            </a:endParaRPr>
          </a:p>
          <a:p>
            <a:r>
              <a:rPr sz="1400">
                <a:latin typeface="Arial" panose="020B0704020202020204"/>
              </a:rPr>
              <a:t>醋酸钠 2.5 到 20 mM 范围内，活率与 0 mM 组无显著差异；</a:t>
            </a:r>
            <a:endParaRPr sz="1400">
              <a:latin typeface="Arial" panose="020B0704020202020204"/>
            </a:endParaRPr>
          </a:p>
          <a:p>
            <a:r>
              <a:rPr sz="1400">
                <a:latin typeface="Arial" panose="020B0704020202020204"/>
              </a:rPr>
              <a:t>10 和 20 mM 组均值略低（73.2%、72.8%），但组内离散大（10 mM 组 SD 6.4），</a:t>
            </a:r>
            <a:endParaRPr sz="1400">
              <a:latin typeface="Arial" panose="020B0704020202020204"/>
            </a:endParaRPr>
          </a:p>
          <a:p>
            <a:r>
              <a:rPr sz="1400">
                <a:latin typeface="Arial" panose="020B0704020202020204"/>
              </a:rPr>
              <a:t>需增加重复或提高浓度才能判断是否存在毒性趋势。</a:t>
            </a:r>
            <a:endParaRPr sz="1400">
              <a:latin typeface="Arial" panose="020B0704020202020204"/>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试验日期：2026-09-05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2"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统计结果</a:t>
            </a:r>
            <a:endPar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23"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24"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25"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graphicFrame>
        <p:nvGraphicFramePr>
          <p:cNvPr id="3" name="Table 2"/>
          <p:cNvGraphicFramePr>
            <a:graphicFrameLocks noGrp="1"/>
          </p:cNvGraphicFramePr>
          <p:nvPr/>
        </p:nvGraphicFramePr>
        <p:xfrm>
          <a:off x="731520" y="1280160"/>
          <a:ext cx="10698480" cy="3200400"/>
        </p:xfrm>
        <a:graphic>
          <a:graphicData uri="http://schemas.openxmlformats.org/drawingml/2006/table">
            <a:tbl>
              <a:tblPr>
                <a:tableStyleId>{5C22544A-7EE6-4342-B048-85BDC9FD1C3A}</a:tableStyleId>
              </a:tblPr>
              <a:tblGrid>
                <a:gridCol w="2139696"/>
                <a:gridCol w="2139696"/>
                <a:gridCol w="2139696"/>
                <a:gridCol w="2139696"/>
                <a:gridCol w="2139696"/>
              </a:tblGrid>
              <a:tr h="457200">
                <a:tc>
                  <a:txBody>
                    <a:bodyPr/>
                    <a:lstStyle/>
                    <a:p>
                      <a:r>
                        <a:rPr sz="1400" b="1">
                          <a:latin typeface="Arial" panose="020B0704020202020204"/>
                        </a:rPr>
                        <a:t>醋酸钠 (mM)</a:t>
                      </a:r>
                      <a:endParaRPr sz="14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1">
                          <a:latin typeface="Arial" panose="020B0704020202020204"/>
                        </a:rPr>
                        <a:t>活率 mean ± SD（%）</a:t>
                      </a:r>
                      <a:endParaRPr sz="14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1">
                          <a:latin typeface="Arial" panose="020B0704020202020204"/>
                        </a:rPr>
                        <a:t>n</a:t>
                      </a:r>
                      <a:endParaRPr sz="14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1">
                          <a:latin typeface="Arial" panose="020B0704020202020204"/>
                        </a:rPr>
                        <a:t>Dunnett vs 0 mM，P</a:t>
                      </a:r>
                      <a:endParaRPr sz="14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1">
                          <a:latin typeface="Arial" panose="020B0704020202020204"/>
                        </a:rPr>
                        <a:t>显著性</a:t>
                      </a:r>
                      <a:endParaRPr sz="14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400" b="0">
                          <a:latin typeface="Arial" panose="020B0704020202020204"/>
                        </a:rPr>
                        <a:t>N</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76.6 ± 2.3</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3</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1.000</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ns</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400" b="0">
                          <a:latin typeface="Arial" panose="020B0704020202020204"/>
                        </a:rPr>
                        <a:t>0</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76.3 ± 2.3</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3</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对照</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400" b="0">
                          <a:latin typeface="Arial" panose="020B0704020202020204"/>
                        </a:rPr>
                        <a:t>2.5</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77.4 ± 0.9</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3</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0.992</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ns</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400" b="0">
                          <a:latin typeface="Arial" panose="020B0704020202020204"/>
                        </a:rPr>
                        <a:t>5</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78.1 ± 1.5</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3</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0.932</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ns</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400" b="0">
                          <a:latin typeface="Arial" panose="020B0704020202020204"/>
                        </a:rPr>
                        <a:t>10</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73.2 ± 6.4</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3</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0.667</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ns</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400" b="0">
                          <a:latin typeface="Arial" panose="020B0704020202020204"/>
                        </a:rPr>
                        <a:t>20</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72.8 ± 3.3</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3</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0.575</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ns</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bl>
          </a:graphicData>
        </a:graphic>
      </p:graphicFrame>
      <p:sp>
        <p:nvSpPr>
          <p:cNvPr id="4" name="TextBox 3"/>
          <p:cNvSpPr txBox="1"/>
          <p:nvPr/>
        </p:nvSpPr>
        <p:spPr>
          <a:xfrm>
            <a:off x="731520" y="4846320"/>
            <a:ext cx="10698480" cy="1371600"/>
          </a:xfrm>
          <a:prstGeom prst="rect">
            <a:avLst/>
          </a:prstGeom>
          <a:noFill/>
        </p:spPr>
        <p:txBody>
          <a:bodyPr wrap="square">
            <a:spAutoFit/>
          </a:bodyPr>
          <a:lstStyle/>
          <a:p>
            <a:r>
              <a:rPr sz="1400" b="0">
                <a:latin typeface="Arial" panose="020B0704020202020204"/>
              </a:rPr>
              <a:t>单因素方差分析：F(5, 12) = 1.39，P = 0.297。Kruskal-Wallis 非参数检验 P = 0.434，结论一致。</a:t>
            </a:r>
            <a:endParaRPr sz="1400" b="0">
              <a:latin typeface="Arial" panose="020B0704020202020204"/>
            </a:endParaRPr>
          </a:p>
          <a:p>
            <a:r>
              <a:rPr sz="1400" b="0">
                <a:latin typeface="Arial" panose="020B0704020202020204"/>
              </a:rPr>
              <a:t>ns：P ≥ 0.05。每组 n = 3，正态性无法有效检验，结论以方差分析为主、非参数检验为辅。</a:t>
            </a:r>
            <a:endParaRPr sz="1400" b="0">
              <a:latin typeface="Arial" panose="020B0704020202020204"/>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试验日期：2026-09-05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6"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19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活率数据表（Live / Singlets，%，FlowJo 数值）</a:t>
            </a:r>
            <a:endParaRPr lang="zh-CN" altLang="zh-CN" sz="19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27"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28"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29"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graphicFrame>
        <p:nvGraphicFramePr>
          <p:cNvPr id="3" name="Table 2"/>
          <p:cNvGraphicFramePr>
            <a:graphicFrameLocks noGrp="1"/>
          </p:cNvGraphicFramePr>
          <p:nvPr/>
        </p:nvGraphicFramePr>
        <p:xfrm>
          <a:off x="731520" y="1280160"/>
          <a:ext cx="10698480" cy="3200400"/>
        </p:xfrm>
        <a:graphic>
          <a:graphicData uri="http://schemas.openxmlformats.org/drawingml/2006/table">
            <a:tbl>
              <a:tblPr>
                <a:tableStyleId>{5C22544A-7EE6-4342-B048-85BDC9FD1C3A}</a:tableStyleId>
              </a:tblPr>
              <a:tblGrid>
                <a:gridCol w="1783080"/>
                <a:gridCol w="1783080"/>
                <a:gridCol w="1783080"/>
                <a:gridCol w="1783080"/>
                <a:gridCol w="1783080"/>
                <a:gridCol w="1783080"/>
              </a:tblGrid>
              <a:tr h="457200">
                <a:tc>
                  <a:txBody>
                    <a:bodyPr/>
                    <a:lstStyle/>
                    <a:p>
                      <a:r>
                        <a:rPr sz="1400" b="1">
                          <a:latin typeface="Arial" panose="020B0704020202020204"/>
                        </a:rPr>
                        <a:t>醋酸钠 (mM)</a:t>
                      </a:r>
                      <a:endParaRPr sz="14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1">
                          <a:latin typeface="Arial" panose="020B0704020202020204"/>
                        </a:rPr>
                        <a:t>重复 1</a:t>
                      </a:r>
                      <a:endParaRPr sz="14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1">
                          <a:latin typeface="Arial" panose="020B0704020202020204"/>
                        </a:rPr>
                        <a:t>重复 2</a:t>
                      </a:r>
                      <a:endParaRPr sz="14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1">
                          <a:latin typeface="Arial" panose="020B0704020202020204"/>
                        </a:rPr>
                        <a:t>重复 3</a:t>
                      </a:r>
                      <a:endParaRPr sz="14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1">
                          <a:latin typeface="Arial" panose="020B0704020202020204"/>
                        </a:rPr>
                        <a:t>均值</a:t>
                      </a:r>
                      <a:endParaRPr sz="14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1">
                          <a:latin typeface="Arial" panose="020B0704020202020204"/>
                        </a:rPr>
                        <a:t>SD</a:t>
                      </a:r>
                      <a:endParaRPr sz="14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400" b="0">
                          <a:latin typeface="Arial" panose="020B0704020202020204"/>
                        </a:rPr>
                        <a:t>N</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79.1（N）</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76.2（N_001）</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74.5（N_002）</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76.6</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2.3</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400" b="0">
                          <a:latin typeface="Arial" panose="020B0704020202020204"/>
                        </a:rPr>
                        <a:t>0</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78.9（0）</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74.6（0_001）</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75.4（0_002）</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76.3</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2.3</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400" b="0">
                          <a:latin typeface="Arial" panose="020B0704020202020204"/>
                        </a:rPr>
                        <a:t>2.5</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77.8（5-1）</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78.1（5-1_001）</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76.4（5）</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77.4</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0.9</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400" b="0">
                          <a:latin typeface="Arial" panose="020B0704020202020204"/>
                        </a:rPr>
                        <a:t>5</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76.7（10）</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78.1（10_001）</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79.6（10_002）</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78.1</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1.5</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400" b="0">
                          <a:latin typeface="Arial" panose="020B0704020202020204"/>
                        </a:rPr>
                        <a:t>10</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66.6（15）</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79.3（15_001）</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73.7（15_002）</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73.2</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6.4</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400" b="0">
                          <a:latin typeface="Arial" panose="020B0704020202020204"/>
                        </a:rPr>
                        <a:t>20</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69.4（20）</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73.0（20_001）</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76.0（20_002）</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72.8</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400" b="0">
                          <a:latin typeface="Arial" panose="020B0704020202020204"/>
                        </a:rPr>
                        <a:t>3.3</a:t>
                      </a:r>
                      <a:endParaRPr sz="14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bl>
          </a:graphicData>
        </a:graphic>
      </p:graphicFrame>
      <p:sp>
        <p:nvSpPr>
          <p:cNvPr id="4" name="TextBox 3"/>
          <p:cNvSpPr txBox="1"/>
          <p:nvPr/>
        </p:nvSpPr>
        <p:spPr>
          <a:xfrm>
            <a:off x="731520" y="4846320"/>
            <a:ext cx="10698480" cy="731520"/>
          </a:xfrm>
          <a:prstGeom prst="rect">
            <a:avLst/>
          </a:prstGeom>
          <a:noFill/>
        </p:spPr>
        <p:txBody>
          <a:bodyPr wrap="square">
            <a:spAutoFit/>
          </a:bodyPr>
          <a:lstStyle/>
          <a:p>
            <a:r>
              <a:rPr sz="1400" b="0">
                <a:latin typeface="Arial" panose="020B0704020202020204"/>
              </a:rPr>
              <a:t>N 为未处理对照。原管名与浓度对应：5 与 5-1 → 2.5 mM，10 → 5 mM，15 → 10 mM，0、20 不变。</a:t>
            </a:r>
            <a:endParaRPr sz="1400" b="0">
              <a:latin typeface="Arial" panose="020B0704020202020204"/>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试验日期：2026-09-05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0" name="文本框 42"/>
          <p:cNvSpPr txBox="1"/>
          <p:nvPr/>
        </p:nvSpPr>
        <p:spPr>
          <a:xfrm>
            <a:off x="592455" y="2300000"/>
            <a:ext cx="11007090" cy="1069845"/>
          </a:xfrm>
          <a:prstGeom prst="rect">
            <a:avLst/>
          </a:prstGeom>
          <a:noFill/>
        </p:spPr>
        <p:txBody>
          <a:bodyPr wrap="square" rtlCol="0">
            <a:spAutoFit/>
          </a:bodyPr>
          <a:lstStyle/>
          <a:p>
            <a:pPr algn="ctr">
              <a:lnSpc>
                <a:spcPct val="150000"/>
              </a:lnSpc>
            </a:pPr>
            <a:r>
              <a:rPr lang="zh-CN" altLang="en-US" sz="32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rPr>
              <a:t>第二部分  TGF-β 对效应分子表达的影响</a:t>
            </a:r>
            <a:endParaRPr lang="zh-CN" altLang="en-US" sz="32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FFFFFF"/>
                </a:solidFill>
              </a:rPr>
              <a:t>试验日期：2026-09-05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1"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数据汇报：TGF-β 对效应分子表达的影响</a:t>
            </a:r>
            <a:endPar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32"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33"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34"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3" name="TextBox 2"/>
          <p:cNvSpPr txBox="1"/>
          <p:nvPr/>
        </p:nvSpPr>
        <p:spPr>
          <a:xfrm>
            <a:off x="457200" y="1463040"/>
            <a:ext cx="10972800" cy="2926080"/>
          </a:xfrm>
          <a:prstGeom prst="rect">
            <a:avLst/>
          </a:prstGeom>
          <a:noFill/>
        </p:spPr>
        <p:txBody>
          <a:bodyPr wrap="square">
            <a:spAutoFit/>
          </a:bodyPr>
          <a:lstStyle/>
          <a:p>
            <a:r>
              <a:rPr sz="2000" b="0">
                <a:latin typeface="Arial" panose="020B0704020202020204"/>
              </a:rPr>
              <a:t>实验：20260905TGF；指标：Perforin、IFN-γ、Granzyme B</a:t>
            </a:r>
            <a:endParaRPr sz="2000" b="0">
              <a:latin typeface="Arial" panose="020B0704020202020204"/>
            </a:endParaRPr>
          </a:p>
          <a:p>
            <a:r>
              <a:rPr sz="2000" b="0">
                <a:latin typeface="Arial" panose="020B0704020202020204"/>
              </a:rPr>
              <a:t>仪器：BD LSRFortessa X-20；分析：FlowJo 10.8.1</a:t>
            </a:r>
            <a:endParaRPr sz="2000" b="0">
              <a:latin typeface="Arial" panose="020B0704020202020204"/>
            </a:endParaRPr>
          </a:p>
          <a:p>
            <a:r>
              <a:rPr sz="2000" b="0">
                <a:latin typeface="Arial" panose="020B0704020202020204"/>
              </a:rPr>
              <a:t>分组：Control（C）vs TGF-β 10 ng/mL（T），每组 4 管</a:t>
            </a:r>
            <a:endParaRPr sz="2000" b="0">
              <a:latin typeface="Arial" panose="020B0704020202020204"/>
            </a:endParaRPr>
          </a:p>
          <a:p>
            <a:r>
              <a:rPr sz="2000" b="0">
                <a:latin typeface="Arial" panose="020B0704020202020204"/>
              </a:rPr>
              <a:t>染色：APC-Cy7 活死；BV421 Perforin；PE IFN-γ；APC Granzyme B</a:t>
            </a:r>
            <a:endParaRPr sz="2000" b="0">
              <a:latin typeface="Arial" panose="020B0704020202020204"/>
            </a:endParaRPr>
          </a:p>
          <a:p>
            <a:r>
              <a:rPr sz="2000" b="0">
                <a:latin typeface="Arial" panose="020B0704020202020204"/>
              </a:rPr>
              <a:t>指标：Live 门内各标记的 MFI（中位数）；统计：非配对 t 检验</a:t>
            </a:r>
            <a:endParaRPr sz="2000" b="0">
              <a:latin typeface="Arial" panose="020B0704020202020204"/>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试验日期：2026-09-05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5"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门控策略（示例：管 C_003）</a:t>
            </a:r>
            <a:endPar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36"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37"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38"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pic>
        <p:nvPicPr>
          <p:cNvPr id="3" name="Picture 2" descr="C_C_003.png"/>
          <p:cNvPicPr>
            <a:picLocks noChangeAspect="1"/>
          </p:cNvPicPr>
          <p:nvPr/>
        </p:nvPicPr>
        <p:blipFill>
          <a:blip r:embed="rId1"/>
          <a:stretch>
            <a:fillRect/>
          </a:stretch>
        </p:blipFill>
        <p:spPr>
          <a:xfrm>
            <a:off x="1053492" y="1188720"/>
            <a:ext cx="10054535" cy="2926080"/>
          </a:xfrm>
          <a:prstGeom prst="rect">
            <a:avLst/>
          </a:prstGeom>
        </p:spPr>
      </p:pic>
      <p:sp>
        <p:nvSpPr>
          <p:cNvPr id="4" name="TextBox 3"/>
          <p:cNvSpPr txBox="1"/>
          <p:nvPr/>
        </p:nvSpPr>
        <p:spPr>
          <a:xfrm>
            <a:off x="457200" y="4389120"/>
            <a:ext cx="11247120" cy="2011680"/>
          </a:xfrm>
          <a:prstGeom prst="rect">
            <a:avLst/>
          </a:prstGeom>
          <a:noFill/>
        </p:spPr>
        <p:txBody>
          <a:bodyPr wrap="square">
            <a:spAutoFit/>
          </a:bodyPr>
          <a:lstStyle/>
          <a:p>
            <a:r>
              <a:rPr sz="1600" b="0">
                <a:latin typeface="Arial" panose="020B0704020202020204"/>
              </a:rPr>
              <a:t>Cells：FSC-A ≥ 10K、SSC-A ≥ 16K 去除碎片 → Singlets：SSC-A / SSC-H 去除双细胞 → Live：APC-Cy7-A 阈值 12000。单细胞门改用 SSC 通道，因 FSC-H 在约 90K 处检测器饱和，FSC-A/FSC-H 图上的水平尾巴为大单细胞的信号削平，不是双细胞，不应切除。</a:t>
            </a:r>
            <a:endParaRPr sz="1600" b="0">
              <a:latin typeface="Arial" panose="020B0704020202020204"/>
            </a:endParaRPr>
          </a:p>
          <a:p>
            <a:r>
              <a:rPr sz="1600">
                <a:latin typeface="Arial" panose="020B0704020202020204"/>
              </a:rPr>
              <a:t>表达分析均在 Live 门内进行；活率两组无差异（C 92.1 ± 2.0 %，T 94.4 ± 1.4 %，P = 0.10）</a:t>
            </a:r>
            <a:endParaRPr sz="1600">
              <a:latin typeface="Arial" panose="020B0704020202020204"/>
            </a:endParaRPr>
          </a:p>
          <a:p>
            <a:r>
              <a:rPr sz="1600">
                <a:latin typeface="Arial" panose="020B0704020202020204"/>
              </a:rPr>
              <a:t>注：导出的 FCS 文件中补偿矩阵为单位阵，FlowJo 按未补偿数据分析</a:t>
            </a:r>
            <a:endParaRPr sz="1600">
              <a:latin typeface="Arial" panose="020B0704020202020204"/>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试验日期：2026-09-05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9"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19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代表性直方图叠加（Live 门内）：Control vs TGF-β</a:t>
            </a:r>
            <a:endParaRPr lang="zh-CN" altLang="zh-CN" sz="19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40"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41"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42"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4" name="TextBox 3"/>
          <p:cNvSpPr txBox="1"/>
          <p:nvPr/>
        </p:nvSpPr>
        <p:spPr>
          <a:xfrm>
            <a:off x="457200" y="5029200"/>
            <a:ext cx="11247120" cy="1645920"/>
          </a:xfrm>
          <a:prstGeom prst="rect">
            <a:avLst/>
          </a:prstGeom>
          <a:noFill/>
        </p:spPr>
        <p:txBody>
          <a:bodyPr wrap="square">
            <a:spAutoFit/>
          </a:bodyPr>
          <a:lstStyle/>
          <a:p>
            <a:r>
              <a:rPr sz="1600" b="0">
                <a:latin typeface="Arial" panose="020B0704020202020204"/>
              </a:rPr>
              <a:t>灰色填充：Control（管 C_003）；红线：TGF-β 10 ng/mL（管 T_001）。横轴为标记（荧光通道），双指数刻度；纵轴为峰值归一化百分比，曲线经高斯平滑。</a:t>
            </a:r>
            <a:endParaRPr sz="1600" b="0">
              <a:latin typeface="Arial" panose="020B0704020202020204"/>
            </a:endParaRPr>
          </a:p>
          <a:p>
            <a:r>
              <a:rPr sz="1600">
                <a:latin typeface="Arial" panose="020B0704020202020204"/>
              </a:rPr>
              <a:t>三个标记在 TGF-β 处理后整体左移；三者均为单峰、无阴性群，且本批未设 FMO 或未染管，故以 MFI 定量而不报阳性率。</a:t>
            </a:r>
            <a:endParaRPr sz="1600">
              <a:latin typeface="Arial" panose="020B0704020202020204"/>
            </a:endParaRPr>
          </a:p>
        </p:txBody>
      </p:sp>
      <p:pic>
        <p:nvPicPr>
          <p:cNvPr id="5" name="Picture 4" descr="TGF_直方图叠加_pub.png"/>
          <p:cNvPicPr>
            <a:picLocks noChangeAspect="1"/>
          </p:cNvPicPr>
          <p:nvPr/>
        </p:nvPicPr>
        <p:blipFill>
          <a:blip r:embed="rId1"/>
          <a:stretch>
            <a:fillRect/>
          </a:stretch>
        </p:blipFill>
        <p:spPr>
          <a:xfrm>
            <a:off x="457200" y="1188720"/>
            <a:ext cx="11247120" cy="3481251"/>
          </a:xfrm>
          <a:prstGeom prst="rect">
            <a:avLst/>
          </a:prstGeom>
        </p:spPr>
      </p:pic>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试验日期：2026-09-05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3"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19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MFI 定量（相对 Control 的倍数，mean ± SD，n = 4）</a:t>
            </a:r>
            <a:endParaRPr lang="zh-CN" altLang="zh-CN" sz="19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44"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45"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46"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4" name="TextBox 3"/>
          <p:cNvSpPr txBox="1"/>
          <p:nvPr/>
        </p:nvSpPr>
        <p:spPr>
          <a:xfrm>
            <a:off x="457200" y="5166360"/>
            <a:ext cx="11247120" cy="1508759"/>
          </a:xfrm>
          <a:prstGeom prst="rect">
            <a:avLst/>
          </a:prstGeom>
          <a:noFill/>
        </p:spPr>
        <p:txBody>
          <a:bodyPr wrap="square">
            <a:spAutoFit/>
          </a:bodyPr>
          <a:lstStyle/>
          <a:p>
            <a:r>
              <a:rPr sz="1500" b="0">
                <a:latin typeface="Arial" panose="020B0704020202020204"/>
              </a:rPr>
              <a:t>每点为一管 Live 门内 MFI 中位数除以 Control 组均值。</a:t>
            </a:r>
            <a:endParaRPr sz="1500" b="0">
              <a:latin typeface="Arial" panose="020B0704020202020204"/>
            </a:endParaRPr>
          </a:p>
          <a:p>
            <a:endParaRPr sz="1500"/>
          </a:p>
          <a:p>
            <a:r>
              <a:rPr sz="1500">
                <a:latin typeface="Arial" panose="020B0704020202020204"/>
              </a:rPr>
              <a:t>Perforin：TGF-β 组 0.58 ± 0.06（下降 42%）</a:t>
            </a:r>
            <a:endParaRPr sz="1500">
              <a:latin typeface="Arial" panose="020B0704020202020204"/>
            </a:endParaRPr>
          </a:p>
          <a:p>
            <a:r>
              <a:rPr sz="1500">
                <a:latin typeface="Arial" panose="020B0704020202020204"/>
              </a:rPr>
              <a:t>IFN-γ：TGF-β 组 0.77 ± 0.04（下降 23%）</a:t>
            </a:r>
            <a:endParaRPr sz="1500">
              <a:latin typeface="Arial" panose="020B0704020202020204"/>
            </a:endParaRPr>
          </a:p>
          <a:p>
            <a:r>
              <a:rPr sz="1500">
                <a:latin typeface="Arial" panose="020B0704020202020204"/>
              </a:rPr>
              <a:t>GranB：TGF-β 组 0.45 ± 0.07（下降 55%）</a:t>
            </a:r>
            <a:endParaRPr sz="1500">
              <a:latin typeface="Arial" panose="020B0704020202020204"/>
            </a:endParaRPr>
          </a:p>
          <a:p>
            <a:endParaRPr sz="1500"/>
          </a:p>
          <a:p>
            <a:r>
              <a:rPr sz="1500">
                <a:latin typeface="Arial" panose="020B0704020202020204"/>
              </a:rPr>
              <a:t>非配对 t 检验：*** P &lt; 0.001。四管来自独立培养孔。</a:t>
            </a:r>
            <a:endParaRPr sz="1500">
              <a:latin typeface="Arial" panose="020B0704020202020204"/>
            </a:endParaRPr>
          </a:p>
        </p:txBody>
      </p:sp>
      <p:pic>
        <p:nvPicPr>
          <p:cNvPr id="5" name="Picture 4" descr="TGF_MFI倍数柱状图_pub.png"/>
          <p:cNvPicPr>
            <a:picLocks noChangeAspect="1"/>
          </p:cNvPicPr>
          <p:nvPr/>
        </p:nvPicPr>
        <p:blipFill>
          <a:blip r:embed="rId1"/>
          <a:stretch>
            <a:fillRect/>
          </a:stretch>
        </p:blipFill>
        <p:spPr>
          <a:xfrm>
            <a:off x="2421890" y="1051560"/>
            <a:ext cx="7317739" cy="3931920"/>
          </a:xfrm>
          <a:prstGeom prst="rect">
            <a:avLst/>
          </a:prstGeom>
        </p:spPr>
      </p:pic>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试验日期：2026-09-05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7"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统计结果（Live 门内，n = 4 / 组）</a:t>
            </a:r>
            <a:endPar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48"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49"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50"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graphicFrame>
        <p:nvGraphicFramePr>
          <p:cNvPr id="3" name="Table 2"/>
          <p:cNvGraphicFramePr>
            <a:graphicFrameLocks noGrp="1"/>
          </p:cNvGraphicFramePr>
          <p:nvPr/>
        </p:nvGraphicFramePr>
        <p:xfrm>
          <a:off x="457200" y="1280160"/>
          <a:ext cx="11247120" cy="2286000"/>
        </p:xfrm>
        <a:graphic>
          <a:graphicData uri="http://schemas.openxmlformats.org/drawingml/2006/table">
            <a:tbl>
              <a:tblPr>
                <a:tableStyleId>{5C22544A-7EE6-4342-B048-85BDC9FD1C3A}</a:tableStyleId>
              </a:tblPr>
              <a:tblGrid>
                <a:gridCol w="1405890"/>
                <a:gridCol w="1405890"/>
                <a:gridCol w="1405890"/>
                <a:gridCol w="1405890"/>
                <a:gridCol w="1405890"/>
                <a:gridCol w="1405890"/>
                <a:gridCol w="1405890"/>
                <a:gridCol w="1405890"/>
              </a:tblGrid>
              <a:tr h="457200">
                <a:tc>
                  <a:txBody>
                    <a:bodyPr/>
                    <a:lstStyle/>
                    <a:p>
                      <a:r>
                        <a:rPr sz="1300" b="1">
                          <a:latin typeface="Arial" panose="020B0704020202020204"/>
                        </a:rPr>
                        <a:t>指标</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Control mean ± SD</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TGF-β mean ± SD</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变化</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t 检验 P</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Welch P</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Mann-Whitney P</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显著性</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300" b="0">
                          <a:latin typeface="Arial" panose="020B0704020202020204"/>
                        </a:rPr>
                        <a:t>活率（%）</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91.5 ± 2.0</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93.8 ± 1.6</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+2.6%</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0.1218</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0.1240</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0.114</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ns</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300" b="0">
                          <a:latin typeface="Arial" panose="020B0704020202020204"/>
                        </a:rPr>
                        <a:t>Perforin MFI</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7301 ± 462</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4213 ± 424</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-42.3%</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6.3e-05</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6.6e-05</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0.029</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300" b="0">
                          <a:latin typeface="Arial" panose="020B0704020202020204"/>
                        </a:rPr>
                        <a:t>IFN-γ MFI</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1122 ± 29</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866 ± 42</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-22.9%</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5.8e-05</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0.0001</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0.029</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300" b="0">
                          <a:latin typeface="Arial" panose="020B0704020202020204"/>
                        </a:rPr>
                        <a:t>GranB MFI</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7726 ± 1057</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3470 ± 515</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-55.1%</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0.0004</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0.0014</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0.029</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bl>
          </a:graphicData>
        </a:graphic>
      </p:graphicFrame>
      <p:sp>
        <p:nvSpPr>
          <p:cNvPr id="4" name="TextBox 3"/>
          <p:cNvSpPr txBox="1"/>
          <p:nvPr/>
        </p:nvSpPr>
        <p:spPr>
          <a:xfrm>
            <a:off x="457200" y="3840480"/>
            <a:ext cx="11247120" cy="1371600"/>
          </a:xfrm>
          <a:prstGeom prst="rect">
            <a:avLst/>
          </a:prstGeom>
          <a:noFill/>
        </p:spPr>
        <p:txBody>
          <a:bodyPr wrap="square">
            <a:spAutoFit/>
          </a:bodyPr>
          <a:lstStyle/>
          <a:p>
            <a:r>
              <a:rPr sz="1400" b="0">
                <a:latin typeface="Arial" panose="020B0704020202020204"/>
              </a:rPr>
              <a:t>MFI = Live 门内荧光强度中位数（未补偿数据）。显著性按非配对 t 检验：ns P ≥ 0.05，* &lt; 0.05，** &lt; 0.01，*** &lt; 0.001，**** &lt; 0.0001。</a:t>
            </a:r>
            <a:endParaRPr sz="1400" b="0">
              <a:latin typeface="Arial" panose="020B0704020202020204"/>
            </a:endParaRPr>
          </a:p>
          <a:p>
            <a:r>
              <a:rPr sz="1400" b="0">
                <a:latin typeface="Arial" panose="020B0704020202020204"/>
              </a:rPr>
              <a:t>n = 4 时 Mann-Whitney 检验最小可达 P = 0.029，三项 MFI 均达到该值，方向与 t 检验一致。</a:t>
            </a:r>
            <a:endParaRPr sz="1400" b="0">
              <a:latin typeface="Arial" panose="020B0704020202020204"/>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试验日期：2026-09-05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5"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17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FSC-A、SSC-A 与各因子 MFI 的变化（Control vs TGF-β）</a:t>
            </a:r>
            <a:endParaRPr lang="zh-CN" altLang="zh-CN" sz="17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56"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57"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58"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graphicFrame>
        <p:nvGraphicFramePr>
          <p:cNvPr id="3" name="Table 2"/>
          <p:cNvGraphicFramePr>
            <a:graphicFrameLocks noGrp="1"/>
          </p:cNvGraphicFramePr>
          <p:nvPr/>
        </p:nvGraphicFramePr>
        <p:xfrm>
          <a:off x="548640" y="1280160"/>
          <a:ext cx="11064240" cy="2743200"/>
        </p:xfrm>
        <a:graphic>
          <a:graphicData uri="http://schemas.openxmlformats.org/drawingml/2006/table">
            <a:tbl>
              <a:tblPr>
                <a:tableStyleId>{5C22544A-7EE6-4342-B048-85BDC9FD1C3A}</a:tableStyleId>
              </a:tblPr>
              <a:tblGrid>
                <a:gridCol w="2212848"/>
                <a:gridCol w="2212848"/>
                <a:gridCol w="2212848"/>
                <a:gridCol w="2212848"/>
                <a:gridCol w="2212848"/>
              </a:tblGrid>
              <a:tr h="457200">
                <a:tc>
                  <a:txBody>
                    <a:bodyPr/>
                    <a:lstStyle/>
                    <a:p>
                      <a:r>
                        <a:rPr sz="1300" b="1">
                          <a:latin typeface="Arial" panose="020B0704020202020204"/>
                        </a:rPr>
                        <a:t>指标（Live 门内中位数）</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Control</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TGF-β 10 ng/mL</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变化</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t 检验 P</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300" b="1">
                          <a:latin typeface="Arial" panose="020B0704020202020204"/>
                        </a:rPr>
                        <a:t>FSC-A（细胞大小）</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61697 ± 5574</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57894 ± 2719</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-6%</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0.266 </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300" b="1">
                          <a:latin typeface="Arial" panose="020B0704020202020204"/>
                        </a:rPr>
                        <a:t>SSC-A（颗粒度）</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49548 ± 2575</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46801 ± 2473</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-6%</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0.175 </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300" b="1">
                          <a:latin typeface="Arial" panose="020B0704020202020204"/>
                        </a:rPr>
                        <a:t>Perforin MFI</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7301 ± 462</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4213 ± 424</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-42%</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6.32e-05 ***</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300" b="1">
                          <a:latin typeface="Arial" panose="020B0704020202020204"/>
                        </a:rPr>
                        <a:t>IFN-γ MFI</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1122 ± 29</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866 ± 42</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-23%</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5.78e-05 ***</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a:lstStyle/>
                    <a:p>
                      <a:r>
                        <a:rPr sz="1300" b="1">
                          <a:latin typeface="Arial" panose="020B0704020202020204"/>
                        </a:rPr>
                        <a:t>Granzyme B MFI</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7726 ± 1057</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3470 ± 515</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-55%</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0.000353 ***</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bl>
          </a:graphicData>
        </a:graphic>
      </p:graphicFrame>
      <p:sp>
        <p:nvSpPr>
          <p:cNvPr id="4" name="TextBox 3"/>
          <p:cNvSpPr txBox="1"/>
          <p:nvPr/>
        </p:nvSpPr>
        <p:spPr>
          <a:xfrm>
            <a:off x="548640" y="4206240"/>
            <a:ext cx="11064240" cy="2286000"/>
          </a:xfrm>
          <a:prstGeom prst="rect">
            <a:avLst/>
          </a:prstGeom>
          <a:noFill/>
        </p:spPr>
        <p:txBody>
          <a:bodyPr wrap="square">
            <a:spAutoFit/>
          </a:bodyPr>
          <a:lstStyle/>
          <a:p>
            <a:r>
              <a:rPr sz="1400" b="0">
                <a:latin typeface="Arial" panose="020B0704020202020204"/>
              </a:rPr>
              <a:t>读法：FSC-A 反映细胞大小，SSC-A 反映颗粒度。若三个因子同幅下降而 FSC-A 也明显下降，则下降可能只是细胞变小、总蛋白减少的全局效应。</a:t>
            </a:r>
            <a:endParaRPr sz="1400" b="0">
              <a:latin typeface="Arial" panose="020B0704020202020204"/>
            </a:endParaRPr>
          </a:p>
          <a:p>
            <a:r>
              <a:rPr sz="1400">
                <a:latin typeface="Arial" panose="020B0704020202020204"/>
              </a:rPr>
              <a:t>结果：FSC-A -6%、SSC-A -6%，均不显著，远小于三个因子 −23% 到 −55% 的降幅。按每管 MFI / FSC-A 校正后变化为 Perforin -39%（P = 0.0039），IFN-γ -18%（P = 0.006），GranB -52%（P = 0.00045），仍全部显著。</a:t>
            </a:r>
            <a:endParaRPr sz="1400">
              <a:latin typeface="Arial" panose="020B0704020202020204"/>
            </a:endParaRPr>
          </a:p>
          <a:p>
            <a:r>
              <a:rPr sz="1400">
                <a:latin typeface="Arial" panose="020B0704020202020204"/>
              </a:rPr>
              <a:t>结论：TGF-β 引起的 Perforin、IFN-γ、Granzyme B 下降是真实的表达下降，不是体积伪像。本套染色不含 Ki67，增殖稀释效应无法评估。</a:t>
            </a:r>
            <a:endParaRPr sz="1400">
              <a:latin typeface="Arial" panose="020B0704020202020204"/>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试验日期：2026-09-05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9" name="文本框 42"/>
          <p:cNvSpPr txBox="1"/>
          <p:nvPr/>
        </p:nvSpPr>
        <p:spPr>
          <a:xfrm>
            <a:off x="592455" y="2300000"/>
            <a:ext cx="11007090" cy="1069845"/>
          </a:xfrm>
          <a:prstGeom prst="rect">
            <a:avLst/>
          </a:prstGeom>
          <a:noFill/>
        </p:spPr>
        <p:txBody>
          <a:bodyPr wrap="square" rtlCol="0">
            <a:spAutoFit/>
          </a:bodyPr>
          <a:lstStyle/>
          <a:p>
            <a:pPr algn="ctr">
              <a:lnSpc>
                <a:spcPct val="150000"/>
              </a:lnSpc>
            </a:pPr>
            <a:r>
              <a:rPr lang="zh-CN" altLang="en-US" sz="30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rPr>
              <a:t>第三部分  实验 202609112L：</a:t>
            </a:r>
            <a:endParaRPr lang="zh-CN" altLang="en-US" sz="30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endParaRPr>
          </a:p>
          <a:p>
            <a:pPr algn="ctr">
              <a:lnSpc>
                <a:spcPct val="150000"/>
              </a:lnSpc>
            </a:pPr>
            <a:r>
              <a:rPr lang="zh-CN" altLang="en-US" sz="30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rPr>
              <a:t>醋酸钠与 BMS-303141 对 TGF-β 抑制效应分子的影响</a:t>
            </a:r>
            <a:endParaRPr lang="zh-CN" altLang="en-US" sz="30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FFFFFF"/>
                </a:solidFill>
              </a:rPr>
              <a:t>试验日期：2026-09-11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0"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19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数据汇报：醋酸钠与 BMS-303141 对 TGF-β 抑制效应分子的影响</a:t>
            </a:r>
            <a:endParaRPr lang="zh-CN" altLang="zh-CN" sz="19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61"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62"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63"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3" name="TextBox 2"/>
          <p:cNvSpPr txBox="1"/>
          <p:nvPr/>
        </p:nvSpPr>
        <p:spPr>
          <a:xfrm>
            <a:off x="457200" y="1371600"/>
            <a:ext cx="11247120" cy="3200400"/>
          </a:xfrm>
          <a:prstGeom prst="rect">
            <a:avLst/>
          </a:prstGeom>
          <a:noFill/>
        </p:spPr>
        <p:txBody>
          <a:bodyPr wrap="square">
            <a:spAutoFit/>
          </a:bodyPr>
          <a:lstStyle/>
          <a:p>
            <a:r>
              <a:rPr sz="1800" b="0">
                <a:latin typeface="Arial" panose="020B0704020202020204"/>
              </a:rPr>
              <a:t>实验：202609112L_001（2026-09-11）；仪器：BD LSRFortessa X-20；分析：FlowJo 10.8.1</a:t>
            </a:r>
            <a:endParaRPr sz="1800" b="0">
              <a:latin typeface="Arial" panose="020B0704020202020204"/>
            </a:endParaRPr>
          </a:p>
          <a:p>
            <a:r>
              <a:rPr sz="1800" b="0">
                <a:latin typeface="Arial" panose="020B0704020202020204"/>
              </a:rPr>
              <a:t>分组：Control、TGF-β（10 ng/mL）、醋酸钠（10 mmol/L）、ACLY 抑制剂 BMS-303141、TGF-β+醋酸钠、TGF-β+BMS-303141，每组 4 管，共 24 管</a:t>
            </a:r>
            <a:endParaRPr sz="1800" b="0">
              <a:latin typeface="Arial" panose="020B0704020202020204"/>
            </a:endParaRPr>
          </a:p>
          <a:p>
            <a:r>
              <a:rPr sz="1800" b="0">
                <a:latin typeface="Arial" panose="020B0704020202020204"/>
              </a:rPr>
              <a:t>染色：APC-Cy7 活死；BV421 Perforin；PE IFN-γ；APC Granzyme B</a:t>
            </a:r>
            <a:endParaRPr sz="1800" b="0">
              <a:latin typeface="Arial" panose="020B0704020202020204"/>
            </a:endParaRPr>
          </a:p>
          <a:p>
            <a:r>
              <a:rPr sz="1800" b="0">
                <a:latin typeface="Arial" panose="020B0704020202020204"/>
              </a:rPr>
              <a:t>指标：Live 门内各因子 MFI（中位数）；统计：单因素方差分析 + Tukey 多重比较</a:t>
            </a:r>
            <a:endParaRPr sz="1800" b="0">
              <a:latin typeface="Arial" panose="020B0704020202020204"/>
            </a:endParaRPr>
          </a:p>
          <a:p>
            <a:r>
              <a:rPr sz="1800" b="0">
                <a:latin typeface="Arial" panose="020B0704020202020204"/>
              </a:rPr>
              <a:t>注：FCS 中补偿矩阵为单位阵，按未补偿数据分析</a:t>
            </a:r>
            <a:endParaRPr sz="1800" b="0">
              <a:latin typeface="Arial" panose="020B0704020202020204"/>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试验日期：2026-09-11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门控策略（示例：管 2L-C）</a:t>
            </a:r>
            <a:endPar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65"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66"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67"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pic>
        <p:nvPicPr>
          <p:cNvPr id="3" name="Picture 2" descr="C_2L-C.png"/>
          <p:cNvPicPr>
            <a:picLocks noChangeAspect="1"/>
          </p:cNvPicPr>
          <p:nvPr/>
        </p:nvPicPr>
        <p:blipFill>
          <a:blip r:embed="rId1"/>
          <a:stretch>
            <a:fillRect/>
          </a:stretch>
        </p:blipFill>
        <p:spPr>
          <a:xfrm>
            <a:off x="1053492" y="1188720"/>
            <a:ext cx="10054535" cy="2926080"/>
          </a:xfrm>
          <a:prstGeom prst="rect">
            <a:avLst/>
          </a:prstGeom>
        </p:spPr>
      </p:pic>
      <p:sp>
        <p:nvSpPr>
          <p:cNvPr id="4" name="TextBox 3"/>
          <p:cNvSpPr txBox="1"/>
          <p:nvPr/>
        </p:nvSpPr>
        <p:spPr>
          <a:xfrm>
            <a:off x="457200" y="4389120"/>
            <a:ext cx="11247120" cy="1371600"/>
          </a:xfrm>
          <a:prstGeom prst="rect">
            <a:avLst/>
          </a:prstGeom>
          <a:noFill/>
        </p:spPr>
        <p:txBody>
          <a:bodyPr wrap="square">
            <a:spAutoFit/>
          </a:bodyPr>
          <a:lstStyle/>
          <a:p>
            <a:r>
              <a:rPr sz="1600" b="0">
                <a:latin typeface="Arial" panose="020B0704020202020204"/>
              </a:rPr>
              <a:t>Cells：FSC-A ≥ 10K、SSC-A ≥ 16K 去除碎片 → Singlets：SSC-A / SSC-H 去除双细胞 → Live：APC-Cy7-A 阈值 12000。单细胞门改用 SSC 通道，因 FSC-H 在约 90K 处检测器饱和，FSC-A/FSC-H 图上的水平尾巴为大单细胞的信号削平，不是双细胞，不应切除。</a:t>
            </a:r>
            <a:endParaRPr sz="1600" b="0">
              <a:latin typeface="Arial" panose="020B0704020202020204"/>
            </a:endParaRPr>
          </a:p>
          <a:p>
            <a:r>
              <a:rPr sz="1600">
                <a:latin typeface="Arial" panose="020B0704020202020204"/>
              </a:rPr>
              <a:t>各组活率 76 到 85%，TGF-β 处理组略高于 Control，本报告不作为分析指标</a:t>
            </a:r>
            <a:endParaRPr sz="1600">
              <a:latin typeface="Arial" panose="020B0704020202020204"/>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试验日期：2026-09-11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8"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直方图叠加（Live 门内）：各处理相对其参照组</a:t>
            </a:r>
            <a:endPar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69"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70"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71"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4" name="TextBox 3"/>
          <p:cNvSpPr txBox="1"/>
          <p:nvPr/>
        </p:nvSpPr>
        <p:spPr>
          <a:xfrm>
            <a:off x="457200" y="5303520"/>
            <a:ext cx="11247120" cy="1371600"/>
          </a:xfrm>
          <a:prstGeom prst="rect">
            <a:avLst/>
          </a:prstGeom>
          <a:noFill/>
        </p:spPr>
        <p:txBody>
          <a:bodyPr wrap="square">
            <a:spAutoFit/>
          </a:bodyPr>
          <a:lstStyle/>
          <a:p>
            <a:r>
              <a:rPr sz="1500" b="0">
                <a:latin typeface="Arial" panose="020B0704020202020204"/>
              </a:rPr>
              <a:t>每格灰色填充为参照组，彩线为处理组；左三列以 Control（管 2L-C）为参照，右两列以 TGF-β（管 2L-T_003）为参照。行：Perforin、IFN-γ、Granzyme B。代表管：TGF-β 2L-T_003，醋酸钠 2L-A，BMS-303141 2L-B_001，TGF-β+醋酸钠 2L-TA_001，TGF-β+BMS-303141 2L-TB_003。</a:t>
            </a:r>
            <a:endParaRPr sz="1500" b="0">
              <a:latin typeface="Arial" panose="020B0704020202020204"/>
            </a:endParaRPr>
          </a:p>
          <a:p>
            <a:r>
              <a:rPr sz="1300">
                <a:latin typeface="Arial" panose="020B0704020202020204"/>
              </a:rPr>
              <a:t>配色全文统一：Control 黑 / TGF-β 红 / 醋酸钠 蓝 / BMS-303141 绿 / TGF-β+醋酸钠 紫 / TGF-β+BMS-303141 橙。纵轴为峰值归一化百分比，曲线经高斯平滑。</a:t>
            </a:r>
            <a:endParaRPr sz="1300">
              <a:latin typeface="Arial" panose="020B0704020202020204"/>
            </a:endParaRPr>
          </a:p>
        </p:txBody>
      </p:sp>
      <p:pic>
        <p:nvPicPr>
          <p:cNvPr id="5" name="Picture 4" descr="2L_直方图叠加_pub.png"/>
          <p:cNvPicPr>
            <a:picLocks noChangeAspect="1"/>
          </p:cNvPicPr>
          <p:nvPr/>
        </p:nvPicPr>
        <p:blipFill>
          <a:blip r:embed="rId1"/>
          <a:stretch>
            <a:fillRect/>
          </a:stretch>
        </p:blipFill>
        <p:spPr>
          <a:xfrm>
            <a:off x="2324734" y="1005840"/>
            <a:ext cx="7512050" cy="4160520"/>
          </a:xfrm>
          <a:prstGeom prst="rect">
            <a:avLst/>
          </a:prstGeom>
        </p:spPr>
      </p:pic>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试验日期：2026-09-11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2"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MFI 定量（相对 Control 的倍数，mean ± SD）</a:t>
            </a:r>
            <a:endPar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73"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74"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75"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4" name="TextBox 3"/>
          <p:cNvSpPr txBox="1"/>
          <p:nvPr/>
        </p:nvSpPr>
        <p:spPr>
          <a:xfrm>
            <a:off x="457200" y="5486400"/>
            <a:ext cx="11247120" cy="1188719"/>
          </a:xfrm>
          <a:prstGeom prst="rect">
            <a:avLst/>
          </a:prstGeom>
          <a:noFill/>
        </p:spPr>
        <p:txBody>
          <a:bodyPr wrap="square">
            <a:spAutoFit/>
          </a:bodyPr>
          <a:lstStyle/>
          <a:p>
            <a:r>
              <a:rPr sz="1400" b="0">
                <a:latin typeface="Arial" panose="020B0704020202020204"/>
              </a:rPr>
              <a:t>每点为一管 Live 门内 MFI 中位数除以 Control 组均值；虚线为 Control 水平。本批各组四孔先合并再分管上机，四管为技术重复（n = 1 次独立实验），故不作显著性检验，只报效应大小。</a:t>
            </a:r>
            <a:endParaRPr sz="1400" b="0">
              <a:latin typeface="Arial" panose="020B0704020202020204"/>
            </a:endParaRPr>
          </a:p>
          <a:p>
            <a:r>
              <a:rPr sz="1400">
                <a:latin typeface="Arial" panose="020B0704020202020204"/>
              </a:rPr>
              <a:t>TGF-β 使 Perforin 降至 0.73、Granzyme B 降至 0.48；醋酸钠单独使 Perforin 升至 1.32；TGF-β+醋酸钠的 Perforin 为 0.97（回到 Control 水平），Granzyme B 为 0.60（较 TGF-β 单独部分回升）；BMS-303141 及 TGF-β+BMS-303141 与对应不含抑制剂的组一致。IFN-γ 各组变化在 ±20% 内，醋酸钠组离散大。</a:t>
            </a:r>
            <a:endParaRPr sz="1400">
              <a:latin typeface="Arial" panose="020B0704020202020204"/>
            </a:endParaRPr>
          </a:p>
        </p:txBody>
      </p:sp>
      <p:pic>
        <p:nvPicPr>
          <p:cNvPr id="5" name="Picture 4" descr="2L_MFI倍数柱状图_pub.png"/>
          <p:cNvPicPr>
            <a:picLocks noChangeAspect="1"/>
          </p:cNvPicPr>
          <p:nvPr/>
        </p:nvPicPr>
        <p:blipFill>
          <a:blip r:embed="rId1"/>
          <a:stretch>
            <a:fillRect/>
          </a:stretch>
        </p:blipFill>
        <p:spPr>
          <a:xfrm>
            <a:off x="274319" y="1051560"/>
            <a:ext cx="11612880" cy="2768633"/>
          </a:xfrm>
          <a:prstGeom prst="rect">
            <a:avLst/>
          </a:prstGeom>
        </p:spPr>
      </p:pic>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试验日期：2026-09-11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6"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19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MFI 汇总（相对 Control 的倍数，mean ± SD，4 个技术重复）</a:t>
            </a:r>
            <a:endParaRPr lang="zh-CN" altLang="zh-CN" sz="19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77"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78"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79"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5" name="TextBox 4"/>
          <p:cNvSpPr txBox="1"/>
          <p:nvPr/>
        </p:nvSpPr>
        <p:spPr>
          <a:xfrm>
            <a:off x="365760" y="5669280"/>
            <a:ext cx="11430000" cy="731520"/>
          </a:xfrm>
          <a:prstGeom prst="rect">
            <a:avLst/>
          </a:prstGeom>
          <a:noFill/>
        </p:spPr>
        <p:txBody>
          <a:bodyPr wrap="square">
            <a:spAutoFit/>
          </a:bodyPr>
          <a:lstStyle/>
          <a:p>
            <a:r>
              <a:rPr sz="1300" b="0">
                <a:latin typeface="Arial" panose="020B0704020202020204"/>
              </a:rPr>
              <a:t>绝对 MFI（中位数）数据从略。因四管来自同一合并样本，本批不报 P 值；组间差异需在独立重复实验（n ≥ 3）后再行检验。</a:t>
            </a:r>
            <a:endParaRPr sz="1300" b="0">
              <a:latin typeface="Arial" panose="020B0704020202020204"/>
            </a:endParaRPr>
          </a:p>
        </p:txBody>
      </p:sp>
      <p:graphicFrame>
        <p:nvGraphicFramePr>
          <p:cNvPr id="6" name="Table 5"/>
          <p:cNvGraphicFramePr>
            <a:graphicFrameLocks noGrp="1"/>
          </p:cNvGraphicFramePr>
          <p:nvPr/>
        </p:nvGraphicFramePr>
        <p:xfrm>
          <a:off x="457200" y="1371600"/>
          <a:ext cx="11247120" cy="2011680"/>
        </p:xfrm>
        <a:graphic>
          <a:graphicData uri="http://schemas.openxmlformats.org/drawingml/2006/table">
            <a:tbl>
              <a:tblPr>
                <a:tableStyleId>{5C22544A-7EE6-4342-B048-85BDC9FD1C3A}</a:tableStyleId>
              </a:tblPr>
              <a:tblGrid>
                <a:gridCol w="1606731"/>
                <a:gridCol w="1606731"/>
                <a:gridCol w="1606731"/>
                <a:gridCol w="1606731"/>
                <a:gridCol w="1606731"/>
                <a:gridCol w="1606731"/>
                <a:gridCol w="1606734"/>
              </a:tblGrid>
              <a:tr h="502920">
                <a:tc>
                  <a:txBody>
                    <a:bodyPr/>
                    <a:lstStyle/>
                    <a:p>
                      <a:r>
                        <a:rPr sz="1300" b="1">
                          <a:latin typeface="Arial" panose="020B0704020202020204"/>
                        </a:rPr>
                        <a:t>因子</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Control</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TGF-β</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醋酸钠</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BMS-303141</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TGF-β+醋酸钠</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1">
                          <a:latin typeface="Arial" panose="020B0704020202020204"/>
                        </a:rPr>
                        <a:t>TGF-β+BMS-303141</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502920">
                <a:tc>
                  <a:txBody>
                    <a:bodyPr/>
                    <a:lstStyle/>
                    <a:p>
                      <a:r>
                        <a:rPr sz="1300" b="1">
                          <a:latin typeface="Arial" panose="020B0704020202020204"/>
                        </a:rPr>
                        <a:t>Perforin</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1.00 ± 0.08</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0.73 ± 0.01</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1.32 ± 0.14</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0.98 ± 0.11</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0.97 ± 0.17</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0.73 ± 0.03</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502920">
                <a:tc>
                  <a:txBody>
                    <a:bodyPr/>
                    <a:lstStyle/>
                    <a:p>
                      <a:r>
                        <a:rPr sz="1300" b="1">
                          <a:latin typeface="Arial" panose="020B0704020202020204"/>
                        </a:rPr>
                        <a:t>IFN-γ</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1.00 ± 0.08</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0.85 ± 0.02</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1.20 ± 0.41</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1.08 ± 0.03</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0.86 ± 0.09</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0.99 ± 0.22</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502920">
                <a:tc>
                  <a:txBody>
                    <a:bodyPr/>
                    <a:lstStyle/>
                    <a:p>
                      <a:r>
                        <a:rPr sz="1300" b="1">
                          <a:latin typeface="Arial" panose="020B0704020202020204"/>
                        </a:rPr>
                        <a:t>Granzyme B</a:t>
                      </a:r>
                      <a:endParaRPr sz="13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1.00 ± 0.29</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0.48 ± 0.00</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0.93 ± 0.12</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0.86 ± 0.10</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0.60 ± 0.18</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300" b="0">
                          <a:latin typeface="Arial" panose="020B0704020202020204"/>
                        </a:rPr>
                        <a:t>0.48 ± 0.03</a:t>
                      </a:r>
                      <a:endParaRPr sz="13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bl>
          </a:graphicData>
        </a:graphic>
      </p:graphicFrame>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试验日期：2026-09-11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4"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19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体积与颗粒度对照：FSC-A、SSC-A 与各因子 MFI（六组）</a:t>
            </a:r>
            <a:endParaRPr lang="zh-CN" altLang="zh-CN" sz="19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85"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86"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87"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graphicFrame>
        <p:nvGraphicFramePr>
          <p:cNvPr id="3" name="Table 2"/>
          <p:cNvGraphicFramePr>
            <a:graphicFrameLocks noGrp="1"/>
          </p:cNvGraphicFramePr>
          <p:nvPr/>
        </p:nvGraphicFramePr>
        <p:xfrm>
          <a:off x="365760" y="1234440"/>
          <a:ext cx="11430000" cy="3401568"/>
        </p:xfrm>
        <a:graphic>
          <a:graphicData uri="http://schemas.openxmlformats.org/drawingml/2006/table">
            <a:tbl>
              <a:tblPr>
                <a:tableStyleId>{5C22544A-7EE6-4342-B048-85BDC9FD1C3A}</a:tableStyleId>
              </a:tblPr>
              <a:tblGrid>
                <a:gridCol w="1632857"/>
                <a:gridCol w="1632857"/>
                <a:gridCol w="1632857"/>
                <a:gridCol w="1632857"/>
                <a:gridCol w="1632857"/>
                <a:gridCol w="1632857"/>
                <a:gridCol w="1632858"/>
              </a:tblGrid>
              <a:tr h="566928">
                <a:tc>
                  <a:txBody>
                    <a:bodyPr/>
                    <a:lstStyle/>
                    <a:p>
                      <a:r>
                        <a:rPr sz="1100" b="1">
                          <a:latin typeface="Arial" panose="020B0704020202020204"/>
                        </a:rPr>
                        <a:t>指标</a:t>
                      </a:r>
                      <a:endParaRPr sz="11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1">
                          <a:latin typeface="Arial" panose="020B0704020202020204"/>
                        </a:rPr>
                        <a:t>Control</a:t>
                      </a:r>
                      <a:endParaRPr sz="11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1">
                          <a:latin typeface="Arial" panose="020B0704020202020204"/>
                        </a:rPr>
                        <a:t>TGF-β</a:t>
                      </a:r>
                      <a:endParaRPr sz="11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1">
                          <a:latin typeface="Arial" panose="020B0704020202020204"/>
                        </a:rPr>
                        <a:t>醋酸钠</a:t>
                      </a:r>
                      <a:endParaRPr sz="11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1">
                          <a:latin typeface="Arial" panose="020B0704020202020204"/>
                        </a:rPr>
                        <a:t>BMS-303141</a:t>
                      </a:r>
                      <a:endParaRPr sz="11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1">
                          <a:latin typeface="Arial" panose="020B0704020202020204"/>
                        </a:rPr>
                        <a:t>TGF-β+醋酸钠</a:t>
                      </a:r>
                      <a:endParaRPr sz="11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1">
                          <a:latin typeface="Arial" panose="020B0704020202020204"/>
                        </a:rPr>
                        <a:t>TGF-β+BMS-303141</a:t>
                      </a:r>
                      <a:endParaRPr sz="11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566928">
                <a:tc>
                  <a:txBody>
                    <a:bodyPr/>
                    <a:lstStyle/>
                    <a:p>
                      <a:r>
                        <a:rPr sz="1100" b="1">
                          <a:latin typeface="Arial" panose="020B0704020202020204"/>
                        </a:rPr>
                        <a:t>FSC-A（细胞大小）</a:t>
                      </a:r>
                      <a:endParaRPr sz="11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66941 ± 1715</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67690 ± 617</a:t>
                      </a:r>
                      <a:endParaRPr sz="1100" b="0">
                        <a:latin typeface="Arial" panose="020B0704020202020204"/>
                      </a:endParaRPr>
                    </a:p>
                    <a:p>
                      <a:r>
                        <a:rPr sz="1100" b="0">
                          <a:latin typeface="Arial" panose="020B0704020202020204"/>
                        </a:rPr>
                        <a:t>(+1%)</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57062 ± 2549</a:t>
                      </a:r>
                      <a:endParaRPr sz="1100" b="0">
                        <a:latin typeface="Arial" panose="020B0704020202020204"/>
                      </a:endParaRPr>
                    </a:p>
                    <a:p>
                      <a:r>
                        <a:rPr sz="1100" b="0">
                          <a:latin typeface="Arial" panose="020B0704020202020204"/>
                        </a:rPr>
                        <a:t>(-15%)</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64597 ± 2481</a:t>
                      </a:r>
                      <a:endParaRPr sz="1100" b="0">
                        <a:latin typeface="Arial" panose="020B0704020202020204"/>
                      </a:endParaRPr>
                    </a:p>
                    <a:p>
                      <a:r>
                        <a:rPr sz="1100" b="0">
                          <a:latin typeface="Arial" panose="020B0704020202020204"/>
                        </a:rPr>
                        <a:t>(-4%)</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49858 ± 2297</a:t>
                      </a:r>
                      <a:endParaRPr sz="1100" b="0">
                        <a:latin typeface="Arial" panose="020B0704020202020204"/>
                      </a:endParaRPr>
                    </a:p>
                    <a:p>
                      <a:r>
                        <a:rPr sz="1100" b="0">
                          <a:latin typeface="Arial" panose="020B0704020202020204"/>
                        </a:rPr>
                        <a:t>(-26%)</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66595 ± 1071</a:t>
                      </a:r>
                      <a:endParaRPr sz="1100" b="0">
                        <a:latin typeface="Arial" panose="020B0704020202020204"/>
                      </a:endParaRPr>
                    </a:p>
                    <a:p>
                      <a:r>
                        <a:rPr sz="1100" b="0">
                          <a:latin typeface="Arial" panose="020B0704020202020204"/>
                        </a:rPr>
                        <a:t>(-1%)</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566928">
                <a:tc>
                  <a:txBody>
                    <a:bodyPr/>
                    <a:lstStyle/>
                    <a:p>
                      <a:r>
                        <a:rPr sz="1100" b="1">
                          <a:latin typeface="Arial" panose="020B0704020202020204"/>
                        </a:rPr>
                        <a:t>SSC-A（颗粒度）</a:t>
                      </a:r>
                      <a:endParaRPr sz="11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62891 ± 708</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54834 ± 149</a:t>
                      </a:r>
                      <a:endParaRPr sz="1100" b="0">
                        <a:latin typeface="Arial" panose="020B0704020202020204"/>
                      </a:endParaRPr>
                    </a:p>
                    <a:p>
                      <a:r>
                        <a:rPr sz="1100" b="0">
                          <a:latin typeface="Arial" panose="020B0704020202020204"/>
                        </a:rPr>
                        <a:t>(-13%)</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64008 ± 941</a:t>
                      </a:r>
                      <a:endParaRPr sz="1100" b="0">
                        <a:latin typeface="Arial" panose="020B0704020202020204"/>
                      </a:endParaRPr>
                    </a:p>
                    <a:p>
                      <a:r>
                        <a:rPr sz="1100" b="0">
                          <a:latin typeface="Arial" panose="020B0704020202020204"/>
                        </a:rPr>
                        <a:t>(+2%)</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62801 ± 1614</a:t>
                      </a:r>
                      <a:endParaRPr sz="1100" b="0">
                        <a:latin typeface="Arial" panose="020B0704020202020204"/>
                      </a:endParaRPr>
                    </a:p>
                    <a:p>
                      <a:r>
                        <a:rPr sz="1100" b="0">
                          <a:latin typeface="Arial" panose="020B0704020202020204"/>
                        </a:rPr>
                        <a:t>(-0%)</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52659 ± 386</a:t>
                      </a:r>
                      <a:endParaRPr sz="1100" b="0">
                        <a:latin typeface="Arial" panose="020B0704020202020204"/>
                      </a:endParaRPr>
                    </a:p>
                    <a:p>
                      <a:r>
                        <a:rPr sz="1100" b="0">
                          <a:latin typeface="Arial" panose="020B0704020202020204"/>
                        </a:rPr>
                        <a:t>(-16%)</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55858 ± 931</a:t>
                      </a:r>
                      <a:endParaRPr sz="1100" b="0">
                        <a:latin typeface="Arial" panose="020B0704020202020204"/>
                      </a:endParaRPr>
                    </a:p>
                    <a:p>
                      <a:r>
                        <a:rPr sz="1100" b="0">
                          <a:latin typeface="Arial" panose="020B0704020202020204"/>
                        </a:rPr>
                        <a:t>(-11%)</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566928">
                <a:tc>
                  <a:txBody>
                    <a:bodyPr/>
                    <a:lstStyle/>
                    <a:p>
                      <a:r>
                        <a:rPr sz="1100" b="1">
                          <a:latin typeface="Arial" panose="020B0704020202020204"/>
                        </a:rPr>
                        <a:t>Perforin MFI</a:t>
                      </a:r>
                      <a:endParaRPr sz="11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5609 ± 450</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4085 ± 62</a:t>
                      </a:r>
                      <a:endParaRPr sz="1100" b="0">
                        <a:latin typeface="Arial" panose="020B0704020202020204"/>
                      </a:endParaRPr>
                    </a:p>
                    <a:p>
                      <a:r>
                        <a:rPr sz="1100" b="0">
                          <a:latin typeface="Arial" panose="020B0704020202020204"/>
                        </a:rPr>
                        <a:t>(-27%)</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7399 ± 791</a:t>
                      </a:r>
                      <a:endParaRPr sz="1100" b="0">
                        <a:latin typeface="Arial" panose="020B0704020202020204"/>
                      </a:endParaRPr>
                    </a:p>
                    <a:p>
                      <a:r>
                        <a:rPr sz="1100" b="0">
                          <a:latin typeface="Arial" panose="020B0704020202020204"/>
                        </a:rPr>
                        <a:t>(+32%)</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5510 ± 603</a:t>
                      </a:r>
                      <a:endParaRPr sz="1100" b="0">
                        <a:latin typeface="Arial" panose="020B0704020202020204"/>
                      </a:endParaRPr>
                    </a:p>
                    <a:p>
                      <a:r>
                        <a:rPr sz="1100" b="0">
                          <a:latin typeface="Arial" panose="020B0704020202020204"/>
                        </a:rPr>
                        <a:t>(-2%)</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5448 ± 949</a:t>
                      </a:r>
                      <a:endParaRPr sz="1100" b="0">
                        <a:latin typeface="Arial" panose="020B0704020202020204"/>
                      </a:endParaRPr>
                    </a:p>
                    <a:p>
                      <a:r>
                        <a:rPr sz="1100" b="0">
                          <a:latin typeface="Arial" panose="020B0704020202020204"/>
                        </a:rPr>
                        <a:t>(-3%)</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4087 ± 156</a:t>
                      </a:r>
                      <a:endParaRPr sz="1100" b="0">
                        <a:latin typeface="Arial" panose="020B0704020202020204"/>
                      </a:endParaRPr>
                    </a:p>
                    <a:p>
                      <a:r>
                        <a:rPr sz="1100" b="0">
                          <a:latin typeface="Arial" panose="020B0704020202020204"/>
                        </a:rPr>
                        <a:t>(-27%)</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566928">
                <a:tc>
                  <a:txBody>
                    <a:bodyPr/>
                    <a:lstStyle/>
                    <a:p>
                      <a:r>
                        <a:rPr sz="1100" b="1">
                          <a:latin typeface="Arial" panose="020B0704020202020204"/>
                        </a:rPr>
                        <a:t>IFN-γ MFI</a:t>
                      </a:r>
                      <a:endParaRPr sz="11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793 ± 63</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672 ± 13</a:t>
                      </a:r>
                      <a:endParaRPr sz="1100" b="0">
                        <a:latin typeface="Arial" panose="020B0704020202020204"/>
                      </a:endParaRPr>
                    </a:p>
                    <a:p>
                      <a:r>
                        <a:rPr sz="1100" b="0">
                          <a:latin typeface="Arial" panose="020B0704020202020204"/>
                        </a:rPr>
                        <a:t>(-15%)</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950 ± 324</a:t>
                      </a:r>
                      <a:endParaRPr sz="1100" b="0">
                        <a:latin typeface="Arial" panose="020B0704020202020204"/>
                      </a:endParaRPr>
                    </a:p>
                    <a:p>
                      <a:r>
                        <a:rPr sz="1100" b="0">
                          <a:latin typeface="Arial" panose="020B0704020202020204"/>
                        </a:rPr>
                        <a:t>(+20%)</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857 ± 27</a:t>
                      </a:r>
                      <a:endParaRPr sz="1100" b="0">
                        <a:latin typeface="Arial" panose="020B0704020202020204"/>
                      </a:endParaRPr>
                    </a:p>
                    <a:p>
                      <a:r>
                        <a:rPr sz="1100" b="0">
                          <a:latin typeface="Arial" panose="020B0704020202020204"/>
                        </a:rPr>
                        <a:t>(+8%)</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682 ± 69</a:t>
                      </a:r>
                      <a:endParaRPr sz="1100" b="0">
                        <a:latin typeface="Arial" panose="020B0704020202020204"/>
                      </a:endParaRPr>
                    </a:p>
                    <a:p>
                      <a:r>
                        <a:rPr sz="1100" b="0">
                          <a:latin typeface="Arial" panose="020B0704020202020204"/>
                        </a:rPr>
                        <a:t>(-14%)</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785 ± 176</a:t>
                      </a:r>
                      <a:endParaRPr sz="1100" b="0">
                        <a:latin typeface="Arial" panose="020B0704020202020204"/>
                      </a:endParaRPr>
                    </a:p>
                    <a:p>
                      <a:r>
                        <a:rPr sz="1100" b="0">
                          <a:latin typeface="Arial" panose="020B0704020202020204"/>
                        </a:rPr>
                        <a:t>(-1%)</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566928">
                <a:tc>
                  <a:txBody>
                    <a:bodyPr/>
                    <a:lstStyle/>
                    <a:p>
                      <a:r>
                        <a:rPr sz="1100" b="1">
                          <a:latin typeface="Arial" panose="020B0704020202020204"/>
                        </a:rPr>
                        <a:t>Granzyme B MFI</a:t>
                      </a:r>
                      <a:endParaRPr sz="1100" b="1">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7303 ± 2145</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3538 ± 18</a:t>
                      </a:r>
                      <a:endParaRPr sz="1100" b="0">
                        <a:latin typeface="Arial" panose="020B0704020202020204"/>
                      </a:endParaRPr>
                    </a:p>
                    <a:p>
                      <a:r>
                        <a:rPr sz="1100" b="0">
                          <a:latin typeface="Arial" panose="020B0704020202020204"/>
                        </a:rPr>
                        <a:t>(-52%)</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6815 ± 889</a:t>
                      </a:r>
                      <a:endParaRPr sz="1100" b="0">
                        <a:latin typeface="Arial" panose="020B0704020202020204"/>
                      </a:endParaRPr>
                    </a:p>
                    <a:p>
                      <a:r>
                        <a:rPr sz="1100" b="0">
                          <a:latin typeface="Arial" panose="020B0704020202020204"/>
                        </a:rPr>
                        <a:t>(-7%)</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6248 ± 745</a:t>
                      </a:r>
                      <a:endParaRPr sz="1100" b="0">
                        <a:latin typeface="Arial" panose="020B0704020202020204"/>
                      </a:endParaRPr>
                    </a:p>
                    <a:p>
                      <a:r>
                        <a:rPr sz="1100" b="0">
                          <a:latin typeface="Arial" panose="020B0704020202020204"/>
                        </a:rPr>
                        <a:t>(-14%)</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4406 ± 1344</a:t>
                      </a:r>
                      <a:endParaRPr sz="1100" b="0">
                        <a:latin typeface="Arial" panose="020B0704020202020204"/>
                      </a:endParaRPr>
                    </a:p>
                    <a:p>
                      <a:r>
                        <a:rPr sz="1100" b="0">
                          <a:latin typeface="Arial" panose="020B0704020202020204"/>
                        </a:rPr>
                        <a:t>(-40%)</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rPr>
                        <a:t>3483 ± 201</a:t>
                      </a:r>
                      <a:endParaRPr sz="1100" b="0">
                        <a:latin typeface="Arial" panose="020B0704020202020204"/>
                      </a:endParaRPr>
                    </a:p>
                    <a:p>
                      <a:r>
                        <a:rPr sz="1100" b="0">
                          <a:latin typeface="Arial" panose="020B0704020202020204"/>
                        </a:rPr>
                        <a:t>(-52%)</a:t>
                      </a:r>
                      <a:endParaRPr sz="1100" b="0">
                        <a:latin typeface="Arial" panose="020B0704020202020204"/>
                      </a:endParaRPr>
                    </a:p>
                  </a:txBody>
                  <a:tcP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bl>
          </a:graphicData>
        </a:graphic>
      </p:graphicFrame>
      <p:sp>
        <p:nvSpPr>
          <p:cNvPr id="4" name="TextBox 3"/>
          <p:cNvSpPr txBox="1"/>
          <p:nvPr/>
        </p:nvSpPr>
        <p:spPr>
          <a:xfrm>
            <a:off x="365760" y="4754880"/>
            <a:ext cx="11430000" cy="2011680"/>
          </a:xfrm>
          <a:prstGeom prst="rect">
            <a:avLst/>
          </a:prstGeom>
          <a:noFill/>
        </p:spPr>
        <p:txBody>
          <a:bodyPr wrap="square">
            <a:spAutoFit/>
          </a:bodyPr>
          <a:lstStyle/>
          <a:p>
            <a:r>
              <a:rPr sz="1200" b="0">
                <a:latin typeface="Arial" panose="020B0704020202020204"/>
              </a:rPr>
              <a:t>括号内为相对 Control 的变化（4 个技术重复，不作显著性检验）。</a:t>
            </a:r>
            <a:endParaRPr sz="1200" b="0">
              <a:latin typeface="Arial" panose="020B0704020202020204"/>
            </a:endParaRPr>
          </a:p>
          <a:p>
            <a:r>
              <a:rPr sz="1200">
                <a:latin typeface="Arial" panose="020B0704020202020204"/>
              </a:rPr>
              <a:t>TGF-β：FSC-A 基本不变（+1%），SSC-A 降 13%，细胞未变小而颗粒度下降，与 Perforin -27%、Granzyme B -52% 一致，支持颗粒内容物确实减少。</a:t>
            </a:r>
            <a:endParaRPr sz="1200">
              <a:latin typeface="Arial" panose="020B0704020202020204"/>
            </a:endParaRPr>
          </a:p>
          <a:p>
            <a:r>
              <a:rPr sz="1200">
                <a:latin typeface="Arial" panose="020B0704020202020204"/>
              </a:rPr>
              <a:t>醋酸钠单独：细胞变小（FSC-A -15%）但 Perforin 升 32%，按体积计升幅更大，为真实上调。TGF-β+醋酸钠：FSC-A -26%，为六组最小，但 Perforin 回到 Control 水平（-3%），Granzyme B 较 TGF-β 单独回升 25%；醋酸钠的逆转不是体积伪像。</a:t>
            </a:r>
            <a:endParaRPr sz="1200">
              <a:latin typeface="Arial" panose="020B0704020202020204"/>
            </a:endParaRPr>
          </a:p>
          <a:p>
            <a:r>
              <a:rPr sz="1200">
                <a:latin typeface="Arial" panose="020B0704020202020204"/>
              </a:rPr>
              <a:t>BMS-303141 与 TGF-β+BMS-303141：大小、颗粒度、三个因子均与不含抑制剂的对应组相同，抑制剂无作用。SSC-A 只在含 TGF-β 的组下降（-16% 到 -11%），是 TGF-β 特异效应。</a:t>
            </a:r>
            <a:endParaRPr sz="1200">
              <a:latin typeface="Arial" panose="020B0704020202020204"/>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试验日期：2026-09-11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8"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17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现有结论（NK-92，TGF-β 与醋酸盐，2026-09-05 / 09-11 两批）</a:t>
            </a:r>
            <a:endParaRPr lang="zh-CN" altLang="zh-CN" sz="17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89"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90"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91"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3" name="Text 1"/>
          <p:cNvSpPr txBox="1"/>
          <p:nvPr/>
        </p:nvSpPr>
        <p:spPr>
          <a:xfrm>
            <a:off x="548640" y="914400"/>
            <a:ext cx="11064240" cy="237744"/>
          </a:xfrm>
          <a:prstGeom prst="rect">
            <a:avLst/>
          </a:prstGeom>
          <a:noFill/>
        </p:spPr>
        <p:txBody>
          <a:bodyPr wrap="square" lIns="0" tIns="0" rIns="0" bIns="0" rtlCol="0" anchor="t"/>
          <a:lstStyle/>
          <a:p>
            <a:pPr marL="0" indent="0">
              <a:buNone/>
            </a:pPr>
            <a:r>
              <a:rPr lang="en-US" sz="1350" b="1" dirty="0">
                <a:solidFill>
                  <a:srgbClr val="111111"/>
                </a:solidFill>
                <a:latin typeface="Arial" panose="020B0704020202020204" pitchFamily="34" charset="0"/>
                <a:ea typeface="微软雅黑" panose="020B0503020204020204" charset="-122"/>
                <a:cs typeface="微软雅黑" pitchFamily="34" charset="-120"/>
              </a:rPr>
              <a:t>一、可以下的结论</a:t>
            </a:r>
            <a:endParaRPr lang="en-US" sz="1350" dirty="0"/>
          </a:p>
        </p:txBody>
      </p:sp>
      <p:sp>
        <p:nvSpPr>
          <p:cNvPr id="4" name="Text 2"/>
          <p:cNvSpPr txBox="1"/>
          <p:nvPr/>
        </p:nvSpPr>
        <p:spPr>
          <a:xfrm>
            <a:off x="713232" y="1188720"/>
            <a:ext cx="10881360" cy="2103120"/>
          </a:xfrm>
          <a:prstGeom prst="rect">
            <a:avLst/>
          </a:prstGeom>
          <a:noFill/>
        </p:spPr>
        <p:txBody>
          <a:bodyPr wrap="square" lIns="0" tIns="0" rIns="0" bIns="0" rtlCol="0" anchor="t"/>
          <a:lstStyle/>
          <a:p>
            <a:pPr marL="342900" indent="-342900">
              <a:lnSpc>
                <a:spcPts val="1500"/>
              </a:lnSpc>
              <a:spcAft>
                <a:spcPts val="400"/>
              </a:spcAft>
              <a:buSzPct val="100000"/>
              <a:buChar char="•"/>
            </a:pPr>
            <a:r>
              <a:rPr lang="en-US" sz="1100" dirty="0">
                <a:solidFill>
                  <a:srgbClr val="111111"/>
                </a:solidFill>
                <a:latin typeface="Arial" panose="020B0704020202020204" pitchFamily="34" charset="0"/>
                <a:ea typeface="微软雅黑" panose="020B0503020204020204" charset="-122"/>
                <a:cs typeface="微软雅黑" pitchFamily="34" charset="-120"/>
              </a:rPr>
              <a:t>TGF-β 10 ng/mL 抑制 NK-92 效应分子：Perforin −42% / −28%，Granzyme B −55% / −52%，IFN-γ −23% / −16%。两批独立实验方向与幅度一致。</a:t>
            </a:r>
            <a:endParaRPr lang="en-US" sz="1100" dirty="0"/>
          </a:p>
          <a:p>
            <a:pPr marL="342900" indent="-342900">
              <a:lnSpc>
                <a:spcPts val="1500"/>
              </a:lnSpc>
              <a:spcAft>
                <a:spcPts val="400"/>
              </a:spcAft>
              <a:buSzPct val="100000"/>
              <a:buChar char="•"/>
            </a:pPr>
            <a:r>
              <a:rPr lang="en-US" sz="1100" dirty="0">
                <a:solidFill>
                  <a:srgbClr val="111111"/>
                </a:solidFill>
                <a:latin typeface="Arial" panose="020B0704020202020204" pitchFamily="34" charset="0"/>
                <a:ea typeface="微软雅黑" panose="020B0503020204020204" charset="-122"/>
                <a:cs typeface="微软雅黑" pitchFamily="34" charset="-120"/>
              </a:rPr>
              <a:t>FSC-A 变化 −6% 与 +1%，均不显著；三个因子的下降不能用细胞变小解释，是真实的表达下降。</a:t>
            </a:r>
            <a:endParaRPr lang="en-US" sz="1100" dirty="0"/>
          </a:p>
          <a:p>
            <a:pPr marL="342900" indent="-342900">
              <a:lnSpc>
                <a:spcPts val="1500"/>
              </a:lnSpc>
              <a:spcAft>
                <a:spcPts val="400"/>
              </a:spcAft>
              <a:buSzPct val="100000"/>
              <a:buChar char="•"/>
            </a:pPr>
            <a:r>
              <a:rPr lang="en-US" sz="1100" dirty="0">
                <a:solidFill>
                  <a:srgbClr val="111111"/>
                </a:solidFill>
                <a:latin typeface="Arial" panose="020B0704020202020204" pitchFamily="34" charset="0"/>
                <a:ea typeface="微软雅黑" panose="020B0503020204020204" charset="-122"/>
                <a:cs typeface="微软雅黑" pitchFamily="34" charset="-120"/>
              </a:rPr>
              <a:t>SSC-A 在三个含 TGF-β 的组降 11–16%，在两个不含的组不降，为 TGF-β 特异的颗粒度下降，与颗粒内容物减少一致。</a:t>
            </a:r>
            <a:endParaRPr lang="en-US" sz="1100" dirty="0"/>
          </a:p>
          <a:p>
            <a:pPr marL="342900" indent="-342900">
              <a:lnSpc>
                <a:spcPts val="1500"/>
              </a:lnSpc>
              <a:spcAft>
                <a:spcPts val="400"/>
              </a:spcAft>
              <a:buSzPct val="100000"/>
              <a:buChar char="•"/>
            </a:pPr>
            <a:r>
              <a:rPr lang="en-US" sz="1100" dirty="0">
                <a:solidFill>
                  <a:srgbClr val="111111"/>
                </a:solidFill>
                <a:latin typeface="Arial" panose="020B0704020202020204" pitchFamily="34" charset="0"/>
                <a:ea typeface="微软雅黑" panose="020B0503020204020204" charset="-122"/>
                <a:cs typeface="微软雅黑" pitchFamily="34" charset="-120"/>
              </a:rPr>
              <a:t>补充醋酸盐 10 mmol/L 提高 NK-92 的 Perforin 表达（单独 +32%，P = 0.004）；TGF-β 存在时 Perforin 回到对照水平（5540 vs 5725）。</a:t>
            </a:r>
            <a:endParaRPr lang="en-US" sz="1100" dirty="0"/>
          </a:p>
          <a:p>
            <a:pPr marL="342900" indent="-342900">
              <a:lnSpc>
                <a:spcPts val="1500"/>
              </a:lnSpc>
              <a:spcAft>
                <a:spcPts val="400"/>
              </a:spcAft>
              <a:buSzPct val="100000"/>
              <a:buChar char="•"/>
            </a:pPr>
            <a:r>
              <a:rPr lang="en-US" sz="1100" dirty="0">
                <a:solidFill>
                  <a:srgbClr val="111111"/>
                </a:solidFill>
                <a:latin typeface="Arial" panose="020B0704020202020204" pitchFamily="34" charset="0"/>
                <a:ea typeface="微软雅黑" panose="020B0503020204020204" charset="-122"/>
                <a:cs typeface="微软雅黑" pitchFamily="34" charset="-120"/>
              </a:rPr>
              <a:t>醋酸盐 2.5–20 mmol/L 对活率无显著影响（ANOVA P = 0.334）。</a:t>
            </a:r>
            <a:endParaRPr lang="en-US" sz="1100" dirty="0"/>
          </a:p>
          <a:p>
            <a:pPr marL="342900" indent="-342900">
              <a:lnSpc>
                <a:spcPts val="1500"/>
              </a:lnSpc>
              <a:spcAft>
                <a:spcPts val="400"/>
              </a:spcAft>
              <a:buSzPct val="100000"/>
              <a:buChar char="•"/>
            </a:pPr>
            <a:r>
              <a:rPr lang="en-US" sz="1100" dirty="0">
                <a:solidFill>
                  <a:srgbClr val="111111"/>
                </a:solidFill>
                <a:latin typeface="Arial" panose="020B0704020202020204" pitchFamily="34" charset="0"/>
                <a:ea typeface="微软雅黑" panose="020B0503020204020204" charset="-122"/>
                <a:cs typeface="微软雅黑" pitchFamily="34" charset="-120"/>
              </a:rPr>
              <a:t>ACLY 抑制剂 BMS-303141 单独及与 TGF-β 合用，三个因子均无变化。</a:t>
            </a:r>
            <a:endParaRPr lang="en-US" sz="1100" dirty="0"/>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试验日期：2026-09-05 / 09-11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2"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下一步</a:t>
            </a:r>
            <a:endPar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93"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94"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095"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3" name="Text 1"/>
          <p:cNvSpPr txBox="1"/>
          <p:nvPr/>
        </p:nvSpPr>
        <p:spPr>
          <a:xfrm>
            <a:off x="548640" y="914400"/>
            <a:ext cx="11064240" cy="237744"/>
          </a:xfrm>
          <a:prstGeom prst="rect">
            <a:avLst/>
          </a:prstGeom>
          <a:noFill/>
        </p:spPr>
        <p:txBody>
          <a:bodyPr wrap="square" lIns="0" tIns="0" rIns="0" bIns="0" rtlCol="0" anchor="t"/>
          <a:lstStyle/>
          <a:p>
            <a:pPr marL="0" indent="0">
              <a:buNone/>
            </a:pPr>
            <a:r>
              <a:rPr lang="en-US" sz="1350" b="1" dirty="0">
                <a:solidFill>
                  <a:srgbClr val="111111"/>
                </a:solidFill>
                <a:latin typeface="Arial" panose="020B0704020202020204" pitchFamily="34" charset="0"/>
                <a:ea typeface="微软雅黑" panose="020B0503020204020204" charset="-122"/>
                <a:cs typeface="微软雅黑" pitchFamily="34" charset="-120"/>
              </a:rPr>
              <a:t>一、实验设计</a:t>
            </a:r>
            <a:endParaRPr lang="en-US" sz="1350" dirty="0"/>
          </a:p>
        </p:txBody>
      </p:sp>
      <p:sp>
        <p:nvSpPr>
          <p:cNvPr id="4" name="Text 2"/>
          <p:cNvSpPr txBox="1"/>
          <p:nvPr/>
        </p:nvSpPr>
        <p:spPr>
          <a:xfrm>
            <a:off x="713232" y="1188720"/>
            <a:ext cx="10881360" cy="2103120"/>
          </a:xfrm>
          <a:prstGeom prst="rect">
            <a:avLst/>
          </a:prstGeom>
          <a:noFill/>
        </p:spPr>
        <p:txBody>
          <a:bodyPr wrap="square" lIns="0" tIns="0" rIns="0" bIns="0" rtlCol="0" anchor="t"/>
          <a:lstStyle/>
          <a:p>
            <a:pPr marL="342900" indent="-342900">
              <a:lnSpc>
                <a:spcPts val="1500"/>
              </a:lnSpc>
              <a:spcAft>
                <a:spcPts val="400"/>
              </a:spcAft>
              <a:buSzPct val="100000"/>
              <a:buChar char="•"/>
            </a:pPr>
            <a:r>
              <a:rPr lang="en-US" sz="1100" dirty="0">
                <a:solidFill>
                  <a:srgbClr val="111111"/>
                </a:solidFill>
                <a:latin typeface="Arial" panose="020B0704020202020204" pitchFamily="34" charset="0"/>
                <a:ea typeface="微软雅黑" panose="020B0503020204020204" charset="-122"/>
                <a:cs typeface="微软雅黑" pitchFamily="34" charset="-120"/>
              </a:rPr>
              <a:t>分组沿用：对照 / TGF-β / TGF-β+醋酸盐 / 醋酸盐 / TGF-β+抑制剂 / 抑制剂，每组 4 孔。</a:t>
            </a:r>
            <a:endParaRPr lang="en-US" sz="1100" dirty="0"/>
          </a:p>
          <a:p>
            <a:pPr marL="342900" indent="-342900">
              <a:lnSpc>
                <a:spcPts val="1500"/>
              </a:lnSpc>
              <a:spcAft>
                <a:spcPts val="400"/>
              </a:spcAft>
              <a:buSzPct val="100000"/>
              <a:buChar char="•"/>
            </a:pPr>
            <a:r>
              <a:rPr lang="en-US" sz="1100" dirty="0">
                <a:solidFill>
                  <a:srgbClr val="111111"/>
                </a:solidFill>
                <a:latin typeface="Arial" panose="020B0704020202020204" pitchFamily="34" charset="0"/>
                <a:ea typeface="微软雅黑" panose="020B0503020204020204" charset="-122"/>
                <a:cs typeface="微软雅黑" pitchFamily="34" charset="-120"/>
              </a:rPr>
              <a:t>两块 24 孔板同时铺：A 板 Day 4 收（药在场），B 板 Day 8 收（Day 4 洗脱全部药物，再养 4 天）。</a:t>
            </a:r>
            <a:endParaRPr lang="en-US" sz="1100" dirty="0"/>
          </a:p>
          <a:p>
            <a:pPr marL="342900" indent="-342900">
              <a:lnSpc>
                <a:spcPts val="1500"/>
              </a:lnSpc>
              <a:spcAft>
                <a:spcPts val="400"/>
              </a:spcAft>
              <a:buSzPct val="100000"/>
              <a:buChar char="•"/>
            </a:pPr>
            <a:r>
              <a:rPr lang="en-US" sz="1100" dirty="0">
                <a:solidFill>
                  <a:srgbClr val="111111"/>
                </a:solidFill>
                <a:latin typeface="Arial" panose="020B0704020202020204" pitchFamily="34" charset="0"/>
                <a:ea typeface="微软雅黑" panose="020B0503020204020204" charset="-122"/>
                <a:cs typeface="微软雅黑" pitchFamily="34" charset="-120"/>
              </a:rPr>
              <a:t>醋酸盐浓度不上调，维持 10 mmol/L 并向下加 2.5、5 两档。扩增一项从未测过；且剂量越高越难排除非特异弱酸盐效应。</a:t>
            </a:r>
            <a:endParaRPr lang="en-US" sz="1100" dirty="0"/>
          </a:p>
          <a:p>
            <a:pPr marL="342900" indent="-342900">
              <a:lnSpc>
                <a:spcPts val="1500"/>
              </a:lnSpc>
              <a:spcAft>
                <a:spcPts val="400"/>
              </a:spcAft>
              <a:buSzPct val="100000"/>
              <a:buChar char="•"/>
            </a:pPr>
            <a:r>
              <a:rPr lang="en-US" sz="1100" dirty="0">
                <a:solidFill>
                  <a:srgbClr val="111111"/>
                </a:solidFill>
                <a:latin typeface="Arial" panose="020B0704020202020204" pitchFamily="34" charset="0"/>
                <a:ea typeface="微软雅黑" panose="020B0503020204020204" charset="-122"/>
                <a:cs typeface="微软雅黑" pitchFamily="34" charset="-120"/>
              </a:rPr>
              <a:t>E:T 比按活细胞计数计算，不按加样体积——醋酸盐组细胞体积小 14–25%，不校正会把效应细胞数差异读成杀伤差异。</a:t>
            </a:r>
            <a:endParaRPr lang="en-US" sz="1100" dirty="0">
              <a:solidFill>
                <a:srgbClr val="111111"/>
              </a:solidFill>
              <a:latin typeface="Arial" panose="020B0704020202020204" pitchFamily="34" charset="0"/>
              <a:ea typeface="微软雅黑" panose="020B0503020204020204" charset="-122"/>
              <a:cs typeface="微软雅黑" pitchFamily="34" charset="-120"/>
            </a:endParaRPr>
          </a:p>
          <a:p>
            <a:pPr marL="342900" indent="-342900">
              <a:lnSpc>
                <a:spcPts val="1500"/>
              </a:lnSpc>
              <a:spcAft>
                <a:spcPts val="400"/>
              </a:spcAft>
              <a:buSzPct val="100000"/>
              <a:buChar char="•"/>
            </a:pPr>
            <a:r>
              <a:rPr lang="en-US" sz="1100" dirty="0"/>
              <a:t>K562</a:t>
            </a:r>
            <a:r>
              <a:rPr lang="zh-CN" altLang="en-US" sz="1100" dirty="0"/>
              <a:t>杀伤</a:t>
            </a:r>
            <a:r>
              <a:rPr lang="zh-CN" altLang="en-US" sz="1100" dirty="0"/>
              <a:t>实验</a:t>
            </a:r>
            <a:endParaRPr lang="zh-CN" altLang="en-US" sz="1100" dirty="0"/>
          </a:p>
        </p:txBody>
      </p:sp>
      <p:sp>
        <p:nvSpPr>
          <p:cNvPr id="5" name="Text 3"/>
          <p:cNvSpPr txBox="1"/>
          <p:nvPr/>
        </p:nvSpPr>
        <p:spPr>
          <a:xfrm>
            <a:off x="548640" y="2834640"/>
            <a:ext cx="11064240" cy="237744"/>
          </a:xfrm>
          <a:prstGeom prst="rect">
            <a:avLst/>
          </a:prstGeom>
          <a:noFill/>
        </p:spPr>
        <p:txBody>
          <a:bodyPr wrap="square" lIns="0" tIns="0" rIns="0" bIns="0" rtlCol="0" anchor="t"/>
          <a:lstStyle/>
          <a:p>
            <a:pPr marL="0" indent="0">
              <a:buNone/>
            </a:pPr>
            <a:r>
              <a:rPr lang="en-US" sz="1350" b="1" dirty="0">
                <a:solidFill>
                  <a:srgbClr val="111111"/>
                </a:solidFill>
                <a:latin typeface="Arial" panose="020B0704020202020204" pitchFamily="34" charset="0"/>
                <a:ea typeface="微软雅黑" panose="020B0503020204020204" charset="-122"/>
                <a:cs typeface="微软雅黑" pitchFamily="34" charset="-120"/>
              </a:rPr>
              <a:t>二、新增读出</a:t>
            </a:r>
            <a:endParaRPr lang="en-US" sz="1350" dirty="0"/>
          </a:p>
        </p:txBody>
      </p:sp>
      <p:sp>
        <p:nvSpPr>
          <p:cNvPr id="6" name="Text 4"/>
          <p:cNvSpPr txBox="1"/>
          <p:nvPr/>
        </p:nvSpPr>
        <p:spPr>
          <a:xfrm>
            <a:off x="713232" y="3154680"/>
            <a:ext cx="10881360" cy="1828800"/>
          </a:xfrm>
          <a:prstGeom prst="rect">
            <a:avLst/>
          </a:prstGeom>
          <a:noFill/>
        </p:spPr>
        <p:txBody>
          <a:bodyPr wrap="square" lIns="0" tIns="0" rIns="0" bIns="0" rtlCol="0" anchor="t"/>
          <a:lstStyle/>
          <a:p>
            <a:pPr marL="342900" indent="-342900">
              <a:lnSpc>
                <a:spcPts val="1500"/>
              </a:lnSpc>
              <a:spcAft>
                <a:spcPts val="400"/>
              </a:spcAft>
              <a:buSzPct val="100000"/>
              <a:buChar char="•"/>
            </a:pPr>
            <a:r>
              <a:rPr lang="en-US" sz="1100" dirty="0">
                <a:solidFill>
                  <a:srgbClr val="111111"/>
                </a:solidFill>
                <a:latin typeface="Arial" panose="020B0704020202020204" pitchFamily="34" charset="0"/>
                <a:ea typeface="微软雅黑" panose="020B0503020204020204" charset="-122"/>
                <a:cs typeface="微软雅黑" pitchFamily="34" charset="-120"/>
              </a:rPr>
              <a:t>杀伤功能（本轮重点）：K562 为靶细胞，CFSE 标靶 + 活死染料，E:T 1:1 / 2.5:1 / 5:1，4 h；或 xCELLigence 实时阻抗。</a:t>
            </a:r>
            <a:endParaRPr lang="en-US" sz="1100" dirty="0"/>
          </a:p>
          <a:p>
            <a:pPr marL="342900" indent="-342900">
              <a:lnSpc>
                <a:spcPts val="1500"/>
              </a:lnSpc>
              <a:spcAft>
                <a:spcPts val="400"/>
              </a:spcAft>
              <a:buSzPct val="100000"/>
              <a:buChar char="•"/>
            </a:pPr>
            <a:r>
              <a:rPr lang="en-US" sz="1100" dirty="0">
                <a:solidFill>
                  <a:srgbClr val="111111"/>
                </a:solidFill>
                <a:latin typeface="Arial" panose="020B0704020202020204" pitchFamily="34" charset="0"/>
                <a:ea typeface="微软雅黑" panose="020B0503020204020204" charset="-122"/>
                <a:cs typeface="微软雅黑" pitchFamily="34" charset="-120"/>
              </a:rPr>
              <a:t>CD107a 脱颗粒：配 刺激，抗体自刺激开始全程留管内</a:t>
            </a:r>
            <a:endParaRPr lang="en-US" sz="1100" dirty="0"/>
          </a:p>
          <a:p>
            <a:pPr marL="342900" indent="-342900">
              <a:lnSpc>
                <a:spcPts val="1500"/>
              </a:lnSpc>
              <a:spcAft>
                <a:spcPts val="400"/>
              </a:spcAft>
              <a:buSzPct val="100000"/>
              <a:buChar char="•"/>
            </a:pPr>
            <a:r>
              <a:rPr lang="en-US" sz="1100" dirty="0">
                <a:solidFill>
                  <a:srgbClr val="FF0000"/>
                </a:solidFill>
                <a:latin typeface="Arial" panose="020B0704020202020204" pitchFamily="34" charset="0"/>
                <a:ea typeface="微软雅黑" panose="020B0503020204020204" charset="-122"/>
                <a:cs typeface="微软雅黑" pitchFamily="34" charset="-120"/>
              </a:rPr>
              <a:t>CD103，CD49a</a:t>
            </a:r>
            <a:r>
              <a:rPr lang="en-US" sz="1100" dirty="0">
                <a:solidFill>
                  <a:srgbClr val="111111"/>
                </a:solidFill>
                <a:latin typeface="Arial" panose="020B0704020202020204" pitchFamily="34" charset="0"/>
                <a:ea typeface="微软雅黑" panose="020B0503020204020204" charset="-122"/>
                <a:cs typeface="微软雅黑" pitchFamily="34" charset="-120"/>
              </a:rPr>
              <a:t>：驻留标志，用于判断 TGF-β 是只关效应程序还是整体</a:t>
            </a:r>
            <a:r>
              <a:rPr lang="zh-CN" altLang="en-US" sz="1100" dirty="0">
                <a:solidFill>
                  <a:srgbClr val="111111"/>
                </a:solidFill>
                <a:latin typeface="Arial" panose="020B0704020202020204" pitchFamily="34" charset="0"/>
                <a:ea typeface="微软雅黑" panose="020B0503020204020204" charset="-122"/>
                <a:cs typeface="微软雅黑" pitchFamily="34" charset="-120"/>
              </a:rPr>
              <a:t>蜕化</a:t>
            </a:r>
            <a:r>
              <a:rPr lang="en-US" sz="1100" dirty="0">
                <a:solidFill>
                  <a:srgbClr val="111111"/>
                </a:solidFill>
                <a:latin typeface="Arial" panose="020B0704020202020204" pitchFamily="34" charset="0"/>
                <a:ea typeface="微软雅黑" panose="020B0503020204020204" charset="-122"/>
                <a:cs typeface="微软雅黑" pitchFamily="34" charset="-120"/>
              </a:rPr>
              <a:t>。</a:t>
            </a:r>
            <a:endParaRPr lang="en-US" sz="1100" dirty="0"/>
          </a:p>
          <a:p>
            <a:pPr marL="342900" indent="-342900">
              <a:lnSpc>
                <a:spcPts val="1500"/>
              </a:lnSpc>
              <a:spcAft>
                <a:spcPts val="400"/>
              </a:spcAft>
              <a:buSzPct val="100000"/>
              <a:buChar char="•"/>
            </a:pPr>
            <a:r>
              <a:rPr lang="en-US" sz="1100" dirty="0">
                <a:solidFill>
                  <a:srgbClr val="111111"/>
                </a:solidFill>
                <a:latin typeface="Arial" panose="020B0704020202020204" pitchFamily="34" charset="0"/>
                <a:ea typeface="微软雅黑" panose="020B0503020204020204" charset="-122"/>
                <a:cs typeface="微软雅黑" pitchFamily="34" charset="-120"/>
              </a:rPr>
              <a:t>NKG2D、NKp46：活化受体。若醋酸盐同时抬回受体，则作用不在染色质层面。</a:t>
            </a:r>
            <a:r>
              <a:rPr lang="zh-CN" altLang="en-US" sz="1100" dirty="0">
                <a:solidFill>
                  <a:srgbClr val="111111"/>
                </a:solidFill>
                <a:latin typeface="Arial" panose="020B0704020202020204" pitchFamily="34" charset="0"/>
                <a:ea typeface="微软雅黑" panose="020B0503020204020204" charset="-122"/>
                <a:cs typeface="微软雅黑" pitchFamily="34" charset="-120"/>
              </a:rPr>
              <a:t>视情况而定</a:t>
            </a:r>
            <a:endParaRPr lang="en-US" sz="1100" dirty="0"/>
          </a:p>
          <a:p>
            <a:pPr marL="342900" indent="-342900">
              <a:lnSpc>
                <a:spcPts val="1500"/>
              </a:lnSpc>
              <a:spcAft>
                <a:spcPts val="400"/>
              </a:spcAft>
              <a:buSzPct val="100000"/>
              <a:buChar char="•"/>
            </a:pPr>
            <a:r>
              <a:rPr lang="en-US" sz="1100" dirty="0">
                <a:solidFill>
                  <a:srgbClr val="111111"/>
                </a:solidFill>
                <a:latin typeface="Arial" panose="020B0704020202020204" pitchFamily="34" charset="0"/>
                <a:ea typeface="微软雅黑" panose="020B0503020204020204" charset="-122"/>
                <a:cs typeface="微软雅黑" pitchFamily="34" charset="-120"/>
              </a:rPr>
              <a:t>IFN-γ 必须在刺激后测——本轮未刺激，胞内为本底水平。</a:t>
            </a:r>
            <a:r>
              <a:rPr lang="zh-CN" altLang="en-US" sz="1100" dirty="0">
                <a:solidFill>
                  <a:srgbClr val="111111"/>
                </a:solidFill>
                <a:latin typeface="Arial" panose="020B0704020202020204" pitchFamily="34" charset="0"/>
                <a:ea typeface="微软雅黑" panose="020B0503020204020204" charset="-122"/>
                <a:cs typeface="微软雅黑" pitchFamily="34" charset="-120"/>
              </a:rPr>
              <a:t>加入提前</a:t>
            </a:r>
            <a:r>
              <a:rPr lang="en-US" altLang="zh-CN" sz="1100" dirty="0">
                <a:solidFill>
                  <a:srgbClr val="111111"/>
                </a:solidFill>
                <a:latin typeface="Arial" panose="020B0704020202020204" pitchFamily="34" charset="0"/>
                <a:ea typeface="微软雅黑" panose="020B0503020204020204" charset="-122"/>
                <a:cs typeface="微软雅黑" pitchFamily="34" charset="-120"/>
              </a:rPr>
              <a:t>4</a:t>
            </a:r>
            <a:r>
              <a:rPr lang="zh-CN" altLang="en-US" sz="1100" dirty="0">
                <a:solidFill>
                  <a:srgbClr val="111111"/>
                </a:solidFill>
                <a:latin typeface="Arial" panose="020B0704020202020204" pitchFamily="34" charset="0"/>
                <a:ea typeface="微软雅黑" panose="020B0503020204020204" charset="-122"/>
                <a:cs typeface="微软雅黑" pitchFamily="34" charset="-120"/>
              </a:rPr>
              <a:t>小时</a:t>
            </a:r>
            <a:r>
              <a:rPr lang="en-US" altLang="zh-CN" sz="1100" dirty="0">
                <a:solidFill>
                  <a:srgbClr val="111111"/>
                </a:solidFill>
                <a:latin typeface="Arial" panose="020B0704020202020204" pitchFamily="34" charset="0"/>
                <a:ea typeface="微软雅黑" panose="020B0503020204020204" charset="-122"/>
                <a:cs typeface="微软雅黑" pitchFamily="34" charset="-120"/>
              </a:rPr>
              <a:t>BFA。</a:t>
            </a:r>
            <a:endParaRPr lang="en-US" altLang="zh-CN" sz="1100" dirty="0">
              <a:solidFill>
                <a:srgbClr val="111111"/>
              </a:solidFill>
              <a:latin typeface="Arial" panose="020B0704020202020204" pitchFamily="34" charset="0"/>
              <a:ea typeface="微软雅黑" panose="020B0503020204020204" charset="-122"/>
              <a:cs typeface="微软雅黑" pitchFamily="34" charset="-120"/>
            </a:endParaRPr>
          </a:p>
          <a:p>
            <a:pPr marL="342900" indent="-342900">
              <a:lnSpc>
                <a:spcPts val="1500"/>
              </a:lnSpc>
              <a:spcAft>
                <a:spcPts val="400"/>
              </a:spcAft>
              <a:buSzPct val="100000"/>
              <a:buChar char="•"/>
            </a:pPr>
            <a:r>
              <a:rPr lang="en-US" altLang="zh-CN" sz="1100" dirty="0">
                <a:solidFill>
                  <a:srgbClr val="111111"/>
                </a:solidFill>
                <a:latin typeface="Arial" panose="020B0704020202020204" pitchFamily="34" charset="0"/>
                <a:ea typeface="微软雅黑" panose="020B0503020204020204" charset="-122"/>
                <a:cs typeface="微软雅黑" pitchFamily="34" charset="-120"/>
              </a:rPr>
              <a:t>K562</a:t>
            </a:r>
            <a:r>
              <a:rPr lang="zh-CN" altLang="en-US" sz="1100" dirty="0">
                <a:solidFill>
                  <a:srgbClr val="111111"/>
                </a:solidFill>
                <a:latin typeface="Arial" panose="020B0704020202020204" pitchFamily="34" charset="0"/>
                <a:ea typeface="微软雅黑" panose="020B0503020204020204" charset="-122"/>
                <a:cs typeface="微软雅黑" pitchFamily="34" charset="-120"/>
              </a:rPr>
              <a:t>杀伤实验</a:t>
            </a:r>
            <a:r>
              <a:rPr lang="en-US" altLang="zh-CN" sz="1100" dirty="0">
                <a:solidFill>
                  <a:srgbClr val="111111"/>
                </a:solidFill>
                <a:latin typeface="Arial" panose="020B0704020202020204" pitchFamily="34" charset="0"/>
                <a:ea typeface="微软雅黑" panose="020B0503020204020204" charset="-122"/>
                <a:cs typeface="微软雅黑" pitchFamily="34" charset="-120"/>
              </a:rPr>
              <a:t>，</a:t>
            </a:r>
            <a:r>
              <a:rPr lang="zh-CN" altLang="en-US" sz="1100" dirty="0">
                <a:solidFill>
                  <a:srgbClr val="111111"/>
                </a:solidFill>
                <a:latin typeface="Arial" panose="020B0704020202020204" pitchFamily="34" charset="0"/>
                <a:ea typeface="微软雅黑" panose="020B0503020204020204" charset="-122"/>
                <a:cs typeface="微软雅黑" pitchFamily="34" charset="-120"/>
              </a:rPr>
              <a:t>具体在设计一下</a:t>
            </a:r>
            <a:r>
              <a:rPr lang="en-US" altLang="zh-CN" sz="1100" dirty="0">
                <a:solidFill>
                  <a:srgbClr val="111111"/>
                </a:solidFill>
                <a:latin typeface="Arial" panose="020B0704020202020204" pitchFamily="34" charset="0"/>
                <a:ea typeface="微软雅黑" panose="020B0503020204020204" charset="-122"/>
                <a:cs typeface="微软雅黑" pitchFamily="34" charset="-120"/>
              </a:rPr>
              <a:t>，</a:t>
            </a:r>
            <a:r>
              <a:rPr lang="zh-CN" altLang="en-US" sz="1100" dirty="0">
                <a:solidFill>
                  <a:srgbClr val="111111"/>
                </a:solidFill>
                <a:latin typeface="Arial" panose="020B0704020202020204" pitchFamily="34" charset="0"/>
                <a:ea typeface="微软雅黑" panose="020B0503020204020204" charset="-122"/>
                <a:cs typeface="微软雅黑" pitchFamily="34" charset="-120"/>
              </a:rPr>
              <a:t>可以增设搞浓度</a:t>
            </a:r>
            <a:r>
              <a:rPr lang="en-US" sz="1100" dirty="0">
                <a:solidFill>
                  <a:srgbClr val="111111"/>
                </a:solidFill>
                <a:latin typeface="Arial" panose="020B0704020202020204" pitchFamily="34" charset="0"/>
                <a:ea typeface="微软雅黑" panose="020B0503020204020204" charset="-122"/>
                <a:cs typeface="微软雅黑" pitchFamily="34" charset="-120"/>
                <a:sym typeface="+mn-ea"/>
              </a:rPr>
              <a:t>TGF-β </a:t>
            </a:r>
            <a:r>
              <a:rPr lang="zh-CN" altLang="en-US" sz="1100" dirty="0">
                <a:solidFill>
                  <a:srgbClr val="111111"/>
                </a:solidFill>
                <a:latin typeface="Arial" panose="020B0704020202020204" pitchFamily="34" charset="0"/>
                <a:ea typeface="微软雅黑" panose="020B0503020204020204" charset="-122"/>
                <a:cs typeface="微软雅黑" pitchFamily="34" charset="-120"/>
                <a:sym typeface="+mn-ea"/>
              </a:rPr>
              <a:t>对照组</a:t>
            </a:r>
            <a:endParaRPr lang="zh-CN" altLang="en-US" sz="1100" dirty="0">
              <a:solidFill>
                <a:srgbClr val="111111"/>
              </a:solidFill>
              <a:latin typeface="Arial" panose="020B0704020202020204" pitchFamily="34" charset="0"/>
              <a:ea typeface="微软雅黑" panose="020B0503020204020204" charset="-122"/>
              <a:cs typeface="微软雅黑" pitchFamily="34" charset="-120"/>
              <a:sym typeface="+mn-ea"/>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试验日期：2026-09-05 / 09-11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6" name="文本框 42"/>
          <p:cNvSpPr txBox="1"/>
          <p:nvPr/>
        </p:nvSpPr>
        <p:spPr>
          <a:xfrm>
            <a:off x="592455" y="1850000"/>
            <a:ext cx="11007090" cy="1069845"/>
          </a:xfrm>
          <a:prstGeom prst="rect">
            <a:avLst/>
          </a:prstGeom>
          <a:noFill/>
        </p:spPr>
        <p:txBody>
          <a:bodyPr wrap="square" rtlCol="0">
            <a:spAutoFit/>
          </a:bodyPr>
          <a:lstStyle/>
          <a:p>
            <a:pPr algn="ctr">
              <a:lnSpc>
                <a:spcPct val="150000"/>
              </a:lnSpc>
            </a:pPr>
            <a:r>
              <a:rPr lang="zh-CN" altLang="en-US" sz="29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rPr>
              <a:t>第四部分  实验 20260929</a:t>
            </a:r>
            <a:endParaRPr lang="zh-CN" altLang="en-US" sz="29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endParaRPr>
          </a:p>
          <a:p>
            <a:pPr algn="ctr">
              <a:lnSpc>
                <a:spcPct val="150000"/>
              </a:lnSpc>
            </a:pPr>
            <a:r>
              <a:rPr lang="zh-CN" altLang="en-US" sz="29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rPr>
              <a:t>TGF-β 与醋酸钠对 NK-92 驻留标志、增殖与效应分子的影响</a:t>
            </a:r>
            <a:endParaRPr lang="zh-CN" altLang="en-US" sz="29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endParaRPr>
          </a:p>
        </p:txBody>
      </p:sp>
      <p:sp>
        <p:nvSpPr>
          <p:cNvPr id="1097" name="文本框 2"/>
          <p:cNvSpPr txBox="1"/>
          <p:nvPr/>
        </p:nvSpPr>
        <p:spPr>
          <a:xfrm>
            <a:off x="1200000" y="4700000"/>
            <a:ext cx="9800000" cy="1254125"/>
          </a:xfrm>
          <a:prstGeom prst="rect">
            <a:avLst/>
          </a:prstGeom>
          <a:noFill/>
        </p:spPr>
        <p:txBody>
          <a:bodyPr wrap="square" rtlCol="0" anchor="t">
            <a:noAutofit/>
          </a:bodyPr>
          <a:lstStyle/>
          <a:p>
            <a:pPr algn="ctr">
              <a:lnSpc>
                <a:spcPct val="150000"/>
              </a:lnSpc>
            </a:pPr>
            <a:r>
              <a:rPr lang="zh-CN" altLang="en-US" sz="1800" b="1" dirty="0">
                <a:latin typeface="Times New Roman" panose="02020603050405020304" charset="0"/>
                <a:ea typeface="楷体" panose="02010609060101010101" charset="-122"/>
                <a:cs typeface="Times New Roman" panose="02020603050405020304" charset="0"/>
                <a:sym typeface="+mn-lt"/>
              </a:rPr>
              <a:t>Experiment_106 · BD LSRFortessa X-20 · FlowJo 10.8.1 + Python · 2026-10-07 分析</a:t>
            </a:r>
            <a:endParaRPr lang="zh-CN" altLang="en-US" sz="1800" b="1" dirty="0">
              <a:latin typeface="Times New Roman" panose="02020603050405020304" charset="0"/>
              <a:ea typeface="楷体" panose="02010609060101010101" charset="-122"/>
              <a:cs typeface="Times New Roman" panose="02020603050405020304" charset="0"/>
              <a:sym typeface="+mn-lt"/>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FFFFFF"/>
                </a:solidFill>
              </a:rPr>
              <a:t>试验日期：2026-09-29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8"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实验信息、面板与补偿</a:t>
            </a:r>
            <a:endPar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099"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100"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101"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graphicFrame>
        <p:nvGraphicFramePr>
          <p:cNvPr id="1102" name="Table 1101"/>
          <p:cNvGraphicFramePr>
            <a:graphicFrameLocks noGrp="1"/>
          </p:cNvGraphicFramePr>
          <p:nvPr/>
        </p:nvGraphicFramePr>
        <p:xfrm>
          <a:off x="457200" y="960120"/>
          <a:ext cx="11247120" cy="2176272"/>
        </p:xfrm>
        <a:graphic>
          <a:graphicData uri="http://schemas.openxmlformats.org/drawingml/2006/table">
            <a:tbl>
              <a:tblPr>
                <a:tableStyleId>{5C22544A-7EE6-4342-B048-85BDC9FD1C3A}</a:tableStyleId>
              </a:tblPr>
              <a:tblGrid>
                <a:gridCol w="1188720"/>
                <a:gridCol w="3017520"/>
                <a:gridCol w="1737360"/>
                <a:gridCol w="2011680"/>
                <a:gridCol w="3291840"/>
              </a:tblGrid>
              <a:tr h="310896">
                <a:tc>
                  <a:txBody>
                    <a:bodyPr/>
                    <a:lstStyle/>
                    <a:p>
                      <a:r>
                        <a:rPr sz="1100" b="1">
                          <a:latin typeface="Arial" panose="020B0704020202020204"/>
                          <a:ea typeface="微软雅黑"/>
                        </a:rPr>
                        <a:t>指标</a:t>
                      </a:r>
                      <a:endParaRPr sz="1100" b="1">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1">
                          <a:latin typeface="Arial" panose="020B0704020202020204"/>
                          <a:ea typeface="微软雅黑"/>
                        </a:rPr>
                        <a:t>荧光素</a:t>
                      </a:r>
                      <a:endParaRPr sz="1100" b="1">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1">
                          <a:latin typeface="Arial" panose="020B0704020202020204"/>
                          <a:ea typeface="微软雅黑"/>
                        </a:rPr>
                        <a:t>激光 → 滤片</a:t>
                      </a:r>
                      <a:endParaRPr sz="1100" b="1">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1">
                          <a:latin typeface="Arial" panose="020B0704020202020204"/>
                          <a:ea typeface="微软雅黑"/>
                        </a:rPr>
                        <a:t>定位 / 是否破膜</a:t>
                      </a:r>
                      <a:endParaRPr sz="1100" b="1">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1">
                          <a:latin typeface="Arial" panose="020B0704020202020204"/>
                          <a:ea typeface="微软雅黑"/>
                        </a:rPr>
                        <a:t>状态</a:t>
                      </a:r>
                      <a:endParaRPr sz="1100" b="1">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10896">
                <a:tc>
                  <a:txBody>
                    <a:bodyPr/>
                    <a:lstStyle/>
                    <a:p>
                      <a:r>
                        <a:rPr sz="1100" b="1">
                          <a:latin typeface="Arial" panose="020B0704020202020204"/>
                          <a:ea typeface="微软雅黑"/>
                        </a:rPr>
                        <a:t>活死</a:t>
                      </a:r>
                      <a:endParaRPr sz="1100" b="1">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eFluor 780（APC-Cy7 通道）</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640 → 780/60</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膜外 · 不破膜</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已有</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10896">
                <a:tc>
                  <a:txBody>
                    <a:bodyPr/>
                    <a:lstStyle/>
                    <a:p>
                      <a:r>
                        <a:rPr sz="1100" b="1">
                          <a:latin typeface="Arial" panose="020B0704020202020204"/>
                          <a:ea typeface="微软雅黑"/>
                        </a:rPr>
                        <a:t>Perforin</a:t>
                      </a:r>
                      <a:endParaRPr sz="1100" b="1">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BV421</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405 → 450/50</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胞质颗粒 · 需破膜</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已有</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10896">
                <a:tc>
                  <a:txBody>
                    <a:bodyPr/>
                    <a:lstStyle/>
                    <a:p>
                      <a:r>
                        <a:rPr sz="1100" b="1">
                          <a:latin typeface="Arial" panose="020B0704020202020204"/>
                          <a:ea typeface="微软雅黑"/>
                        </a:rPr>
                        <a:t>Granzyme B</a:t>
                      </a:r>
                      <a:endParaRPr sz="1100" b="1">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PE</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561 → 586/15</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胞质颗粒 · 需破膜</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已有（本次 PE 为 Granzyme B，未测 IFN-γ）</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10896">
                <a:tc>
                  <a:txBody>
                    <a:bodyPr/>
                    <a:lstStyle/>
                    <a:p>
                      <a:r>
                        <a:rPr sz="1100" b="1">
                          <a:latin typeface="Arial" panose="020B0704020202020204"/>
                          <a:ea typeface="微软雅黑"/>
                        </a:rPr>
                        <a:t>CD103</a:t>
                      </a:r>
                      <a:endParaRPr sz="1100" b="1">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BUV395（BUV396 通道）</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355 → 379/28</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膜外 · 不破膜</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新购，本次首次使用</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10896">
                <a:tc>
                  <a:txBody>
                    <a:bodyPr/>
                    <a:lstStyle/>
                    <a:p>
                      <a:r>
                        <a:rPr sz="1100" b="1">
                          <a:latin typeface="Arial" panose="020B0704020202020204"/>
                          <a:ea typeface="微软雅黑"/>
                        </a:rPr>
                        <a:t>CD49a</a:t>
                      </a:r>
                      <a:endParaRPr sz="1100" b="1">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BV711</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405 → 710/50</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膜外 · 不破膜</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新购，本次首次使用</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10896">
                <a:tc>
                  <a:txBody>
                    <a:bodyPr/>
                    <a:lstStyle/>
                    <a:p>
                      <a:r>
                        <a:rPr sz="1100" b="1">
                          <a:latin typeface="Arial" panose="020B0704020202020204"/>
                          <a:ea typeface="微软雅黑"/>
                        </a:rPr>
                        <a:t>Ki67</a:t>
                      </a:r>
                      <a:endParaRPr sz="1100" b="1">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PerCP-eFluor 710（PerCP-Cy5.5 通道）</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488 → 695/40</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核内 · 需破核膜</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a:lstStyle/>
                    <a:p>
                      <a:r>
                        <a:rPr sz="1100" b="0">
                          <a:latin typeface="Arial" panose="020B0704020202020204"/>
                          <a:ea typeface="微软雅黑"/>
                        </a:rPr>
                        <a:t>已有</a:t>
                      </a:r>
                      <a:endParaRPr sz="1100" b="0">
                        <a:latin typeface="Arial" panose="020B0704020202020204"/>
                        <a:ea typeface="微软雅黑"/>
                      </a:endParaRPr>
                    </a:p>
                  </a:txBody>
                  <a:tcPr marT="20000" marB="20000">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bl>
          </a:graphicData>
        </a:graphic>
      </p:graphicFrame>
      <p:sp>
        <p:nvSpPr>
          <p:cNvPr id="1103" name="TextBox 1102"/>
          <p:cNvSpPr txBox="1"/>
          <p:nvPr/>
        </p:nvSpPr>
        <p:spPr>
          <a:xfrm>
            <a:off x="457200" y="3291840"/>
            <a:ext cx="11247120" cy="2377440"/>
          </a:xfrm>
          <a:prstGeom prst="rect">
            <a:avLst/>
          </a:prstGeom>
          <a:noFill/>
        </p:spPr>
        <p:txBody>
          <a:bodyPr wrap="square">
            <a:spAutoFit/>
          </a:bodyPr>
          <a:lstStyle/>
          <a:p>
            <a:r>
              <a:rPr sz="1200" b="0">
                <a:latin typeface="Arial" panose="020B0704020202020204"/>
                <a:ea typeface="微软雅黑"/>
              </a:rPr>
              <a:t>分组（按管名推断，请核对）：8C 对照、8T TGF-β 10 ng/mL、8TA TGF-β+醋酸钠 10 mmol/L、8A 醋酸钠 10 mmol/L；每组 4 管（X、X_001、X_002、X_003），共 16 管，每管约 2 万事件。</a:t>
            </a:r>
            <a:endParaRPr sz="1200" b="0">
              <a:latin typeface="Arial" panose="020B0704020202020204"/>
              <a:ea typeface="微软雅黑"/>
            </a:endParaRPr>
          </a:p>
          <a:p>
            <a:r>
              <a:rPr sz="1200" b="0">
                <a:latin typeface="Arial" panose="020B0704020202020204"/>
                <a:ea typeface="微软雅黑"/>
              </a:rPr>
              <a:t>补偿：本批未带单染对照，矩阵「New Matrix」在 FlowJo 补偿编辑器中按全染样本逐对手工设定（6 × 6，见下页），16 管挂同一矩阵。分析在 FlowJo 10.8.1 中完成（门在 All Samples 组下，所有管共用）；门控图与直方图叠加由 FlowJo Layout Editor 导出，门与百分比为 FlowJo 原样；阳性率取 FlowJo 各门计数，MFI 由 Python 读取 FCS、套用同一矩阵后取 Live 门内中位数（各门计数与 FlowJo 偏差 ≤ 0.65%）。</a:t>
            </a:r>
            <a:endParaRPr sz="1200" b="0">
              <a:latin typeface="Arial" panose="020B0704020202020204"/>
              <a:ea typeface="微软雅黑"/>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6"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门控策略（示例：管 8C_003，对照组）</a:t>
            </a:r>
            <a:endPar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107"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108"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109"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pic>
        <p:nvPicPr>
          <p:cNvPr id="1110" name="Picture 1109" descr="8C_003.png"/>
          <p:cNvPicPr>
            <a:picLocks noChangeAspect="1"/>
          </p:cNvPicPr>
          <p:nvPr/>
        </p:nvPicPr>
        <p:blipFill>
          <a:blip r:embed="rId1"/>
          <a:stretch>
            <a:fillRect/>
          </a:stretch>
        </p:blipFill>
        <p:spPr>
          <a:xfrm>
            <a:off x="860534" y="868680"/>
            <a:ext cx="5411251" cy="5577840"/>
          </a:xfrm>
          <a:prstGeom prst="rect">
            <a:avLst/>
          </a:prstGeom>
        </p:spPr>
      </p:pic>
      <p:sp>
        <p:nvSpPr>
          <p:cNvPr id="1111" name="TextBox 1110"/>
          <p:cNvSpPr txBox="1"/>
          <p:nvPr/>
        </p:nvSpPr>
        <p:spPr>
          <a:xfrm>
            <a:off x="7132320" y="1097280"/>
            <a:ext cx="4663440" cy="4754880"/>
          </a:xfrm>
          <a:prstGeom prst="rect">
            <a:avLst/>
          </a:prstGeom>
          <a:noFill/>
        </p:spPr>
        <p:txBody>
          <a:bodyPr wrap="square">
            <a:spAutoFit/>
          </a:bodyPr>
          <a:lstStyle/>
          <a:p>
            <a:r>
              <a:rPr sz="1200" b="0">
                <a:latin typeface="Arial" panose="020B0704020202020204"/>
                <a:ea typeface="微软雅黑"/>
              </a:rPr>
              <a:t>Lymphocytes（FSC-A/SSC-A 多边形）→ Single Cells（FSC-A/FSC-H 多边形）→ Live（APC-Cy7 ≤ 3029）→ Live 门内各标志物阳性门（矩形，对 FSC-H）：CD103 BUV395 ≥ 436，Perforin BV421 ≥ 1317，CD49a BV711 ≥ 114，Granzyme B PE ≥ 1026，Ki67 PerCP-eF710 ≥ 2282。五个阳性门在全染样本上手工设定，无 FMO。</a:t>
            </a:r>
            <a:endParaRPr sz="1200" b="0">
              <a:latin typeface="Arial" panose="020B0704020202020204"/>
              <a:ea typeface="微软雅黑"/>
            </a:endParaRPr>
          </a:p>
          <a:p>
            <a:endParaRPr sz="1200"/>
          </a:p>
          <a:p>
            <a:r>
              <a:rPr sz="1200" b="0">
                <a:latin typeface="Arial" panose="020B0704020202020204"/>
                <a:ea typeface="微软雅黑"/>
              </a:rPr>
              <a:t>活率（Live / Single Cells）：8C 68.1 ± 4.3%；8T 73.6 ± 0.5%；8TA 80.2 ± 1.3%；8A 73.2 ± 1.7%。8TA 组活率最高，8C 最低，与前两批不同，本批活率差异本身不作为分析指标。</a:t>
            </a:r>
            <a:endParaRPr sz="1200" b="0">
              <a:latin typeface="Arial" panose="020B0704020202020204"/>
              <a:ea typeface="微软雅黑"/>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试验日期：2026-09-29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0"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直方图叠加（Live 门内，每组一管代表）</a:t>
            </a:r>
            <a:endPar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111"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112"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113"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pic>
        <p:nvPicPr>
          <p:cNvPr id="1114" name="Picture 1113" descr="直方图叠加.png"/>
          <p:cNvPicPr>
            <a:picLocks noChangeAspect="1"/>
          </p:cNvPicPr>
          <p:nvPr/>
        </p:nvPicPr>
        <p:blipFill>
          <a:blip r:embed="rId1"/>
          <a:stretch>
            <a:fillRect/>
          </a:stretch>
        </p:blipFill>
        <p:spPr>
          <a:xfrm>
            <a:off x="397167" y="914400"/>
            <a:ext cx="7435264" cy="5120640"/>
          </a:xfrm>
          <a:prstGeom prst="rect">
            <a:avLst/>
          </a:prstGeom>
        </p:spPr>
      </p:pic>
      <p:sp>
        <p:nvSpPr>
          <p:cNvPr id="1115" name="TextBox 1114"/>
          <p:cNvSpPr txBox="1"/>
          <p:nvPr/>
        </p:nvSpPr>
        <p:spPr>
          <a:xfrm>
            <a:off x="8138160" y="1097280"/>
            <a:ext cx="3749039" cy="4937760"/>
          </a:xfrm>
          <a:prstGeom prst="rect">
            <a:avLst/>
          </a:prstGeom>
          <a:noFill/>
        </p:spPr>
        <p:txBody>
          <a:bodyPr wrap="square">
            <a:spAutoFit/>
          </a:bodyPr>
          <a:lstStyle/>
          <a:p>
            <a:r>
              <a:rPr sz="1200" b="0">
                <a:latin typeface="Arial" panose="020B0704020202020204"/>
                <a:ea typeface="微软雅黑"/>
              </a:rPr>
              <a:t>代表管：8C_003（黑，对照）、8T（红，TGF-β）、8TA（紫，TGF-β+醋酸钠）、8A（蓝，醋酸钠），取各组 MFI 最接近组均值的一管。纵轴为峰值归一化百分比（Normalized to Mode），曲线经 FlowJo 平滑。横轴通道对应：BV421 = Perforin，PE = Granzyme B，BUV396 = CD103，BV711 = CD49a，PerCP-Cy5.5 = Ki67。</a:t>
            </a:r>
            <a:endParaRPr sz="1200" b="0">
              <a:latin typeface="Arial" panose="020B0704020202020204"/>
              <a:ea typeface="微软雅黑"/>
            </a:endParaRPr>
          </a:p>
          <a:p>
            <a:endParaRPr sz="1200"/>
          </a:p>
          <a:p>
            <a:r>
              <a:rPr sz="1200" b="0">
                <a:latin typeface="Arial" panose="020B0704020202020204"/>
                <a:ea typeface="微软雅黑"/>
              </a:rPr>
              <a:t>可见：Granzyme B 在 8T、8TA 整体左移（信号降约一半）；CD49a 在 8T、8TA 右移；Perforin、Ki67 轻度左移；CD103 四管重叠。Granzyme B、Ki67 在 0 附近另有一个小的阴性峰（约 5 到 10% 事件），8TA 最明显，可能为死细胞或未破膜细胞，活死门未完全排除。</a:t>
            </a:r>
            <a:endParaRPr sz="1200" b="0">
              <a:latin typeface="Arial" panose="020B0704020202020204"/>
              <a:ea typeface="微软雅黑"/>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试验日期：2026-09-29</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4"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Granzyme B：TGF-β 使其降至对照的一半，醋酸钠不逆转</a:t>
            </a:r>
            <a:endPar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115"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116"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117"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1118" name="TextBox 1117"/>
          <p:cNvSpPr txBox="1"/>
          <p:nvPr/>
        </p:nvSpPr>
        <p:spPr>
          <a:xfrm>
            <a:off x="320040" y="868680"/>
            <a:ext cx="2697480" cy="274320"/>
          </a:xfrm>
          <a:prstGeom prst="rect">
            <a:avLst/>
          </a:prstGeom>
          <a:noFill/>
        </p:spPr>
        <p:txBody>
          <a:bodyPr wrap="square">
            <a:spAutoFit/>
          </a:bodyPr>
          <a:lstStyle/>
          <a:p>
            <a:r>
              <a:rPr sz="1100" b="1">
                <a:latin typeface="Arial" panose="020B0704020202020204"/>
                <a:ea typeface="微软雅黑"/>
              </a:rPr>
              <a:t>8C（对照）  8C_003</a:t>
            </a:r>
            <a:endParaRPr sz="1100" b="1">
              <a:latin typeface="Arial" panose="020B0704020202020204"/>
              <a:ea typeface="微软雅黑"/>
            </a:endParaRPr>
          </a:p>
        </p:txBody>
      </p:sp>
      <p:pic>
        <p:nvPicPr>
          <p:cNvPr id="1119" name="Picture 1118" descr="GranzymeB_8C_003.png"/>
          <p:cNvPicPr>
            <a:picLocks noChangeAspect="1"/>
          </p:cNvPicPr>
          <p:nvPr/>
        </p:nvPicPr>
        <p:blipFill>
          <a:blip r:embed="rId1"/>
          <a:stretch>
            <a:fillRect/>
          </a:stretch>
        </p:blipFill>
        <p:spPr>
          <a:xfrm>
            <a:off x="360439" y="1143000"/>
            <a:ext cx="2616681" cy="2514600"/>
          </a:xfrm>
          <a:prstGeom prst="rect">
            <a:avLst/>
          </a:prstGeom>
        </p:spPr>
      </p:pic>
      <p:sp>
        <p:nvSpPr>
          <p:cNvPr id="1120" name="TextBox 1119"/>
          <p:cNvSpPr txBox="1"/>
          <p:nvPr/>
        </p:nvSpPr>
        <p:spPr>
          <a:xfrm>
            <a:off x="3200400" y="868680"/>
            <a:ext cx="2697480" cy="274320"/>
          </a:xfrm>
          <a:prstGeom prst="rect">
            <a:avLst/>
          </a:prstGeom>
          <a:noFill/>
        </p:spPr>
        <p:txBody>
          <a:bodyPr wrap="square">
            <a:spAutoFit/>
          </a:bodyPr>
          <a:lstStyle/>
          <a:p>
            <a:r>
              <a:rPr sz="1100" b="1">
                <a:latin typeface="Arial" panose="020B0704020202020204"/>
                <a:ea typeface="微软雅黑"/>
              </a:rPr>
              <a:t>8T（TGF-β）  8T</a:t>
            </a:r>
            <a:endParaRPr sz="1100" b="1">
              <a:latin typeface="Arial" panose="020B0704020202020204"/>
              <a:ea typeface="微软雅黑"/>
            </a:endParaRPr>
          </a:p>
        </p:txBody>
      </p:sp>
      <p:pic>
        <p:nvPicPr>
          <p:cNvPr id="1121" name="Picture 1120" descr="GranzymeB_8T.png"/>
          <p:cNvPicPr>
            <a:picLocks noChangeAspect="1"/>
          </p:cNvPicPr>
          <p:nvPr/>
        </p:nvPicPr>
        <p:blipFill>
          <a:blip r:embed="rId2"/>
          <a:stretch>
            <a:fillRect/>
          </a:stretch>
        </p:blipFill>
        <p:spPr>
          <a:xfrm>
            <a:off x="3240799" y="1143000"/>
            <a:ext cx="2616681" cy="2514600"/>
          </a:xfrm>
          <a:prstGeom prst="rect">
            <a:avLst/>
          </a:prstGeom>
        </p:spPr>
      </p:pic>
      <p:sp>
        <p:nvSpPr>
          <p:cNvPr id="1122" name="TextBox 1121"/>
          <p:cNvSpPr txBox="1"/>
          <p:nvPr/>
        </p:nvSpPr>
        <p:spPr>
          <a:xfrm>
            <a:off x="6080759" y="868680"/>
            <a:ext cx="2697480" cy="274320"/>
          </a:xfrm>
          <a:prstGeom prst="rect">
            <a:avLst/>
          </a:prstGeom>
          <a:noFill/>
        </p:spPr>
        <p:txBody>
          <a:bodyPr wrap="square">
            <a:spAutoFit/>
          </a:bodyPr>
          <a:lstStyle/>
          <a:p>
            <a:r>
              <a:rPr sz="1100" b="1">
                <a:latin typeface="Arial" panose="020B0704020202020204"/>
                <a:ea typeface="微软雅黑"/>
              </a:rPr>
              <a:t>8TA（TGF-β+醋酸钠）  8TA</a:t>
            </a:r>
            <a:endParaRPr sz="1100" b="1">
              <a:latin typeface="Arial" panose="020B0704020202020204"/>
              <a:ea typeface="微软雅黑"/>
            </a:endParaRPr>
          </a:p>
        </p:txBody>
      </p:sp>
      <p:pic>
        <p:nvPicPr>
          <p:cNvPr id="1123" name="Picture 1122" descr="GranzymeB_8TA.png"/>
          <p:cNvPicPr>
            <a:picLocks noChangeAspect="1"/>
          </p:cNvPicPr>
          <p:nvPr/>
        </p:nvPicPr>
        <p:blipFill>
          <a:blip r:embed="rId3"/>
          <a:stretch>
            <a:fillRect/>
          </a:stretch>
        </p:blipFill>
        <p:spPr>
          <a:xfrm>
            <a:off x="6121159" y="1143000"/>
            <a:ext cx="2616681" cy="2514600"/>
          </a:xfrm>
          <a:prstGeom prst="rect">
            <a:avLst/>
          </a:prstGeom>
        </p:spPr>
      </p:pic>
      <p:sp>
        <p:nvSpPr>
          <p:cNvPr id="1124" name="TextBox 1123"/>
          <p:cNvSpPr txBox="1"/>
          <p:nvPr/>
        </p:nvSpPr>
        <p:spPr>
          <a:xfrm>
            <a:off x="8961119" y="868680"/>
            <a:ext cx="2697480" cy="274320"/>
          </a:xfrm>
          <a:prstGeom prst="rect">
            <a:avLst/>
          </a:prstGeom>
          <a:noFill/>
        </p:spPr>
        <p:txBody>
          <a:bodyPr wrap="square">
            <a:spAutoFit/>
          </a:bodyPr>
          <a:lstStyle/>
          <a:p>
            <a:r>
              <a:rPr sz="1100" b="1">
                <a:latin typeface="Arial" panose="020B0704020202020204"/>
                <a:ea typeface="微软雅黑"/>
              </a:rPr>
              <a:t>8A（醋酸钠）  8A</a:t>
            </a:r>
            <a:endParaRPr sz="1100" b="1">
              <a:latin typeface="Arial" panose="020B0704020202020204"/>
              <a:ea typeface="微软雅黑"/>
            </a:endParaRPr>
          </a:p>
        </p:txBody>
      </p:sp>
      <p:pic>
        <p:nvPicPr>
          <p:cNvPr id="1125" name="Picture 1124" descr="GranzymeB_8A.png"/>
          <p:cNvPicPr>
            <a:picLocks noChangeAspect="1"/>
          </p:cNvPicPr>
          <p:nvPr/>
        </p:nvPicPr>
        <p:blipFill>
          <a:blip r:embed="rId4"/>
          <a:stretch>
            <a:fillRect/>
          </a:stretch>
        </p:blipFill>
        <p:spPr>
          <a:xfrm>
            <a:off x="9001519" y="1143000"/>
            <a:ext cx="2616681" cy="2514600"/>
          </a:xfrm>
          <a:prstGeom prst="rect">
            <a:avLst/>
          </a:prstGeom>
        </p:spPr>
      </p:pic>
      <p:pic>
        <p:nvPicPr>
          <p:cNvPr id="1126" name="Picture 1125" descr="bars_GranzymeB.png"/>
          <p:cNvPicPr>
            <a:picLocks noChangeAspect="1"/>
          </p:cNvPicPr>
          <p:nvPr/>
        </p:nvPicPr>
        <p:blipFill>
          <a:blip r:embed="rId5"/>
          <a:stretch>
            <a:fillRect/>
          </a:stretch>
        </p:blipFill>
        <p:spPr>
          <a:xfrm>
            <a:off x="228600" y="3794760"/>
            <a:ext cx="6309360" cy="2704011"/>
          </a:xfrm>
          <a:prstGeom prst="rect">
            <a:avLst/>
          </a:prstGeom>
        </p:spPr>
      </p:pic>
      <p:sp>
        <p:nvSpPr>
          <p:cNvPr id="1127" name="TextBox 1126"/>
          <p:cNvSpPr txBox="1"/>
          <p:nvPr/>
        </p:nvSpPr>
        <p:spPr>
          <a:xfrm>
            <a:off x="6675120" y="3794760"/>
            <a:ext cx="5257800" cy="2697480"/>
          </a:xfrm>
          <a:prstGeom prst="rect">
            <a:avLst/>
          </a:prstGeom>
          <a:noFill/>
        </p:spPr>
        <p:txBody>
          <a:bodyPr wrap="square">
            <a:spAutoFit/>
          </a:bodyPr>
          <a:lstStyle/>
          <a:p>
            <a:r>
              <a:rPr sz="1150" b="0">
                <a:latin typeface="Arial" panose="020B0704020202020204"/>
                <a:ea typeface="微软雅黑"/>
              </a:rPr>
              <a:t>NK-92，8C 对照 / 8T TGF-β / 8TA TGF-β+醋酸钠 / 8A 醋酸钠，每组 4 管（技术重复）</a:t>
            </a:r>
            <a:endParaRPr sz="1150" b="0">
              <a:latin typeface="Arial" panose="020B0704020202020204"/>
              <a:ea typeface="微软雅黑"/>
            </a:endParaRPr>
          </a:p>
          <a:p>
            <a:r>
              <a:rPr sz="1150" b="0">
                <a:latin typeface="Arial" panose="020B0704020202020204"/>
                <a:ea typeface="微软雅黑"/>
              </a:rPr>
              <a:t>活死 eFluor 780（APC-Cy7），Granzyme B-PE；Live 门内，门为手工设定，无 FMO；统计：C / T / TA 三组 one-way ANOVA + Tukey，括号为相对前一组的变化</a:t>
            </a:r>
            <a:endParaRPr sz="1150" b="0">
              <a:latin typeface="Arial" panose="020B0704020202020204"/>
              <a:ea typeface="微软雅黑"/>
            </a:endParaRPr>
          </a:p>
          <a:p>
            <a:endParaRPr sz="1150"/>
          </a:p>
          <a:p>
            <a:r>
              <a:rPr sz="1150" b="0">
                <a:latin typeface="Arial" panose="020B0704020202020204"/>
                <a:ea typeface="微软雅黑"/>
              </a:rPr>
              <a:t>Granzyme B⁺ 阳性率（8C / 8T / 8TA / 8A）：92 / 88 / 84 / 89 %</a:t>
            </a:r>
            <a:endParaRPr sz="1150" b="0">
              <a:latin typeface="Arial" panose="020B0704020202020204"/>
              <a:ea typeface="微软雅黑"/>
            </a:endParaRPr>
          </a:p>
          <a:p>
            <a:r>
              <a:rPr sz="1150" b="0">
                <a:latin typeface="Arial" panose="020B0704020202020204"/>
                <a:ea typeface="微软雅黑"/>
              </a:rPr>
              <a:t>MFI（中位数）：5847 / 3051 / 2630 / 5803；相对 8C：0.52 / 0.45 / 0.99（8T / 8TA / 8A）</a:t>
            </a:r>
            <a:endParaRPr sz="1150" b="0">
              <a:latin typeface="Arial" panose="020B0704020202020204"/>
              <a:ea typeface="微软雅黑"/>
            </a:endParaRPr>
          </a:p>
          <a:p>
            <a:endParaRPr sz="1150"/>
          </a:p>
          <a:p>
            <a:r>
              <a:rPr sz="1150" b="0">
                <a:latin typeface="Arial" panose="020B0704020202020204"/>
                <a:ea typeface="微软雅黑"/>
              </a:rPr>
              <a:t>TGF-β 组整体左移、MFI 降约 50%，与 09-05 / 09-11 两批一致；醋酸钠单独与对照相同，合用也未回升（09-11 批的部分回升本批未重复）。阳性率只降 4 到 8 个百分点，因 NK-92 本底接近全阳性，以 MFI 为准。</a:t>
            </a:r>
            <a:endParaRPr sz="1150" b="0">
              <a:latin typeface="Arial" panose="020B0704020202020204"/>
              <a:ea typeface="微软雅黑"/>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试验日期：2026-09-29</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8"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Perforin：TGF-β 组 MFI 降约 15%，对照离散大，不下结论</a:t>
            </a:r>
            <a:endPar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119"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120"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121"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1122" name="TextBox 1121"/>
          <p:cNvSpPr txBox="1"/>
          <p:nvPr/>
        </p:nvSpPr>
        <p:spPr>
          <a:xfrm>
            <a:off x="320040" y="868680"/>
            <a:ext cx="2697480" cy="274320"/>
          </a:xfrm>
          <a:prstGeom prst="rect">
            <a:avLst/>
          </a:prstGeom>
          <a:noFill/>
        </p:spPr>
        <p:txBody>
          <a:bodyPr wrap="square">
            <a:spAutoFit/>
          </a:bodyPr>
          <a:lstStyle/>
          <a:p>
            <a:r>
              <a:rPr sz="1100" b="1">
                <a:latin typeface="Arial" panose="020B0704020202020204"/>
                <a:ea typeface="微软雅黑"/>
              </a:rPr>
              <a:t>8C（对照）  8C_003</a:t>
            </a:r>
            <a:endParaRPr sz="1100" b="1">
              <a:latin typeface="Arial" panose="020B0704020202020204"/>
              <a:ea typeface="微软雅黑"/>
            </a:endParaRPr>
          </a:p>
        </p:txBody>
      </p:sp>
      <p:pic>
        <p:nvPicPr>
          <p:cNvPr id="1123" name="Picture 1122" descr="Perforin_8C_003.png"/>
          <p:cNvPicPr>
            <a:picLocks noChangeAspect="1"/>
          </p:cNvPicPr>
          <p:nvPr/>
        </p:nvPicPr>
        <p:blipFill>
          <a:blip r:embed="rId1"/>
          <a:stretch>
            <a:fillRect/>
          </a:stretch>
        </p:blipFill>
        <p:spPr>
          <a:xfrm>
            <a:off x="363970" y="1143000"/>
            <a:ext cx="2609618" cy="2514600"/>
          </a:xfrm>
          <a:prstGeom prst="rect">
            <a:avLst/>
          </a:prstGeom>
        </p:spPr>
      </p:pic>
      <p:sp>
        <p:nvSpPr>
          <p:cNvPr id="1124" name="TextBox 1123"/>
          <p:cNvSpPr txBox="1"/>
          <p:nvPr/>
        </p:nvSpPr>
        <p:spPr>
          <a:xfrm>
            <a:off x="3200400" y="868680"/>
            <a:ext cx="2697480" cy="274320"/>
          </a:xfrm>
          <a:prstGeom prst="rect">
            <a:avLst/>
          </a:prstGeom>
          <a:noFill/>
        </p:spPr>
        <p:txBody>
          <a:bodyPr wrap="square">
            <a:spAutoFit/>
          </a:bodyPr>
          <a:lstStyle/>
          <a:p>
            <a:r>
              <a:rPr sz="1100" b="1">
                <a:latin typeface="Arial" panose="020B0704020202020204"/>
                <a:ea typeface="微软雅黑"/>
              </a:rPr>
              <a:t>8T（TGF-β）  8T</a:t>
            </a:r>
            <a:endParaRPr sz="1100" b="1">
              <a:latin typeface="Arial" panose="020B0704020202020204"/>
              <a:ea typeface="微软雅黑"/>
            </a:endParaRPr>
          </a:p>
        </p:txBody>
      </p:sp>
      <p:pic>
        <p:nvPicPr>
          <p:cNvPr id="1125" name="Picture 1124" descr="Perforin_8T.png"/>
          <p:cNvPicPr>
            <a:picLocks noChangeAspect="1"/>
          </p:cNvPicPr>
          <p:nvPr/>
        </p:nvPicPr>
        <p:blipFill>
          <a:blip r:embed="rId2"/>
          <a:stretch>
            <a:fillRect/>
          </a:stretch>
        </p:blipFill>
        <p:spPr>
          <a:xfrm>
            <a:off x="3244330" y="1143000"/>
            <a:ext cx="2609618" cy="2514600"/>
          </a:xfrm>
          <a:prstGeom prst="rect">
            <a:avLst/>
          </a:prstGeom>
        </p:spPr>
      </p:pic>
      <p:sp>
        <p:nvSpPr>
          <p:cNvPr id="1126" name="TextBox 1125"/>
          <p:cNvSpPr txBox="1"/>
          <p:nvPr/>
        </p:nvSpPr>
        <p:spPr>
          <a:xfrm>
            <a:off x="6080759" y="868680"/>
            <a:ext cx="2697480" cy="274320"/>
          </a:xfrm>
          <a:prstGeom prst="rect">
            <a:avLst/>
          </a:prstGeom>
          <a:noFill/>
        </p:spPr>
        <p:txBody>
          <a:bodyPr wrap="square">
            <a:spAutoFit/>
          </a:bodyPr>
          <a:lstStyle/>
          <a:p>
            <a:r>
              <a:rPr sz="1100" b="1">
                <a:latin typeface="Arial" panose="020B0704020202020204"/>
                <a:ea typeface="微软雅黑"/>
              </a:rPr>
              <a:t>8TA（TGF-β+醋酸钠）  8TA</a:t>
            </a:r>
            <a:endParaRPr sz="1100" b="1">
              <a:latin typeface="Arial" panose="020B0704020202020204"/>
              <a:ea typeface="微软雅黑"/>
            </a:endParaRPr>
          </a:p>
        </p:txBody>
      </p:sp>
      <p:pic>
        <p:nvPicPr>
          <p:cNvPr id="1127" name="Picture 1126" descr="Perforin_8TA.png"/>
          <p:cNvPicPr>
            <a:picLocks noChangeAspect="1"/>
          </p:cNvPicPr>
          <p:nvPr/>
        </p:nvPicPr>
        <p:blipFill>
          <a:blip r:embed="rId3"/>
          <a:stretch>
            <a:fillRect/>
          </a:stretch>
        </p:blipFill>
        <p:spPr>
          <a:xfrm>
            <a:off x="6124690" y="1143000"/>
            <a:ext cx="2609618" cy="2514600"/>
          </a:xfrm>
          <a:prstGeom prst="rect">
            <a:avLst/>
          </a:prstGeom>
        </p:spPr>
      </p:pic>
      <p:sp>
        <p:nvSpPr>
          <p:cNvPr id="1128" name="TextBox 1127"/>
          <p:cNvSpPr txBox="1"/>
          <p:nvPr/>
        </p:nvSpPr>
        <p:spPr>
          <a:xfrm>
            <a:off x="8961119" y="868680"/>
            <a:ext cx="2697480" cy="274320"/>
          </a:xfrm>
          <a:prstGeom prst="rect">
            <a:avLst/>
          </a:prstGeom>
          <a:noFill/>
        </p:spPr>
        <p:txBody>
          <a:bodyPr wrap="square">
            <a:spAutoFit/>
          </a:bodyPr>
          <a:lstStyle/>
          <a:p>
            <a:r>
              <a:rPr sz="1100" b="1">
                <a:latin typeface="Arial" panose="020B0704020202020204"/>
                <a:ea typeface="微软雅黑"/>
              </a:rPr>
              <a:t>8A（醋酸钠）  8A</a:t>
            </a:r>
            <a:endParaRPr sz="1100" b="1">
              <a:latin typeface="Arial" panose="020B0704020202020204"/>
              <a:ea typeface="微软雅黑"/>
            </a:endParaRPr>
          </a:p>
        </p:txBody>
      </p:sp>
      <p:pic>
        <p:nvPicPr>
          <p:cNvPr id="1129" name="Picture 1128" descr="Perforin_8A.png"/>
          <p:cNvPicPr>
            <a:picLocks noChangeAspect="1"/>
          </p:cNvPicPr>
          <p:nvPr/>
        </p:nvPicPr>
        <p:blipFill>
          <a:blip r:embed="rId4"/>
          <a:stretch>
            <a:fillRect/>
          </a:stretch>
        </p:blipFill>
        <p:spPr>
          <a:xfrm>
            <a:off x="9005050" y="1143000"/>
            <a:ext cx="2609618" cy="2514600"/>
          </a:xfrm>
          <a:prstGeom prst="rect">
            <a:avLst/>
          </a:prstGeom>
        </p:spPr>
      </p:pic>
      <p:pic>
        <p:nvPicPr>
          <p:cNvPr id="1130" name="Picture 1129" descr="bars_Perforin.png"/>
          <p:cNvPicPr>
            <a:picLocks noChangeAspect="1"/>
          </p:cNvPicPr>
          <p:nvPr/>
        </p:nvPicPr>
        <p:blipFill>
          <a:blip r:embed="rId5"/>
          <a:stretch>
            <a:fillRect/>
          </a:stretch>
        </p:blipFill>
        <p:spPr>
          <a:xfrm>
            <a:off x="228600" y="3794760"/>
            <a:ext cx="6309360" cy="2704011"/>
          </a:xfrm>
          <a:prstGeom prst="rect">
            <a:avLst/>
          </a:prstGeom>
        </p:spPr>
      </p:pic>
      <p:sp>
        <p:nvSpPr>
          <p:cNvPr id="1131" name="TextBox 1130"/>
          <p:cNvSpPr txBox="1"/>
          <p:nvPr/>
        </p:nvSpPr>
        <p:spPr>
          <a:xfrm>
            <a:off x="6675120" y="3794760"/>
            <a:ext cx="5257800" cy="2697480"/>
          </a:xfrm>
          <a:prstGeom prst="rect">
            <a:avLst/>
          </a:prstGeom>
          <a:noFill/>
        </p:spPr>
        <p:txBody>
          <a:bodyPr wrap="square">
            <a:spAutoFit/>
          </a:bodyPr>
          <a:lstStyle/>
          <a:p>
            <a:r>
              <a:rPr sz="1150" b="0">
                <a:latin typeface="Arial" panose="020B0704020202020204"/>
                <a:ea typeface="微软雅黑"/>
              </a:rPr>
              <a:t>NK-92，8C 对照 / 8T TGF-β / 8TA TGF-β+醋酸钠 / 8A 醋酸钠，每组 4 管（技术重复）</a:t>
            </a:r>
            <a:endParaRPr sz="1150" b="0">
              <a:latin typeface="Arial" panose="020B0704020202020204"/>
              <a:ea typeface="微软雅黑"/>
            </a:endParaRPr>
          </a:p>
          <a:p>
            <a:r>
              <a:rPr sz="1150" b="0">
                <a:latin typeface="Arial" panose="020B0704020202020204"/>
                <a:ea typeface="微软雅黑"/>
              </a:rPr>
              <a:t>活死 eFluor 780（APC-Cy7），Perforin-BV421；Live 门内，门为手工设定，无 FMO；统计：C / T / TA 三组 one-way ANOVA + Tukey，括号为相对前一组的变化</a:t>
            </a:r>
            <a:endParaRPr sz="1150" b="0">
              <a:latin typeface="Arial" panose="020B0704020202020204"/>
              <a:ea typeface="微软雅黑"/>
            </a:endParaRPr>
          </a:p>
          <a:p>
            <a:endParaRPr sz="1150"/>
          </a:p>
          <a:p>
            <a:r>
              <a:rPr sz="1150" b="0">
                <a:latin typeface="Arial" panose="020B0704020202020204"/>
                <a:ea typeface="微软雅黑"/>
              </a:rPr>
              <a:t>Perforin⁺ 阳性率（8C / 8T / 8TA / 8A）：93 / 91 / 88 / 90 %</a:t>
            </a:r>
            <a:endParaRPr sz="1150" b="0">
              <a:latin typeface="Arial" panose="020B0704020202020204"/>
              <a:ea typeface="微软雅黑"/>
            </a:endParaRPr>
          </a:p>
          <a:p>
            <a:r>
              <a:rPr sz="1150" b="0">
                <a:latin typeface="Arial" panose="020B0704020202020204"/>
                <a:ea typeface="微软雅黑"/>
              </a:rPr>
              <a:t>MFI（中位数）：4305 / 3735 / 3698 / 4547；相对 8C：0.87 / 0.86 / 1.06（8T / 8TA / 8A）</a:t>
            </a:r>
            <a:endParaRPr sz="1150" b="0">
              <a:latin typeface="Arial" panose="020B0704020202020204"/>
              <a:ea typeface="微软雅黑"/>
            </a:endParaRPr>
          </a:p>
          <a:p>
            <a:endParaRPr sz="1150"/>
          </a:p>
          <a:p>
            <a:r>
              <a:rPr sz="1150" b="0">
                <a:latin typeface="Arial" panose="020B0704020202020204"/>
                <a:ea typeface="微软雅黑"/>
              </a:rPr>
              <a:t>TGF-β 组（8T、8TA）MFI 比对照低 13 到 14%，但 8C 与 8A 各有一管明显偏高（SD 占均值 15 到 17%），差异在离散范围内。本批醋酸钠未见 09-11 批的 Perforin 上调。阳性率 88 到 93%，无差异。</a:t>
            </a:r>
            <a:endParaRPr sz="1150" b="0">
              <a:latin typeface="Arial" panose="020B0704020202020204"/>
              <a:ea typeface="微软雅黑"/>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试验日期：2026-09-29</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2"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CD49a：TGF-β 使 CD49a 上调约 1.9 倍，醋酸钠不改变</a:t>
            </a:r>
            <a:endPar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123"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124"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125"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1126" name="TextBox 1125"/>
          <p:cNvSpPr txBox="1"/>
          <p:nvPr/>
        </p:nvSpPr>
        <p:spPr>
          <a:xfrm>
            <a:off x="320040" y="868680"/>
            <a:ext cx="2697480" cy="274320"/>
          </a:xfrm>
          <a:prstGeom prst="rect">
            <a:avLst/>
          </a:prstGeom>
          <a:noFill/>
        </p:spPr>
        <p:txBody>
          <a:bodyPr wrap="square">
            <a:spAutoFit/>
          </a:bodyPr>
          <a:lstStyle/>
          <a:p>
            <a:r>
              <a:rPr sz="1100" b="1">
                <a:latin typeface="Arial" panose="020B0704020202020204"/>
                <a:ea typeface="微软雅黑"/>
              </a:rPr>
              <a:t>8C（对照）  8C_003</a:t>
            </a:r>
            <a:endParaRPr sz="1100" b="1">
              <a:latin typeface="Arial" panose="020B0704020202020204"/>
              <a:ea typeface="微软雅黑"/>
            </a:endParaRPr>
          </a:p>
        </p:txBody>
      </p:sp>
      <p:pic>
        <p:nvPicPr>
          <p:cNvPr id="1127" name="Picture 1126" descr="CD49a_8C_003.png"/>
          <p:cNvPicPr>
            <a:picLocks noChangeAspect="1"/>
          </p:cNvPicPr>
          <p:nvPr/>
        </p:nvPicPr>
        <p:blipFill>
          <a:blip r:embed="rId1"/>
          <a:stretch>
            <a:fillRect/>
          </a:stretch>
        </p:blipFill>
        <p:spPr>
          <a:xfrm>
            <a:off x="362207" y="1143000"/>
            <a:ext cx="2613145" cy="2514600"/>
          </a:xfrm>
          <a:prstGeom prst="rect">
            <a:avLst/>
          </a:prstGeom>
        </p:spPr>
      </p:pic>
      <p:sp>
        <p:nvSpPr>
          <p:cNvPr id="1128" name="TextBox 1127"/>
          <p:cNvSpPr txBox="1"/>
          <p:nvPr/>
        </p:nvSpPr>
        <p:spPr>
          <a:xfrm>
            <a:off x="3200400" y="868680"/>
            <a:ext cx="2697480" cy="274320"/>
          </a:xfrm>
          <a:prstGeom prst="rect">
            <a:avLst/>
          </a:prstGeom>
          <a:noFill/>
        </p:spPr>
        <p:txBody>
          <a:bodyPr wrap="square">
            <a:spAutoFit/>
          </a:bodyPr>
          <a:lstStyle/>
          <a:p>
            <a:r>
              <a:rPr sz="1100" b="1">
                <a:latin typeface="Arial" panose="020B0704020202020204"/>
                <a:ea typeface="微软雅黑"/>
              </a:rPr>
              <a:t>8T（TGF-β）  8T</a:t>
            </a:r>
            <a:endParaRPr sz="1100" b="1">
              <a:latin typeface="Arial" panose="020B0704020202020204"/>
              <a:ea typeface="微软雅黑"/>
            </a:endParaRPr>
          </a:p>
        </p:txBody>
      </p:sp>
      <p:pic>
        <p:nvPicPr>
          <p:cNvPr id="1129" name="Picture 1128" descr="CD49a_8T.png"/>
          <p:cNvPicPr>
            <a:picLocks noChangeAspect="1"/>
          </p:cNvPicPr>
          <p:nvPr/>
        </p:nvPicPr>
        <p:blipFill>
          <a:blip r:embed="rId2"/>
          <a:stretch>
            <a:fillRect/>
          </a:stretch>
        </p:blipFill>
        <p:spPr>
          <a:xfrm>
            <a:off x="3242567" y="1143000"/>
            <a:ext cx="2613145" cy="2514600"/>
          </a:xfrm>
          <a:prstGeom prst="rect">
            <a:avLst/>
          </a:prstGeom>
        </p:spPr>
      </p:pic>
      <p:sp>
        <p:nvSpPr>
          <p:cNvPr id="1130" name="TextBox 1129"/>
          <p:cNvSpPr txBox="1"/>
          <p:nvPr/>
        </p:nvSpPr>
        <p:spPr>
          <a:xfrm>
            <a:off x="6080759" y="868680"/>
            <a:ext cx="2697480" cy="274320"/>
          </a:xfrm>
          <a:prstGeom prst="rect">
            <a:avLst/>
          </a:prstGeom>
          <a:noFill/>
        </p:spPr>
        <p:txBody>
          <a:bodyPr wrap="square">
            <a:spAutoFit/>
          </a:bodyPr>
          <a:lstStyle/>
          <a:p>
            <a:r>
              <a:rPr sz="1100" b="1">
                <a:latin typeface="Arial" panose="020B0704020202020204"/>
                <a:ea typeface="微软雅黑"/>
              </a:rPr>
              <a:t>8TA（TGF-β+醋酸钠）  8TA</a:t>
            </a:r>
            <a:endParaRPr sz="1100" b="1">
              <a:latin typeface="Arial" panose="020B0704020202020204"/>
              <a:ea typeface="微软雅黑"/>
            </a:endParaRPr>
          </a:p>
        </p:txBody>
      </p:sp>
      <p:pic>
        <p:nvPicPr>
          <p:cNvPr id="1131" name="Picture 1130" descr="CD49a_8TA.png"/>
          <p:cNvPicPr>
            <a:picLocks noChangeAspect="1"/>
          </p:cNvPicPr>
          <p:nvPr/>
        </p:nvPicPr>
        <p:blipFill>
          <a:blip r:embed="rId3"/>
          <a:stretch>
            <a:fillRect/>
          </a:stretch>
        </p:blipFill>
        <p:spPr>
          <a:xfrm>
            <a:off x="6122927" y="1143000"/>
            <a:ext cx="2613145" cy="2514600"/>
          </a:xfrm>
          <a:prstGeom prst="rect">
            <a:avLst/>
          </a:prstGeom>
        </p:spPr>
      </p:pic>
      <p:sp>
        <p:nvSpPr>
          <p:cNvPr id="1132" name="TextBox 1131"/>
          <p:cNvSpPr txBox="1"/>
          <p:nvPr/>
        </p:nvSpPr>
        <p:spPr>
          <a:xfrm>
            <a:off x="8961119" y="868680"/>
            <a:ext cx="2697480" cy="274320"/>
          </a:xfrm>
          <a:prstGeom prst="rect">
            <a:avLst/>
          </a:prstGeom>
          <a:noFill/>
        </p:spPr>
        <p:txBody>
          <a:bodyPr wrap="square">
            <a:spAutoFit/>
          </a:bodyPr>
          <a:lstStyle/>
          <a:p>
            <a:r>
              <a:rPr sz="1100" b="1">
                <a:latin typeface="Arial" panose="020B0704020202020204"/>
                <a:ea typeface="微软雅黑"/>
              </a:rPr>
              <a:t>8A（醋酸钠）  8A</a:t>
            </a:r>
            <a:endParaRPr sz="1100" b="1">
              <a:latin typeface="Arial" panose="020B0704020202020204"/>
              <a:ea typeface="微软雅黑"/>
            </a:endParaRPr>
          </a:p>
        </p:txBody>
      </p:sp>
      <p:pic>
        <p:nvPicPr>
          <p:cNvPr id="1133" name="Picture 1132" descr="CD49a_8A.png"/>
          <p:cNvPicPr>
            <a:picLocks noChangeAspect="1"/>
          </p:cNvPicPr>
          <p:nvPr/>
        </p:nvPicPr>
        <p:blipFill>
          <a:blip r:embed="rId4"/>
          <a:stretch>
            <a:fillRect/>
          </a:stretch>
        </p:blipFill>
        <p:spPr>
          <a:xfrm>
            <a:off x="9003287" y="1143000"/>
            <a:ext cx="2613145" cy="2514600"/>
          </a:xfrm>
          <a:prstGeom prst="rect">
            <a:avLst/>
          </a:prstGeom>
        </p:spPr>
      </p:pic>
      <p:pic>
        <p:nvPicPr>
          <p:cNvPr id="1134" name="Picture 1133" descr="bars_CD49a.png"/>
          <p:cNvPicPr>
            <a:picLocks noChangeAspect="1"/>
          </p:cNvPicPr>
          <p:nvPr/>
        </p:nvPicPr>
        <p:blipFill>
          <a:blip r:embed="rId5"/>
          <a:stretch>
            <a:fillRect/>
          </a:stretch>
        </p:blipFill>
        <p:spPr>
          <a:xfrm>
            <a:off x="228600" y="3794760"/>
            <a:ext cx="6309360" cy="2704011"/>
          </a:xfrm>
          <a:prstGeom prst="rect">
            <a:avLst/>
          </a:prstGeom>
        </p:spPr>
      </p:pic>
      <p:sp>
        <p:nvSpPr>
          <p:cNvPr id="1135" name="TextBox 1134"/>
          <p:cNvSpPr txBox="1"/>
          <p:nvPr/>
        </p:nvSpPr>
        <p:spPr>
          <a:xfrm>
            <a:off x="6675120" y="3794760"/>
            <a:ext cx="5257800" cy="2697480"/>
          </a:xfrm>
          <a:prstGeom prst="rect">
            <a:avLst/>
          </a:prstGeom>
          <a:noFill/>
        </p:spPr>
        <p:txBody>
          <a:bodyPr wrap="square">
            <a:spAutoFit/>
          </a:bodyPr>
          <a:lstStyle/>
          <a:p>
            <a:r>
              <a:rPr sz="1150" b="0">
                <a:latin typeface="Arial" panose="020B0704020202020204"/>
                <a:ea typeface="微软雅黑"/>
              </a:rPr>
              <a:t>NK-92，8C 对照 / 8T TGF-β / 8TA TGF-β+醋酸钠 / 8A 醋酸钠，每组 4 管（技术重复）</a:t>
            </a:r>
            <a:endParaRPr sz="1150" b="0">
              <a:latin typeface="Arial" panose="020B0704020202020204"/>
              <a:ea typeface="微软雅黑"/>
            </a:endParaRPr>
          </a:p>
          <a:p>
            <a:r>
              <a:rPr sz="1150" b="0">
                <a:latin typeface="Arial" panose="020B0704020202020204"/>
                <a:ea typeface="微软雅黑"/>
              </a:rPr>
              <a:t>活死 eFluor 780（APC-Cy7），CD49a-BV711；Live 门内，门为手工设定，无 FMO；统计：C / T / TA 三组 one-way ANOVA + Tukey，括号为相对前一组的变化</a:t>
            </a:r>
            <a:endParaRPr sz="1150" b="0">
              <a:latin typeface="Arial" panose="020B0704020202020204"/>
              <a:ea typeface="微软雅黑"/>
            </a:endParaRPr>
          </a:p>
          <a:p>
            <a:endParaRPr sz="1150"/>
          </a:p>
          <a:p>
            <a:r>
              <a:rPr sz="1150" b="0">
                <a:latin typeface="Arial" panose="020B0704020202020204"/>
                <a:ea typeface="微软雅黑"/>
              </a:rPr>
              <a:t>CD49a⁺ 阳性率（8C / 8T / 8TA / 8A）：47 / 67 / 68 / 51 %</a:t>
            </a:r>
            <a:endParaRPr sz="1150" b="0">
              <a:latin typeface="Arial" panose="020B0704020202020204"/>
              <a:ea typeface="微软雅黑"/>
            </a:endParaRPr>
          </a:p>
          <a:p>
            <a:r>
              <a:rPr sz="1150" b="0">
                <a:latin typeface="Arial" panose="020B0704020202020204"/>
                <a:ea typeface="微软雅黑"/>
              </a:rPr>
              <a:t>MFI（中位数）：100 / 185 / 193 / 116；相对 8C：1.85 / 1.93 / 1.16（8T / 8TA / 8A）</a:t>
            </a:r>
            <a:endParaRPr sz="1150" b="0">
              <a:latin typeface="Arial" panose="020B0704020202020204"/>
              <a:ea typeface="微软雅黑"/>
            </a:endParaRPr>
          </a:p>
          <a:p>
            <a:endParaRPr sz="1150"/>
          </a:p>
          <a:p>
            <a:r>
              <a:rPr sz="1150" b="0">
                <a:latin typeface="Arial" panose="020B0704020202020204"/>
                <a:ea typeface="微软雅黑"/>
              </a:rPr>
              <a:t>8T 与 8TA 的阳性率和 MFI 一致升高，8A 与对照相同，说明效应来自 TGF-β；提示 TGF-β 在抑制效应分子的同时诱导驻留表型。绝对信号弱（MFI 100 到 200，仅高于阴性峰约 1 个对数），新抗体、无 FMO，门的位置需对照确认后再定量。</a:t>
            </a:r>
            <a:endParaRPr sz="1150" b="0">
              <a:latin typeface="Arial" panose="020B0704020202020204"/>
              <a:ea typeface="微软雅黑"/>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试验日期：2026-09-29</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CD103：四组一致，TGF-β 与醋酸钠均不改变</a:t>
            </a:r>
            <a:endPar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127"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128"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129"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1130" name="TextBox 1129"/>
          <p:cNvSpPr txBox="1"/>
          <p:nvPr/>
        </p:nvSpPr>
        <p:spPr>
          <a:xfrm>
            <a:off x="320040" y="868680"/>
            <a:ext cx="2697480" cy="274320"/>
          </a:xfrm>
          <a:prstGeom prst="rect">
            <a:avLst/>
          </a:prstGeom>
          <a:noFill/>
        </p:spPr>
        <p:txBody>
          <a:bodyPr wrap="square">
            <a:spAutoFit/>
          </a:bodyPr>
          <a:lstStyle/>
          <a:p>
            <a:r>
              <a:rPr sz="1100" b="1">
                <a:latin typeface="Arial" panose="020B0704020202020204"/>
                <a:ea typeface="微软雅黑"/>
              </a:rPr>
              <a:t>8C（对照）  8C_003</a:t>
            </a:r>
            <a:endParaRPr sz="1100" b="1">
              <a:latin typeface="Arial" panose="020B0704020202020204"/>
              <a:ea typeface="微软雅黑"/>
            </a:endParaRPr>
          </a:p>
        </p:txBody>
      </p:sp>
      <p:pic>
        <p:nvPicPr>
          <p:cNvPr id="1131" name="Picture 1130" descr="CD103_8C_003.png"/>
          <p:cNvPicPr>
            <a:picLocks noChangeAspect="1"/>
          </p:cNvPicPr>
          <p:nvPr/>
        </p:nvPicPr>
        <p:blipFill>
          <a:blip r:embed="rId1"/>
          <a:stretch>
            <a:fillRect/>
          </a:stretch>
        </p:blipFill>
        <p:spPr>
          <a:xfrm>
            <a:off x="363970" y="1143000"/>
            <a:ext cx="2609618" cy="2514600"/>
          </a:xfrm>
          <a:prstGeom prst="rect">
            <a:avLst/>
          </a:prstGeom>
        </p:spPr>
      </p:pic>
      <p:sp>
        <p:nvSpPr>
          <p:cNvPr id="1132" name="TextBox 1131"/>
          <p:cNvSpPr txBox="1"/>
          <p:nvPr/>
        </p:nvSpPr>
        <p:spPr>
          <a:xfrm>
            <a:off x="3200400" y="868680"/>
            <a:ext cx="2697480" cy="274320"/>
          </a:xfrm>
          <a:prstGeom prst="rect">
            <a:avLst/>
          </a:prstGeom>
          <a:noFill/>
        </p:spPr>
        <p:txBody>
          <a:bodyPr wrap="square">
            <a:spAutoFit/>
          </a:bodyPr>
          <a:lstStyle/>
          <a:p>
            <a:r>
              <a:rPr sz="1100" b="1">
                <a:latin typeface="Arial" panose="020B0704020202020204"/>
                <a:ea typeface="微软雅黑"/>
              </a:rPr>
              <a:t>8T（TGF-β）  8T</a:t>
            </a:r>
            <a:endParaRPr sz="1100" b="1">
              <a:latin typeface="Arial" panose="020B0704020202020204"/>
              <a:ea typeface="微软雅黑"/>
            </a:endParaRPr>
          </a:p>
        </p:txBody>
      </p:sp>
      <p:pic>
        <p:nvPicPr>
          <p:cNvPr id="1133" name="Picture 1132" descr="CD103_8T.png"/>
          <p:cNvPicPr>
            <a:picLocks noChangeAspect="1"/>
          </p:cNvPicPr>
          <p:nvPr/>
        </p:nvPicPr>
        <p:blipFill>
          <a:blip r:embed="rId2"/>
          <a:stretch>
            <a:fillRect/>
          </a:stretch>
        </p:blipFill>
        <p:spPr>
          <a:xfrm>
            <a:off x="3244330" y="1143000"/>
            <a:ext cx="2609618" cy="2514600"/>
          </a:xfrm>
          <a:prstGeom prst="rect">
            <a:avLst/>
          </a:prstGeom>
        </p:spPr>
      </p:pic>
      <p:sp>
        <p:nvSpPr>
          <p:cNvPr id="1134" name="TextBox 1133"/>
          <p:cNvSpPr txBox="1"/>
          <p:nvPr/>
        </p:nvSpPr>
        <p:spPr>
          <a:xfrm>
            <a:off x="6080759" y="868680"/>
            <a:ext cx="2697480" cy="274320"/>
          </a:xfrm>
          <a:prstGeom prst="rect">
            <a:avLst/>
          </a:prstGeom>
          <a:noFill/>
        </p:spPr>
        <p:txBody>
          <a:bodyPr wrap="square">
            <a:spAutoFit/>
          </a:bodyPr>
          <a:lstStyle/>
          <a:p>
            <a:r>
              <a:rPr sz="1100" b="1">
                <a:latin typeface="Arial" panose="020B0704020202020204"/>
                <a:ea typeface="微软雅黑"/>
              </a:rPr>
              <a:t>8TA（TGF-β+醋酸钠）  8TA</a:t>
            </a:r>
            <a:endParaRPr sz="1100" b="1">
              <a:latin typeface="Arial" panose="020B0704020202020204"/>
              <a:ea typeface="微软雅黑"/>
            </a:endParaRPr>
          </a:p>
        </p:txBody>
      </p:sp>
      <p:pic>
        <p:nvPicPr>
          <p:cNvPr id="1135" name="Picture 1134" descr="CD103_8TA.png"/>
          <p:cNvPicPr>
            <a:picLocks noChangeAspect="1"/>
          </p:cNvPicPr>
          <p:nvPr/>
        </p:nvPicPr>
        <p:blipFill>
          <a:blip r:embed="rId3"/>
          <a:stretch>
            <a:fillRect/>
          </a:stretch>
        </p:blipFill>
        <p:spPr>
          <a:xfrm>
            <a:off x="6124690" y="1143000"/>
            <a:ext cx="2609618" cy="2514600"/>
          </a:xfrm>
          <a:prstGeom prst="rect">
            <a:avLst/>
          </a:prstGeom>
        </p:spPr>
      </p:pic>
      <p:sp>
        <p:nvSpPr>
          <p:cNvPr id="1136" name="TextBox 1135"/>
          <p:cNvSpPr txBox="1"/>
          <p:nvPr/>
        </p:nvSpPr>
        <p:spPr>
          <a:xfrm>
            <a:off x="8961119" y="868680"/>
            <a:ext cx="2697480" cy="274320"/>
          </a:xfrm>
          <a:prstGeom prst="rect">
            <a:avLst/>
          </a:prstGeom>
          <a:noFill/>
        </p:spPr>
        <p:txBody>
          <a:bodyPr wrap="square">
            <a:spAutoFit/>
          </a:bodyPr>
          <a:lstStyle/>
          <a:p>
            <a:r>
              <a:rPr sz="1100" b="1">
                <a:latin typeface="Arial" panose="020B0704020202020204"/>
                <a:ea typeface="微软雅黑"/>
              </a:rPr>
              <a:t>8A（醋酸钠）  8A</a:t>
            </a:r>
            <a:endParaRPr sz="1100" b="1">
              <a:latin typeface="Arial" panose="020B0704020202020204"/>
              <a:ea typeface="微软雅黑"/>
            </a:endParaRPr>
          </a:p>
        </p:txBody>
      </p:sp>
      <p:pic>
        <p:nvPicPr>
          <p:cNvPr id="1137" name="Picture 1136" descr="CD103_8A.png"/>
          <p:cNvPicPr>
            <a:picLocks noChangeAspect="1"/>
          </p:cNvPicPr>
          <p:nvPr/>
        </p:nvPicPr>
        <p:blipFill>
          <a:blip r:embed="rId4"/>
          <a:stretch>
            <a:fillRect/>
          </a:stretch>
        </p:blipFill>
        <p:spPr>
          <a:xfrm>
            <a:off x="9005050" y="1143000"/>
            <a:ext cx="2609618" cy="2514600"/>
          </a:xfrm>
          <a:prstGeom prst="rect">
            <a:avLst/>
          </a:prstGeom>
        </p:spPr>
      </p:pic>
      <p:pic>
        <p:nvPicPr>
          <p:cNvPr id="1138" name="Picture 1137" descr="bars_CD103.png"/>
          <p:cNvPicPr>
            <a:picLocks noChangeAspect="1"/>
          </p:cNvPicPr>
          <p:nvPr/>
        </p:nvPicPr>
        <p:blipFill>
          <a:blip r:embed="rId5"/>
          <a:stretch>
            <a:fillRect/>
          </a:stretch>
        </p:blipFill>
        <p:spPr>
          <a:xfrm>
            <a:off x="228600" y="3794760"/>
            <a:ext cx="6309360" cy="2704011"/>
          </a:xfrm>
          <a:prstGeom prst="rect">
            <a:avLst/>
          </a:prstGeom>
        </p:spPr>
      </p:pic>
      <p:sp>
        <p:nvSpPr>
          <p:cNvPr id="1139" name="TextBox 1138"/>
          <p:cNvSpPr txBox="1"/>
          <p:nvPr/>
        </p:nvSpPr>
        <p:spPr>
          <a:xfrm>
            <a:off x="6675120" y="3794760"/>
            <a:ext cx="5257800" cy="2697480"/>
          </a:xfrm>
          <a:prstGeom prst="rect">
            <a:avLst/>
          </a:prstGeom>
          <a:noFill/>
        </p:spPr>
        <p:txBody>
          <a:bodyPr wrap="square">
            <a:spAutoFit/>
          </a:bodyPr>
          <a:lstStyle/>
          <a:p>
            <a:r>
              <a:rPr sz="1150" b="0">
                <a:latin typeface="Arial" panose="020B0704020202020204"/>
                <a:ea typeface="微软雅黑"/>
              </a:rPr>
              <a:t>NK-92，8C 对照 / 8T TGF-β / 8TA TGF-β+醋酸钠 / 8A 醋酸钠，每组 4 管（技术重复）</a:t>
            </a:r>
            <a:endParaRPr sz="1150" b="0">
              <a:latin typeface="Arial" panose="020B0704020202020204"/>
              <a:ea typeface="微软雅黑"/>
            </a:endParaRPr>
          </a:p>
          <a:p>
            <a:r>
              <a:rPr sz="1150" b="0">
                <a:latin typeface="Arial" panose="020B0704020202020204"/>
                <a:ea typeface="微软雅黑"/>
              </a:rPr>
              <a:t>活死 eFluor 780（APC-Cy7），CD103-BUV395；Live 门内，门为手工设定，无 FMO；统计：C / T / TA 三组 one-way ANOVA + Tukey，括号为相对前一组的变化</a:t>
            </a:r>
            <a:endParaRPr sz="1150" b="0">
              <a:latin typeface="Arial" panose="020B0704020202020204"/>
              <a:ea typeface="微软雅黑"/>
            </a:endParaRPr>
          </a:p>
          <a:p>
            <a:endParaRPr sz="1150"/>
          </a:p>
          <a:p>
            <a:r>
              <a:rPr sz="1150" b="0">
                <a:latin typeface="Arial" panose="020B0704020202020204"/>
                <a:ea typeface="微软雅黑"/>
              </a:rPr>
              <a:t>CD103⁺ 阳性率（8C / 8T / 8TA / 8A）：89 / 91 / 88 / 85 %</a:t>
            </a:r>
            <a:endParaRPr sz="1150" b="0">
              <a:latin typeface="Arial" panose="020B0704020202020204"/>
              <a:ea typeface="微软雅黑"/>
            </a:endParaRPr>
          </a:p>
          <a:p>
            <a:r>
              <a:rPr sz="1150" b="0">
                <a:latin typeface="Arial" panose="020B0704020202020204"/>
                <a:ea typeface="微软雅黑"/>
              </a:rPr>
              <a:t>MFI（中位数）：1067 / 1070 / 1030 / 977；相对 8C：1.00 / 0.97 / 0.92（8T / 8TA / 8A）</a:t>
            </a:r>
            <a:endParaRPr sz="1150" b="0">
              <a:latin typeface="Arial" panose="020B0704020202020204"/>
              <a:ea typeface="微软雅黑"/>
            </a:endParaRPr>
          </a:p>
          <a:p>
            <a:endParaRPr sz="1150"/>
          </a:p>
          <a:p>
            <a:r>
              <a:rPr sz="1150" b="0">
                <a:latin typeface="Arial" panose="020B0704020202020204"/>
                <a:ea typeface="微软雅黑"/>
              </a:rPr>
              <a:t>阳性率 85 到 91%，MFI 约 1000，四组重叠。新抗体首次使用且无 FMO，NK-92 是否真为 CD103 阳性需同型 / FMO 对照确认；若为真阳性，则 TGF-β 在本条件下不进一步诱导 CD103。</a:t>
            </a:r>
            <a:endParaRPr sz="1150" b="0">
              <a:latin typeface="Arial" panose="020B0704020202020204"/>
              <a:ea typeface="微软雅黑"/>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试验日期：2026-09-29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0"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Ki67：TGF-β 组 MFI 降约 18%，对照离散大，不下结论</a:t>
            </a:r>
            <a:endPar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131"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132"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133"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1134" name="TextBox 1133"/>
          <p:cNvSpPr txBox="1"/>
          <p:nvPr/>
        </p:nvSpPr>
        <p:spPr>
          <a:xfrm>
            <a:off x="320040" y="868680"/>
            <a:ext cx="2697480" cy="274320"/>
          </a:xfrm>
          <a:prstGeom prst="rect">
            <a:avLst/>
          </a:prstGeom>
          <a:noFill/>
        </p:spPr>
        <p:txBody>
          <a:bodyPr wrap="square">
            <a:spAutoFit/>
          </a:bodyPr>
          <a:lstStyle/>
          <a:p>
            <a:r>
              <a:rPr sz="1100" b="1">
                <a:latin typeface="Arial" panose="020B0704020202020204"/>
                <a:ea typeface="微软雅黑"/>
              </a:rPr>
              <a:t>8C（对照）  8C_003</a:t>
            </a:r>
            <a:endParaRPr sz="1100" b="1">
              <a:latin typeface="Arial" panose="020B0704020202020204"/>
              <a:ea typeface="微软雅黑"/>
            </a:endParaRPr>
          </a:p>
        </p:txBody>
      </p:sp>
      <p:pic>
        <p:nvPicPr>
          <p:cNvPr id="1135" name="Picture 1134" descr="Ki67_8C_003.png"/>
          <p:cNvPicPr>
            <a:picLocks noChangeAspect="1"/>
          </p:cNvPicPr>
          <p:nvPr/>
        </p:nvPicPr>
        <p:blipFill>
          <a:blip r:embed="rId1"/>
          <a:stretch>
            <a:fillRect/>
          </a:stretch>
        </p:blipFill>
        <p:spPr>
          <a:xfrm>
            <a:off x="360439" y="1143000"/>
            <a:ext cx="2616681" cy="2514600"/>
          </a:xfrm>
          <a:prstGeom prst="rect">
            <a:avLst/>
          </a:prstGeom>
        </p:spPr>
      </p:pic>
      <p:sp>
        <p:nvSpPr>
          <p:cNvPr id="1136" name="TextBox 1135"/>
          <p:cNvSpPr txBox="1"/>
          <p:nvPr/>
        </p:nvSpPr>
        <p:spPr>
          <a:xfrm>
            <a:off x="3200400" y="868680"/>
            <a:ext cx="2697480" cy="274320"/>
          </a:xfrm>
          <a:prstGeom prst="rect">
            <a:avLst/>
          </a:prstGeom>
          <a:noFill/>
        </p:spPr>
        <p:txBody>
          <a:bodyPr wrap="square">
            <a:spAutoFit/>
          </a:bodyPr>
          <a:lstStyle/>
          <a:p>
            <a:r>
              <a:rPr sz="1100" b="1">
                <a:latin typeface="Arial" panose="020B0704020202020204"/>
                <a:ea typeface="微软雅黑"/>
              </a:rPr>
              <a:t>8T（TGF-β）  8T</a:t>
            </a:r>
            <a:endParaRPr sz="1100" b="1">
              <a:latin typeface="Arial" panose="020B0704020202020204"/>
              <a:ea typeface="微软雅黑"/>
            </a:endParaRPr>
          </a:p>
        </p:txBody>
      </p:sp>
      <p:pic>
        <p:nvPicPr>
          <p:cNvPr id="1137" name="Picture 1136" descr="Ki67_8T.png"/>
          <p:cNvPicPr>
            <a:picLocks noChangeAspect="1"/>
          </p:cNvPicPr>
          <p:nvPr/>
        </p:nvPicPr>
        <p:blipFill>
          <a:blip r:embed="rId2"/>
          <a:stretch>
            <a:fillRect/>
          </a:stretch>
        </p:blipFill>
        <p:spPr>
          <a:xfrm>
            <a:off x="3240799" y="1143000"/>
            <a:ext cx="2616681" cy="2514600"/>
          </a:xfrm>
          <a:prstGeom prst="rect">
            <a:avLst/>
          </a:prstGeom>
        </p:spPr>
      </p:pic>
      <p:sp>
        <p:nvSpPr>
          <p:cNvPr id="1138" name="TextBox 1137"/>
          <p:cNvSpPr txBox="1"/>
          <p:nvPr/>
        </p:nvSpPr>
        <p:spPr>
          <a:xfrm>
            <a:off x="6080759" y="868680"/>
            <a:ext cx="2697480" cy="274320"/>
          </a:xfrm>
          <a:prstGeom prst="rect">
            <a:avLst/>
          </a:prstGeom>
          <a:noFill/>
        </p:spPr>
        <p:txBody>
          <a:bodyPr wrap="square">
            <a:spAutoFit/>
          </a:bodyPr>
          <a:lstStyle/>
          <a:p>
            <a:r>
              <a:rPr sz="1100" b="1">
                <a:latin typeface="Arial" panose="020B0704020202020204"/>
                <a:ea typeface="微软雅黑"/>
              </a:rPr>
              <a:t>8TA（TGF-β+醋酸钠）  8TA</a:t>
            </a:r>
            <a:endParaRPr sz="1100" b="1">
              <a:latin typeface="Arial" panose="020B0704020202020204"/>
              <a:ea typeface="微软雅黑"/>
            </a:endParaRPr>
          </a:p>
        </p:txBody>
      </p:sp>
      <p:pic>
        <p:nvPicPr>
          <p:cNvPr id="1139" name="Picture 1138" descr="Ki67_8TA.png"/>
          <p:cNvPicPr>
            <a:picLocks noChangeAspect="1"/>
          </p:cNvPicPr>
          <p:nvPr/>
        </p:nvPicPr>
        <p:blipFill>
          <a:blip r:embed="rId3"/>
          <a:stretch>
            <a:fillRect/>
          </a:stretch>
        </p:blipFill>
        <p:spPr>
          <a:xfrm>
            <a:off x="6121159" y="1143000"/>
            <a:ext cx="2616681" cy="2514600"/>
          </a:xfrm>
          <a:prstGeom prst="rect">
            <a:avLst/>
          </a:prstGeom>
        </p:spPr>
      </p:pic>
      <p:sp>
        <p:nvSpPr>
          <p:cNvPr id="1140" name="TextBox 1139"/>
          <p:cNvSpPr txBox="1"/>
          <p:nvPr/>
        </p:nvSpPr>
        <p:spPr>
          <a:xfrm>
            <a:off x="8961119" y="868680"/>
            <a:ext cx="2697480" cy="274320"/>
          </a:xfrm>
          <a:prstGeom prst="rect">
            <a:avLst/>
          </a:prstGeom>
          <a:noFill/>
        </p:spPr>
        <p:txBody>
          <a:bodyPr wrap="square">
            <a:spAutoFit/>
          </a:bodyPr>
          <a:lstStyle/>
          <a:p>
            <a:r>
              <a:rPr sz="1100" b="1">
                <a:latin typeface="Arial" panose="020B0704020202020204"/>
                <a:ea typeface="微软雅黑"/>
              </a:rPr>
              <a:t>8A（醋酸钠）  8A</a:t>
            </a:r>
            <a:endParaRPr sz="1100" b="1">
              <a:latin typeface="Arial" panose="020B0704020202020204"/>
              <a:ea typeface="微软雅黑"/>
            </a:endParaRPr>
          </a:p>
        </p:txBody>
      </p:sp>
      <p:pic>
        <p:nvPicPr>
          <p:cNvPr id="1141" name="Picture 1140" descr="Ki67_8A.png"/>
          <p:cNvPicPr>
            <a:picLocks noChangeAspect="1"/>
          </p:cNvPicPr>
          <p:nvPr/>
        </p:nvPicPr>
        <p:blipFill>
          <a:blip r:embed="rId4"/>
          <a:stretch>
            <a:fillRect/>
          </a:stretch>
        </p:blipFill>
        <p:spPr>
          <a:xfrm>
            <a:off x="9001519" y="1143000"/>
            <a:ext cx="2616681" cy="2514600"/>
          </a:xfrm>
          <a:prstGeom prst="rect">
            <a:avLst/>
          </a:prstGeom>
        </p:spPr>
      </p:pic>
      <p:pic>
        <p:nvPicPr>
          <p:cNvPr id="1142" name="Picture 1141" descr="bars_Ki67.png"/>
          <p:cNvPicPr>
            <a:picLocks noChangeAspect="1"/>
          </p:cNvPicPr>
          <p:nvPr/>
        </p:nvPicPr>
        <p:blipFill>
          <a:blip r:embed="rId5"/>
          <a:stretch>
            <a:fillRect/>
          </a:stretch>
        </p:blipFill>
        <p:spPr>
          <a:xfrm>
            <a:off x="228600" y="3794760"/>
            <a:ext cx="6309360" cy="2704011"/>
          </a:xfrm>
          <a:prstGeom prst="rect">
            <a:avLst/>
          </a:prstGeom>
        </p:spPr>
      </p:pic>
      <p:sp>
        <p:nvSpPr>
          <p:cNvPr id="1143" name="TextBox 1142"/>
          <p:cNvSpPr txBox="1"/>
          <p:nvPr/>
        </p:nvSpPr>
        <p:spPr>
          <a:xfrm>
            <a:off x="6675120" y="3794760"/>
            <a:ext cx="5257800" cy="2697480"/>
          </a:xfrm>
          <a:prstGeom prst="rect">
            <a:avLst/>
          </a:prstGeom>
          <a:noFill/>
        </p:spPr>
        <p:txBody>
          <a:bodyPr wrap="square">
            <a:spAutoFit/>
          </a:bodyPr>
          <a:lstStyle/>
          <a:p>
            <a:r>
              <a:rPr sz="1150" b="0">
                <a:latin typeface="Arial" panose="020B0704020202020204"/>
                <a:ea typeface="微软雅黑"/>
              </a:rPr>
              <a:t>NK-92，8C 对照 / 8T TGF-β / 8TA TGF-β+醋酸钠 / 8A 醋酸钠，每组 4 管（技术重复）</a:t>
            </a:r>
            <a:endParaRPr sz="1150" b="0">
              <a:latin typeface="Arial" panose="020B0704020202020204"/>
              <a:ea typeface="微软雅黑"/>
            </a:endParaRPr>
          </a:p>
          <a:p>
            <a:r>
              <a:rPr sz="1150" b="0">
                <a:latin typeface="Arial" panose="020B0704020202020204"/>
                <a:ea typeface="微软雅黑"/>
              </a:rPr>
              <a:t>活死 eFluor 780（APC-Cy7），Ki67-PerCP-eFluor 710；Live 门内，门为手工设定，无 FMO；统计：C / T / TA 三组 one-way ANOVA + Tukey，括号为相对前一组的变化</a:t>
            </a:r>
            <a:endParaRPr sz="1150" b="0">
              <a:latin typeface="Arial" panose="020B0704020202020204"/>
              <a:ea typeface="微软雅黑"/>
            </a:endParaRPr>
          </a:p>
          <a:p>
            <a:endParaRPr sz="1150"/>
          </a:p>
          <a:p>
            <a:r>
              <a:rPr sz="1150" b="0">
                <a:latin typeface="Arial" panose="020B0704020202020204"/>
                <a:ea typeface="微软雅黑"/>
              </a:rPr>
              <a:t>Ki67⁺ 阳性率（8C / 8T / 8TA / 8A）：91 / 88 / 86 / 89 %</a:t>
            </a:r>
            <a:endParaRPr sz="1150" b="0">
              <a:latin typeface="Arial" panose="020B0704020202020204"/>
              <a:ea typeface="微软雅黑"/>
            </a:endParaRPr>
          </a:p>
          <a:p>
            <a:r>
              <a:rPr sz="1150" b="0">
                <a:latin typeface="Arial" panose="020B0704020202020204"/>
                <a:ea typeface="微软雅黑"/>
              </a:rPr>
              <a:t>MFI（中位数）：9382 / 7759 / 7598 / 9034；相对 8C：0.83 / 0.81 / 0.96（8T / 8TA / 8A）</a:t>
            </a:r>
            <a:endParaRPr sz="1150" b="0">
              <a:latin typeface="Arial" panose="020B0704020202020204"/>
              <a:ea typeface="微软雅黑"/>
            </a:endParaRPr>
          </a:p>
          <a:p>
            <a:endParaRPr sz="1150"/>
          </a:p>
          <a:p>
            <a:r>
              <a:rPr sz="1150" b="0">
                <a:latin typeface="Arial" panose="020B0704020202020204"/>
                <a:ea typeface="微软雅黑"/>
              </a:rPr>
              <a:t>TGF-β 组 MFI 比对照低 17 到 19%，8A 与对照相同，方向与 Perforin 一致（可能为增殖减慢），但 8C 与 8A 各一管偏高、SD 大，需独立重复。阳性率 86 到 91%，无差异。</a:t>
            </a:r>
            <a:endParaRPr sz="1150" b="0">
              <a:latin typeface="Arial" panose="020B0704020202020204"/>
              <a:ea typeface="微软雅黑"/>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试验日期：2026-09-29</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4"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本次结论与下一步</a:t>
            </a:r>
            <a:endParaRPr lang="zh-CN" altLang="zh-CN" sz="24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1135"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136"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1137"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1138" name="TextBox 1137"/>
          <p:cNvSpPr txBox="1"/>
          <p:nvPr/>
        </p:nvSpPr>
        <p:spPr>
          <a:xfrm>
            <a:off x="457200" y="960120"/>
            <a:ext cx="11247120" cy="5394960"/>
          </a:xfrm>
          <a:prstGeom prst="rect">
            <a:avLst/>
          </a:prstGeom>
          <a:noFill/>
        </p:spPr>
        <p:txBody>
          <a:bodyPr wrap="square">
            <a:spAutoFit/>
          </a:bodyPr>
          <a:lstStyle/>
          <a:p>
            <a:r>
              <a:rPr sz="1300" b="0">
                <a:latin typeface="Arial" panose="020B0704020202020204"/>
                <a:ea typeface="微软雅黑"/>
              </a:rPr>
              <a:t>可以说的：</a:t>
            </a:r>
            <a:endParaRPr sz="1300" b="0">
              <a:latin typeface="Arial" panose="020B0704020202020204"/>
              <a:ea typeface="微软雅黑"/>
            </a:endParaRPr>
          </a:p>
          <a:p>
            <a:r>
              <a:rPr sz="1300" b="0">
                <a:latin typeface="Arial" panose="020B0704020202020204"/>
                <a:ea typeface="微软雅黑"/>
              </a:rPr>
              <a:t>• TGF-β 10 ng/mL 使 NK-92 的 Granzyme B 降至对照的 0.45 到 0.52，三批独立实验方向与幅度一致；醋酸钠 10 mmol/L 单独不影响 Granzyme B，与 TGF-β 合用也不逆转（本批 8TA 0.45 vs 8T 0.52）。</a:t>
            </a:r>
            <a:endParaRPr sz="1300" b="0">
              <a:latin typeface="Arial" panose="020B0704020202020204"/>
              <a:ea typeface="微软雅黑"/>
            </a:endParaRPr>
          </a:p>
          <a:p>
            <a:r>
              <a:rPr sz="1300" b="0">
                <a:latin typeface="Arial" panose="020B0704020202020204"/>
                <a:ea typeface="微软雅黑"/>
              </a:rPr>
              <a:t>• TGF-β 使 CD49a 上调（阳性率 47% → 67%，MFI 约 1.9 倍），醋酸钠不改变；CD103 不变。提示 TGF-β 在抑制效应分子的同时诱导 CD49a 驻留表型，而非整体蜕化。</a:t>
            </a:r>
            <a:endParaRPr sz="1300" b="0">
              <a:latin typeface="Arial" panose="020B0704020202020204"/>
              <a:ea typeface="微软雅黑"/>
            </a:endParaRPr>
          </a:p>
          <a:p>
            <a:r>
              <a:rPr sz="1300" b="0">
                <a:latin typeface="Arial" panose="020B0704020202020204"/>
                <a:ea typeface="微软雅黑"/>
              </a:rPr>
              <a:t>• 09-11 批看到的醋酸钠效应（单独使 Perforin 升 32%、与 TGF-β 合用使 Granzyme B 部分回升）本批均未重复：8A 与对照无差别，8TA 与 8T 无差别。两批条件是否一致（醋酸钠配制、作用时间、细胞代次）需核对。</a:t>
            </a:r>
            <a:endParaRPr sz="1300" b="0">
              <a:latin typeface="Arial" panose="020B0704020202020204"/>
              <a:ea typeface="微软雅黑"/>
            </a:endParaRPr>
          </a:p>
          <a:p>
            <a:r>
              <a:rPr sz="1300" b="0">
                <a:latin typeface="Arial" panose="020B0704020202020204"/>
                <a:ea typeface="微软雅黑"/>
              </a:rPr>
              <a:t>• Perforin、Ki67 在 TGF-β 组降 15 到 20%，但对照组离散大，本批不下结论。</a:t>
            </a:r>
            <a:endParaRPr sz="1300" b="0">
              <a:latin typeface="Arial" panose="020B0704020202020204"/>
              <a:ea typeface="微软雅黑"/>
            </a:endParaRPr>
          </a:p>
          <a:p>
            <a:endParaRPr sz="1300"/>
          </a:p>
          <a:p>
            <a:r>
              <a:rPr sz="1300" b="0">
                <a:latin typeface="Arial" panose="020B0704020202020204"/>
                <a:ea typeface="微软雅黑"/>
              </a:rPr>
              <a:t>需要注意的：</a:t>
            </a:r>
            <a:endParaRPr sz="1300" b="0">
              <a:latin typeface="Arial" panose="020B0704020202020204"/>
              <a:ea typeface="微软雅黑"/>
            </a:endParaRPr>
          </a:p>
          <a:p>
            <a:r>
              <a:rPr sz="1300" b="0">
                <a:latin typeface="Arial" panose="020B0704020202020204"/>
                <a:ea typeface="微软雅黑"/>
              </a:rPr>
              <a:t>• 无单染与 FMO 对照，补偿为手工矩阵，CD49a / CD103 为新抗体且 CD49a 信号弱，阈值与矩阵都待对照确认。</a:t>
            </a:r>
            <a:endParaRPr sz="1300" b="0">
              <a:latin typeface="Arial" panose="020B0704020202020204"/>
              <a:ea typeface="微软雅黑"/>
            </a:endParaRPr>
          </a:p>
          <a:p>
            <a:r>
              <a:rPr sz="1300" b="0">
                <a:latin typeface="Arial" panose="020B0704020202020204"/>
                <a:ea typeface="微软雅黑"/>
              </a:rPr>
              <a:t>• C / T / TA 三组按 one-way ANOVA + Tukey 给出 P 值，但四管为技术重复（n = 1 次独立实验），P 值只反映管间重复性，不能替代独立重复；8C 与 8A 各有一管 Perforin / Ki67 / Granzyme B 偏高，建议查对该两管的上机顺序与细胞数。</a:t>
            </a:r>
            <a:endParaRPr sz="1300" b="0">
              <a:latin typeface="Arial" panose="020B0704020202020204"/>
              <a:ea typeface="微软雅黑"/>
            </a:endParaRPr>
          </a:p>
          <a:p>
            <a:endParaRPr sz="1300"/>
          </a:p>
          <a:p>
            <a:r>
              <a:rPr sz="1300" b="0">
                <a:latin typeface="Arial" panose="020B0704020202020204"/>
                <a:ea typeface="微软雅黑"/>
              </a:rPr>
              <a:t>下一步：补单染微球与 FMO 后重复一次并作为正式数据；加 CD107a 脱颗粒与 K562 杀伤验证功能；IFN-γ 需刺激后再测。</a:t>
            </a:r>
            <a:endParaRPr sz="1300" b="0">
              <a:latin typeface="Arial" panose="020B0704020202020204"/>
              <a:ea typeface="微软雅黑"/>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试验日期：2026-09-29</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01" name="文本框 42"/>
          <p:cNvSpPr txBox="1"/>
          <p:nvPr/>
        </p:nvSpPr>
        <p:spPr>
          <a:xfrm>
            <a:off x="592455" y="1850000"/>
            <a:ext cx="11007090" cy="1069845"/>
          </a:xfrm>
          <a:prstGeom prst="rect">
            <a:avLst/>
          </a:prstGeom>
          <a:noFill/>
        </p:spPr>
        <p:txBody>
          <a:bodyPr wrap="square" rtlCol="0">
            <a:spAutoFit/>
          </a:bodyPr>
          <a:lstStyle/>
          <a:p>
            <a:pPr algn="ctr">
              <a:lnSpc>
                <a:spcPct val="150000"/>
              </a:lnSpc>
            </a:pPr>
            <a:r>
              <a:rPr lang="zh-CN" altLang="en-US" sz="29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rPr>
              <a:t>第五部分  初步实验 20260929</a:t>
            </a:r>
            <a:endParaRPr lang="zh-CN" altLang="en-US" sz="29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endParaRPr>
          </a:p>
          <a:p>
            <a:pPr algn="ctr">
              <a:lnSpc>
                <a:spcPct val="150000"/>
              </a:lnSpc>
            </a:pPr>
            <a:r>
              <a:rPr lang="zh-CN" altLang="en-US" sz="29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rPr>
              <a:t>NK-92MI 对 K562-GFP 的杀伤（Annexin V / PI）</a:t>
            </a:r>
            <a:endParaRPr lang="zh-CN" altLang="en-US" sz="2900" b="1" dirty="0">
              <a:solidFill>
                <a:srgbClr val="163D7F"/>
              </a:solidFill>
              <a:latin typeface="微软雅黑" panose="020B0503020204020204" charset="-122"/>
              <a:ea typeface="微软雅黑" panose="020B0503020204020204" charset="-122"/>
              <a:cs typeface="微软雅黑" panose="020B0503020204020204" charset="-122"/>
              <a:sym typeface="华文仿宋" panose="02010600040101010101" charset="-122"/>
            </a:endParaRPr>
          </a:p>
        </p:txBody>
      </p:sp>
      <p:sp>
        <p:nvSpPr>
          <p:cNvPr id="5002" name="文本框 2"/>
          <p:cNvSpPr txBox="1"/>
          <p:nvPr/>
        </p:nvSpPr>
        <p:spPr>
          <a:xfrm>
            <a:off x="1200000" y="4700000"/>
            <a:ext cx="9800000" cy="1254125"/>
          </a:xfrm>
          <a:prstGeom prst="rect">
            <a:avLst/>
          </a:prstGeom>
          <a:noFill/>
        </p:spPr>
        <p:txBody>
          <a:bodyPr wrap="square" rtlCol="0" anchor="t">
            <a:noAutofit/>
          </a:bodyPr>
          <a:lstStyle/>
          <a:p>
            <a:pPr algn="ctr">
              <a:lnSpc>
                <a:spcPct val="150000"/>
              </a:lnSpc>
            </a:pPr>
            <a:r>
              <a:rPr lang="zh-CN" altLang="en-US" sz="1800" b="1" dirty="0">
                <a:latin typeface="Times New Roman" panose="02020603050405020304" charset="0"/>
                <a:ea typeface="楷体" panose="02010609060101010101" charset="-122"/>
                <a:cs typeface="Times New Roman" panose="02020603050405020304" charset="0"/>
                <a:sym typeface="+mn-lt"/>
              </a:rPr>
              <a:t>初步实验：NK-92MI 难以表现退化，杀伤只作初步观察；后续改用外周血 NK（PB-NK）</a:t>
            </a:r>
            <a:endParaRPr lang="zh-CN" altLang="en-US" sz="1800" b="1" dirty="0">
              <a:latin typeface="Times New Roman" panose="02020603050405020304" charset="0"/>
              <a:ea typeface="楷体" panose="02010609060101010101" charset="-122"/>
              <a:cs typeface="Times New Roman" panose="02020603050405020304" charset="0"/>
              <a:sym typeface="+mn-lt"/>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FFFFFF"/>
                </a:solidFill>
              </a:rPr>
              <a:t>试验日期：2026-09-29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07"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靶细胞凋亡：所有 NK 组杀伤已接近饱和，组间差异不作结论</a:t>
            </a:r>
            <a:endParaRPr lang="zh-CN" altLang="zh-CN" sz="21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5008"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5009"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5010"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5011" name="TextBox 5010"/>
          <p:cNvSpPr txBox="1"/>
          <p:nvPr/>
        </p:nvSpPr>
        <p:spPr>
          <a:xfrm>
            <a:off x="274320" y="850392"/>
            <a:ext cx="2286000" cy="274320"/>
          </a:xfrm>
          <a:prstGeom prst="rect">
            <a:avLst/>
          </a:prstGeom>
          <a:noFill/>
        </p:spPr>
        <p:txBody>
          <a:bodyPr wrap="square">
            <a:spAutoFit/>
          </a:bodyPr>
          <a:lstStyle/>
          <a:p>
            <a:r>
              <a:rPr sz="1000" b="1">
                <a:latin typeface="Arial" panose="020B0704020202020204"/>
                <a:ea typeface="微软雅黑"/>
              </a:rPr>
              <a:t>K（K562 单独）  K</a:t>
            </a:r>
            <a:endParaRPr sz="1000" b="1">
              <a:latin typeface="Arial" panose="020B0704020202020204"/>
              <a:ea typeface="微软雅黑"/>
            </a:endParaRPr>
          </a:p>
        </p:txBody>
      </p:sp>
      <p:pic>
        <p:nvPicPr>
          <p:cNvPr id="5012" name="Picture 5011" descr="quad_K.png"/>
          <p:cNvPicPr>
            <a:picLocks noChangeAspect="1"/>
          </p:cNvPicPr>
          <p:nvPr/>
        </p:nvPicPr>
        <p:blipFill>
          <a:blip r:embed="rId1"/>
          <a:stretch>
            <a:fillRect/>
          </a:stretch>
        </p:blipFill>
        <p:spPr>
          <a:xfrm>
            <a:off x="274320" y="1115568"/>
            <a:ext cx="2240280" cy="1910296"/>
          </a:xfrm>
          <a:prstGeom prst="rect">
            <a:avLst/>
          </a:prstGeom>
        </p:spPr>
      </p:pic>
      <p:sp>
        <p:nvSpPr>
          <p:cNvPr id="5013" name="TextBox 5012"/>
          <p:cNvSpPr txBox="1"/>
          <p:nvPr/>
        </p:nvSpPr>
        <p:spPr>
          <a:xfrm>
            <a:off x="2606039" y="850392"/>
            <a:ext cx="2286000" cy="274320"/>
          </a:xfrm>
          <a:prstGeom prst="rect">
            <a:avLst/>
          </a:prstGeom>
          <a:noFill/>
        </p:spPr>
        <p:txBody>
          <a:bodyPr wrap="square">
            <a:spAutoFit/>
          </a:bodyPr>
          <a:lstStyle/>
          <a:p>
            <a:r>
              <a:rPr sz="1000" b="1">
                <a:latin typeface="Arial" panose="020B0704020202020204"/>
                <a:ea typeface="微软雅黑"/>
              </a:rPr>
              <a:t>C（对照 NK）  C_002</a:t>
            </a:r>
            <a:endParaRPr sz="1000" b="1">
              <a:latin typeface="Arial" panose="020B0704020202020204"/>
              <a:ea typeface="微软雅黑"/>
            </a:endParaRPr>
          </a:p>
        </p:txBody>
      </p:sp>
      <p:pic>
        <p:nvPicPr>
          <p:cNvPr id="5014" name="Picture 5013" descr="quad_C_002.png"/>
          <p:cNvPicPr>
            <a:picLocks noChangeAspect="1"/>
          </p:cNvPicPr>
          <p:nvPr/>
        </p:nvPicPr>
        <p:blipFill>
          <a:blip r:embed="rId2"/>
          <a:stretch>
            <a:fillRect/>
          </a:stretch>
        </p:blipFill>
        <p:spPr>
          <a:xfrm>
            <a:off x="2606039" y="1115568"/>
            <a:ext cx="2240280" cy="1910296"/>
          </a:xfrm>
          <a:prstGeom prst="rect">
            <a:avLst/>
          </a:prstGeom>
        </p:spPr>
      </p:pic>
      <p:sp>
        <p:nvSpPr>
          <p:cNvPr id="5015" name="TextBox 5014"/>
          <p:cNvSpPr txBox="1"/>
          <p:nvPr/>
        </p:nvSpPr>
        <p:spPr>
          <a:xfrm>
            <a:off x="4937759" y="850392"/>
            <a:ext cx="2286000" cy="274320"/>
          </a:xfrm>
          <a:prstGeom prst="rect">
            <a:avLst/>
          </a:prstGeom>
          <a:noFill/>
        </p:spPr>
        <p:txBody>
          <a:bodyPr wrap="square">
            <a:spAutoFit/>
          </a:bodyPr>
          <a:lstStyle/>
          <a:p>
            <a:r>
              <a:rPr sz="1000" b="1">
                <a:latin typeface="Arial" panose="020B0704020202020204"/>
                <a:ea typeface="微软雅黑"/>
              </a:rPr>
              <a:t>T（TGF-β NK）  T</a:t>
            </a:r>
            <a:endParaRPr sz="1000" b="1">
              <a:latin typeface="Arial" panose="020B0704020202020204"/>
              <a:ea typeface="微软雅黑"/>
            </a:endParaRPr>
          </a:p>
        </p:txBody>
      </p:sp>
      <p:pic>
        <p:nvPicPr>
          <p:cNvPr id="5016" name="Picture 5015" descr="quad_T.png"/>
          <p:cNvPicPr>
            <a:picLocks noChangeAspect="1"/>
          </p:cNvPicPr>
          <p:nvPr/>
        </p:nvPicPr>
        <p:blipFill>
          <a:blip r:embed="rId3"/>
          <a:stretch>
            <a:fillRect/>
          </a:stretch>
        </p:blipFill>
        <p:spPr>
          <a:xfrm>
            <a:off x="4937759" y="1115568"/>
            <a:ext cx="2240280" cy="1910296"/>
          </a:xfrm>
          <a:prstGeom prst="rect">
            <a:avLst/>
          </a:prstGeom>
        </p:spPr>
      </p:pic>
      <p:sp>
        <p:nvSpPr>
          <p:cNvPr id="5017" name="TextBox 5016"/>
          <p:cNvSpPr txBox="1"/>
          <p:nvPr/>
        </p:nvSpPr>
        <p:spPr>
          <a:xfrm>
            <a:off x="7269479" y="850392"/>
            <a:ext cx="2286000" cy="274320"/>
          </a:xfrm>
          <a:prstGeom prst="rect">
            <a:avLst/>
          </a:prstGeom>
          <a:noFill/>
        </p:spPr>
        <p:txBody>
          <a:bodyPr wrap="square">
            <a:spAutoFit/>
          </a:bodyPr>
          <a:lstStyle/>
          <a:p>
            <a:r>
              <a:rPr sz="1000" b="1">
                <a:latin typeface="Arial" panose="020B0704020202020204"/>
                <a:ea typeface="微软雅黑"/>
              </a:rPr>
              <a:t>TA（TGF-β+醋酸钠 NK）  TA_001</a:t>
            </a:r>
            <a:endParaRPr sz="1000" b="1">
              <a:latin typeface="Arial" panose="020B0704020202020204"/>
              <a:ea typeface="微软雅黑"/>
            </a:endParaRPr>
          </a:p>
        </p:txBody>
      </p:sp>
      <p:pic>
        <p:nvPicPr>
          <p:cNvPr id="5018" name="Picture 5017" descr="quad_TA_001.png"/>
          <p:cNvPicPr>
            <a:picLocks noChangeAspect="1"/>
          </p:cNvPicPr>
          <p:nvPr/>
        </p:nvPicPr>
        <p:blipFill>
          <a:blip r:embed="rId4"/>
          <a:stretch>
            <a:fillRect/>
          </a:stretch>
        </p:blipFill>
        <p:spPr>
          <a:xfrm>
            <a:off x="7269479" y="1115568"/>
            <a:ext cx="2240280" cy="1910296"/>
          </a:xfrm>
          <a:prstGeom prst="rect">
            <a:avLst/>
          </a:prstGeom>
        </p:spPr>
      </p:pic>
      <p:sp>
        <p:nvSpPr>
          <p:cNvPr id="5019" name="TextBox 5018"/>
          <p:cNvSpPr txBox="1"/>
          <p:nvPr/>
        </p:nvSpPr>
        <p:spPr>
          <a:xfrm>
            <a:off x="9601200" y="850392"/>
            <a:ext cx="2286000" cy="274320"/>
          </a:xfrm>
          <a:prstGeom prst="rect">
            <a:avLst/>
          </a:prstGeom>
          <a:noFill/>
        </p:spPr>
        <p:txBody>
          <a:bodyPr wrap="square">
            <a:spAutoFit/>
          </a:bodyPr>
          <a:lstStyle/>
          <a:p>
            <a:r>
              <a:rPr sz="1000" b="1">
                <a:latin typeface="Arial" panose="020B0704020202020204"/>
                <a:ea typeface="微软雅黑"/>
              </a:rPr>
              <a:t>A（醋酸钠 NK）  A</a:t>
            </a:r>
            <a:endParaRPr sz="1000" b="1">
              <a:latin typeface="Arial" panose="020B0704020202020204"/>
              <a:ea typeface="微软雅黑"/>
            </a:endParaRPr>
          </a:p>
        </p:txBody>
      </p:sp>
      <p:pic>
        <p:nvPicPr>
          <p:cNvPr id="5020" name="Picture 5019" descr="quad_A.png"/>
          <p:cNvPicPr>
            <a:picLocks noChangeAspect="1"/>
          </p:cNvPicPr>
          <p:nvPr/>
        </p:nvPicPr>
        <p:blipFill>
          <a:blip r:embed="rId5"/>
          <a:stretch>
            <a:fillRect/>
          </a:stretch>
        </p:blipFill>
        <p:spPr>
          <a:xfrm>
            <a:off x="9601200" y="1115568"/>
            <a:ext cx="2240280" cy="1910296"/>
          </a:xfrm>
          <a:prstGeom prst="rect">
            <a:avLst/>
          </a:prstGeom>
        </p:spPr>
      </p:pic>
      <p:pic>
        <p:nvPicPr>
          <p:cNvPr id="5021" name="Picture 5020" descr="杀伤_AV_PI_汇报柱状图.png"/>
          <p:cNvPicPr>
            <a:picLocks noChangeAspect="1"/>
          </p:cNvPicPr>
          <p:nvPr/>
        </p:nvPicPr>
        <p:blipFill>
          <a:blip r:embed="rId6"/>
          <a:stretch>
            <a:fillRect/>
          </a:stretch>
        </p:blipFill>
        <p:spPr>
          <a:xfrm>
            <a:off x="228600" y="3520440"/>
            <a:ext cx="6949440" cy="2779776"/>
          </a:xfrm>
          <a:prstGeom prst="rect">
            <a:avLst/>
          </a:prstGeom>
        </p:spPr>
      </p:pic>
      <p:sp>
        <p:nvSpPr>
          <p:cNvPr id="5022" name="TextBox 5021"/>
          <p:cNvSpPr txBox="1"/>
          <p:nvPr/>
        </p:nvSpPr>
        <p:spPr>
          <a:xfrm>
            <a:off x="7315200" y="3520440"/>
            <a:ext cx="4663440" cy="3017520"/>
          </a:xfrm>
          <a:prstGeom prst="rect">
            <a:avLst/>
          </a:prstGeom>
          <a:noFill/>
        </p:spPr>
        <p:txBody>
          <a:bodyPr wrap="square">
            <a:spAutoFit/>
          </a:bodyPr>
          <a:lstStyle/>
          <a:p>
            <a:r>
              <a:rPr sz="1050" b="0">
                <a:latin typeface="Arial" panose="020B0704020202020204"/>
                <a:ea typeface="微软雅黑"/>
              </a:rPr>
              <a:t>GFP⁺ K562 门内（mean ± SD，n = 3 管）</a:t>
            </a:r>
            <a:endParaRPr sz="1050" b="0">
              <a:latin typeface="Arial" panose="020B0704020202020204"/>
              <a:ea typeface="微软雅黑"/>
            </a:endParaRPr>
          </a:p>
          <a:p>
            <a:r>
              <a:rPr sz="1050" b="0">
                <a:latin typeface="Arial" panose="020B0704020202020204"/>
                <a:ea typeface="微软雅黑"/>
              </a:rPr>
              <a:t>活（AV⁻PI⁻）%：K 72.9 ± 1.3，C 51.8 ± 11.9，T 47.2 ± 7.4，TA 37.3 ± 5.8，A 48.2 ± 7.9</a:t>
            </a:r>
            <a:endParaRPr sz="1050" b="0">
              <a:latin typeface="Arial" panose="020B0704020202020204"/>
              <a:ea typeface="微软雅黑"/>
            </a:endParaRPr>
          </a:p>
          <a:p>
            <a:r>
              <a:rPr sz="1050" b="0">
                <a:latin typeface="Arial" panose="020B0704020202020204"/>
                <a:ea typeface="微软雅黑"/>
              </a:rPr>
              <a:t>晚期凋亡（AV⁺PI⁺）%：K 10.9 ± 1.0，C 12.5 ± 3.5，T 17.5 ± 3.0，TA 24.2 ± 2.4，A 15.6 ± 1.8</a:t>
            </a:r>
            <a:endParaRPr sz="1050" b="0">
              <a:latin typeface="Arial" panose="020B0704020202020204"/>
              <a:ea typeface="微软雅黑"/>
            </a:endParaRPr>
          </a:p>
          <a:p>
            <a:r>
              <a:rPr sz="1050" b="0">
                <a:latin typeface="Arial" panose="020B0704020202020204"/>
                <a:ea typeface="微软雅黑"/>
              </a:rPr>
              <a:t>特异裂解 %：C 29.0 ± 16.3，T 35.2 ± 10.1，TA 48.9 ± 8.0，A 33.9 ± 10.8</a:t>
            </a:r>
            <a:endParaRPr sz="1050" b="0">
              <a:latin typeface="Arial" panose="020B0704020202020204"/>
              <a:ea typeface="微软雅黑"/>
            </a:endParaRPr>
          </a:p>
          <a:p>
            <a:endParaRPr sz="1050"/>
          </a:p>
          <a:p>
            <a:r>
              <a:rPr sz="1050" b="0">
                <a:latin typeface="Arial" panose="020B0704020202020204"/>
                <a:ea typeface="微软雅黑"/>
              </a:rPr>
              <a:t>加 NK 后早期凋亡由 15% 升到 35%，四个 NK 组相同；晚期凋亡以 TA 最高、C 最低。但按 E:T 4:1 投入，无杀伤时 GFP⁺ 应占细胞约 20%，实测只有 3 到 4%（K 管 74%），约 85% 的靶细胞已裂解并丢失 GFP，这里统计的是残留靶细胞的状态，组间差异建立在约 3% 的幸存细胞上，且方向与"TGF-β 抑制杀伤"的预期相反，不作为结论。统计：C / T / TA one-way ANOVA + Tukey（n = 3 管技术重复）。</a:t>
            </a:r>
            <a:endParaRPr sz="1050" b="0">
              <a:latin typeface="Arial" panose="020B0704020202020204"/>
              <a:ea typeface="微软雅黑"/>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试验日期：2026-09-29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1" name="文本框 4"/>
          <p:cNvSpPr txBox="1"/>
          <p:nvPr/>
        </p:nvSpPr>
        <p:spPr>
          <a:xfrm>
            <a:off x="1136783" y="197367"/>
            <a:ext cx="10317193" cy="461665"/>
          </a:xfrm>
          <a:prstGeom prst="rect">
            <a:avLst/>
          </a:prstGeom>
          <a:noFill/>
        </p:spPr>
        <p:txBody>
          <a:bodyPr wrap="square">
            <a:spAutoFit/>
          </a:bodyPr>
          <a:lstStyle/>
          <a:p>
            <a:pPr algn="ctr">
              <a:spcBef>
                <a:spcPts val="600"/>
              </a:spcBef>
              <a:spcAft>
                <a:spcPts val="240"/>
              </a:spcAft>
            </a:pPr>
            <a:r>
              <a:rPr lang="zh-CN" altLang="zh-CN" sz="22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rPr>
              <a:t>初步结论与下一步</a:t>
            </a:r>
            <a:endParaRPr lang="zh-CN" altLang="zh-CN" sz="2200" b="1" dirty="0">
              <a:solidFill>
                <a:schemeClr val="tx2">
                  <a:lumMod val="75000"/>
                </a:schemeClr>
              </a:solidFill>
              <a:latin typeface="Arial" panose="020B0704020202020204" pitchFamily="34" charset="0"/>
              <a:ea typeface="微软雅黑" panose="020B0503020204020204" charset="-122"/>
              <a:cs typeface="Arial" panose="020B0704020202020204" pitchFamily="34" charset="0"/>
            </a:endParaRPr>
          </a:p>
        </p:txBody>
      </p:sp>
      <p:cxnSp>
        <p:nvCxnSpPr>
          <p:cNvPr id="5012" name="直接连接符 9"/>
          <p:cNvCxnSpPr/>
          <p:nvPr/>
        </p:nvCxnSpPr>
        <p:spPr>
          <a:xfrm>
            <a:off x="-4235" y="798766"/>
            <a:ext cx="12204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5013" name="文本框 11"/>
          <p:cNvSpPr txBox="1"/>
          <p:nvPr/>
        </p:nvSpPr>
        <p:spPr>
          <a:xfrm>
            <a:off x="-5127" y="214635"/>
            <a:ext cx="6781800" cy="40011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000" b="1" dirty="0">
                <a:solidFill>
                  <a:schemeClr val="accent4">
                    <a:lumMod val="50000"/>
                  </a:schemeClr>
                </a:solidFill>
                <a:latin typeface="微软雅黑" panose="020B0503020204020204" charset="-122"/>
                <a:ea typeface="微软雅黑" panose="020B0503020204020204" charset="-122"/>
              </a:rPr>
              <a:t>研究内容</a:t>
            </a:r>
            <a:endParaRPr lang="en-US" altLang="zh-CN" sz="2000" b="1" dirty="0">
              <a:solidFill>
                <a:schemeClr val="accent4">
                  <a:lumMod val="50000"/>
                </a:schemeClr>
              </a:solidFill>
              <a:latin typeface="微软雅黑" panose="020B0503020204020204" charset="-122"/>
              <a:ea typeface="微软雅黑" panose="020B0503020204020204" charset="-122"/>
            </a:endParaRPr>
          </a:p>
        </p:txBody>
      </p:sp>
      <p:sp>
        <p:nvSpPr>
          <p:cNvPr id="5014" name="灯片编号占位符 3"/>
          <p:cNvSpPr>
            <a:spLocks noGrp="1"/>
          </p:cNvSpPr>
          <p:nvPr>
            <p:ph type="sldNum" sz="quarter" idx="12"/>
          </p:nvPr>
        </p:nvSpPr>
        <p:spPr>
          <a:xfrm>
            <a:off x="9284368" y="6418227"/>
            <a:ext cx="2743200" cy="365125"/>
          </a:xfrm>
        </p:spPr>
        <p:txBody>
          <a:bodyPr/>
          <a:lstStyle/>
          <a:p>
            <a:fld id="{4CEFB646-4F86-4833-AB7E-7D9B7FD93CB5}" type="slidenum">
              <a:rPr lang="zh-CN" altLang="en-US" smtClean="0"/>
            </a:fld>
            <a:endParaRPr lang="zh-CN" altLang="en-US"/>
          </a:p>
        </p:txBody>
      </p:sp>
      <p:sp>
        <p:nvSpPr>
          <p:cNvPr id="5015" name="TextBox 5014"/>
          <p:cNvSpPr txBox="1"/>
          <p:nvPr/>
        </p:nvSpPr>
        <p:spPr>
          <a:xfrm>
            <a:off x="457200" y="960120"/>
            <a:ext cx="11247120" cy="5394960"/>
          </a:xfrm>
          <a:prstGeom prst="rect">
            <a:avLst/>
          </a:prstGeom>
          <a:noFill/>
        </p:spPr>
        <p:txBody>
          <a:bodyPr wrap="square">
            <a:spAutoFit/>
          </a:bodyPr>
          <a:lstStyle/>
          <a:p>
            <a:r>
              <a:rPr sz="1250" b="0">
                <a:latin typeface="Arial" panose="020B0704020202020204"/>
                <a:ea typeface="微软雅黑"/>
              </a:rPr>
              <a:t>可以说的：</a:t>
            </a:r>
            <a:endParaRPr sz="1250" b="0">
              <a:latin typeface="Arial" panose="020B0704020202020204"/>
              <a:ea typeface="微软雅黑"/>
            </a:endParaRPr>
          </a:p>
          <a:p>
            <a:r>
              <a:rPr sz="1250" b="0">
                <a:latin typeface="Arial" panose="020B0704020202020204"/>
                <a:ea typeface="微软雅黑"/>
              </a:rPr>
              <a:t>• NK-92MI 对 K562-GFP 的杀伤在本条件下接近饱和：所有 NK 组残留 GFP⁺ 靶细胞仅占事件的 3 到 4%（按 E:T 4:1 投入应约 20%，即约 85% 的靶细胞已消失），残留细胞中仍有约半数处于凋亡；K562 单独管自发凋亡 27%（早期 15%、晚期 11%），靶细胞状态本身偏差。</a:t>
            </a:r>
            <a:endParaRPr sz="1250" b="0">
              <a:latin typeface="Arial" panose="020B0704020202020204"/>
              <a:ea typeface="微软雅黑"/>
            </a:endParaRPr>
          </a:p>
          <a:p>
            <a:r>
              <a:rPr sz="1250" b="0">
                <a:latin typeface="Arial" panose="020B0704020202020204"/>
                <a:ea typeface="微软雅黑"/>
              </a:rPr>
              <a:t>• 四个预处理组之间的差异（晚期凋亡 12% 到 24%，特异裂解 29% 到 49%）落在饱和区的残留细胞上，不能用来判断 TGF-β 或醋酸钠对杀伤的影响。</a:t>
            </a:r>
            <a:endParaRPr sz="1250" b="0">
              <a:latin typeface="Arial" panose="020B0704020202020204"/>
              <a:ea typeface="微软雅黑"/>
            </a:endParaRPr>
          </a:p>
          <a:p>
            <a:endParaRPr sz="1250"/>
          </a:p>
          <a:p>
            <a:r>
              <a:rPr sz="1250" b="0">
                <a:latin typeface="Arial" panose="020B0704020202020204"/>
                <a:ea typeface="微软雅黑"/>
              </a:rPr>
              <a:t>为什么只作初步观察：</a:t>
            </a:r>
            <a:endParaRPr sz="1250" b="0">
              <a:latin typeface="Arial" panose="020B0704020202020204"/>
              <a:ea typeface="微软雅黑"/>
            </a:endParaRPr>
          </a:p>
          <a:p>
            <a:r>
              <a:rPr sz="1250" b="0">
                <a:latin typeface="Arial" panose="020B0704020202020204"/>
                <a:ea typeface="微软雅黑"/>
              </a:rPr>
              <a:t>• NK-92MI 为 IL-2 自分泌的永生化细胞株，对 TGF-β 的"退化"（效应分子下降、杀伤减弱）反应有限，第四部分也只见到 Granzyme B 下降而 Perforin、Ki67 变化不显著；用它做杀伤实验难以体现预处理的差别。</a:t>
            </a:r>
            <a:endParaRPr sz="1250" b="0">
              <a:latin typeface="Arial" panose="020B0704020202020204"/>
              <a:ea typeface="微软雅黑"/>
            </a:endParaRPr>
          </a:p>
          <a:p>
            <a:endParaRPr sz="1250"/>
          </a:p>
          <a:p>
            <a:r>
              <a:rPr sz="1250" b="0">
                <a:latin typeface="Arial" panose="020B0704020202020204"/>
                <a:ea typeface="微软雅黑"/>
              </a:rPr>
              <a:t>下一步：</a:t>
            </a:r>
            <a:endParaRPr sz="1250" b="0">
              <a:latin typeface="Arial" panose="020B0704020202020204"/>
              <a:ea typeface="微软雅黑"/>
            </a:endParaRPr>
          </a:p>
          <a:p>
            <a:r>
              <a:rPr sz="1250" b="0">
                <a:latin typeface="Arial" panose="020B0704020202020204"/>
                <a:ea typeface="微软雅黑"/>
              </a:rPr>
              <a:t>• 改用外周血 NK（PB-NK）做预处理与杀伤。</a:t>
            </a:r>
            <a:endParaRPr sz="1250" b="0">
              <a:latin typeface="Arial" panose="020B0704020202020204"/>
              <a:ea typeface="微软雅黑"/>
            </a:endParaRPr>
          </a:p>
          <a:p>
            <a:r>
              <a:rPr sz="1250" b="0">
                <a:latin typeface="Arial" panose="020B0704020202020204"/>
                <a:ea typeface="微软雅黑"/>
              </a:rPr>
              <a:t>• 缩短共孵育时间或降低 E:T（如 4 h，E:T 1:1、2.5:1、5:1），让对照组杀伤落在 20 到 50% 区间。</a:t>
            </a:r>
            <a:endParaRPr sz="1250" b="0">
              <a:latin typeface="Arial" panose="020B0704020202020204"/>
              <a:ea typeface="微软雅黑"/>
            </a:endParaRPr>
          </a:p>
          <a:p>
            <a:r>
              <a:rPr sz="1250" b="0">
                <a:latin typeface="Arial" panose="020B0704020202020204"/>
                <a:ea typeface="微软雅黑"/>
              </a:rPr>
              <a:t>• 加计数微球或固定采集体积，报每孔存活 K562 绝对数，不受 GFP 丢失影响；核对共孵育时间。</a:t>
            </a:r>
            <a:endParaRPr sz="1250" b="0">
              <a:latin typeface="Arial" panose="020B0704020202020204"/>
              <a:ea typeface="微软雅黑"/>
            </a:endParaRPr>
          </a:p>
          <a:p>
            <a:r>
              <a:rPr sz="1250" b="0">
                <a:latin typeface="Arial" panose="020B0704020202020204"/>
                <a:ea typeface="微软雅黑"/>
              </a:rPr>
              <a:t>• 上机前更换新鲜 K562，降低自发凋亡本底。</a:t>
            </a:r>
            <a:endParaRPr sz="1250" b="0">
              <a:latin typeface="Arial" panose="020B0704020202020204"/>
              <a:ea typeface="微软雅黑"/>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试验日期：2026-09-29</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0000" y="288000"/>
            <a:ext cx="11160000" cy="540000"/>
          </a:xfrm>
          <a:prstGeom prst="rect">
            <a:avLst/>
          </a:prstGeom>
          <a:noFill/>
        </p:spPr>
        <p:txBody>
          <a:bodyPr wrap="square" lIns="0" tIns="0" rIns="0" bIns="0">
            <a:spAutoFit/>
          </a:bodyPr>
          <a:lstStyle/>
          <a:p>
            <a:pPr algn="l">
              <a:lnSpc>
                <a:spcPct val="135000"/>
              </a:lnSpc>
            </a:pPr>
            <a:r>
              <a:rPr sz="2200" b="1">
                <a:solidFill>
                  <a:srgbClr val="000000"/>
                </a:solidFill>
                <a:latin typeface="微软雅黑"/>
                <a:ea typeface="微软雅黑"/>
                <a:cs typeface="微软雅黑"/>
              </a:rPr>
              <a:t>门控策略</a:t>
            </a:r>
            <a:endParaRPr sz="2200" b="1">
              <a:solidFill>
                <a:srgbClr val="000000"/>
              </a:solidFill>
              <a:latin typeface="微软雅黑"/>
              <a:ea typeface="微软雅黑"/>
              <a:cs typeface="微软雅黑"/>
            </a:endParaRPr>
          </a:p>
        </p:txBody>
      </p:sp>
      <p:sp>
        <p:nvSpPr>
          <p:cNvPr id="3" name="TextBox 2"/>
          <p:cNvSpPr txBox="1"/>
          <p:nvPr/>
        </p:nvSpPr>
        <p:spPr>
          <a:xfrm>
            <a:off x="540000" y="756000"/>
            <a:ext cx="5760000" cy="216000"/>
          </a:xfrm>
          <a:prstGeom prst="rect">
            <a:avLst/>
          </a:prstGeom>
          <a:noFill/>
        </p:spPr>
        <p:txBody>
          <a:bodyPr wrap="square" lIns="0" tIns="0" rIns="0" bIns="0">
            <a:spAutoFit/>
          </a:bodyPr>
          <a:lstStyle/>
          <a:p>
            <a:pPr algn="l">
              <a:lnSpc>
                <a:spcPct val="135000"/>
              </a:lnSpc>
            </a:pPr>
            <a:r>
              <a:rPr sz="1100" b="0">
                <a:solidFill>
                  <a:srgbClr val="000000"/>
                </a:solidFill>
                <a:latin typeface="微软雅黑"/>
                <a:ea typeface="微软雅黑"/>
                <a:cs typeface="微软雅黑"/>
              </a:rPr>
              <a:t>Experiment_105（4C，Day 4 对照管）</a:t>
            </a:r>
            <a:endParaRPr sz="1100" b="0">
              <a:solidFill>
                <a:srgbClr val="000000"/>
              </a:solidFill>
              <a:latin typeface="微软雅黑"/>
              <a:ea typeface="微软雅黑"/>
              <a:cs typeface="微软雅黑"/>
            </a:endParaRPr>
          </a:p>
        </p:txBody>
      </p:sp>
      <p:sp>
        <p:nvSpPr>
          <p:cNvPr id="4" name="TextBox 3"/>
          <p:cNvSpPr txBox="1"/>
          <p:nvPr/>
        </p:nvSpPr>
        <p:spPr>
          <a:xfrm>
            <a:off x="540000" y="1080000"/>
            <a:ext cx="1584000" cy="216000"/>
          </a:xfrm>
          <a:prstGeom prst="rect">
            <a:avLst/>
          </a:prstGeom>
          <a:noFill/>
        </p:spPr>
        <p:txBody>
          <a:bodyPr wrap="square" lIns="0" tIns="0" rIns="0" bIns="0">
            <a:spAutoFit/>
          </a:bodyPr>
          <a:lstStyle/>
          <a:p>
            <a:pPr algn="l">
              <a:lnSpc>
                <a:spcPct val="135000"/>
              </a:lnSpc>
            </a:pPr>
            <a:r>
              <a:rPr sz="1150" b="1">
                <a:solidFill>
                  <a:srgbClr val="000000"/>
                </a:solidFill>
                <a:latin typeface="微软雅黑"/>
                <a:ea typeface="微软雅黑"/>
                <a:cs typeface="微软雅黑"/>
              </a:rPr>
              <a:t>1</a:t>
            </a:r>
            <a:endParaRPr sz="1150" b="1">
              <a:solidFill>
                <a:srgbClr val="000000"/>
              </a:solidFill>
              <a:latin typeface="微软雅黑"/>
              <a:ea typeface="微软雅黑"/>
              <a:cs typeface="微软雅黑"/>
            </a:endParaRPr>
          </a:p>
        </p:txBody>
      </p:sp>
      <p:pic>
        <p:nvPicPr>
          <p:cNvPr id="5" name="Picture 4" descr="门控_r1c1.png"/>
          <p:cNvPicPr>
            <a:picLocks noChangeAspect="1"/>
          </p:cNvPicPr>
          <p:nvPr/>
        </p:nvPicPr>
        <p:blipFill>
          <a:blip r:embed="rId1"/>
          <a:stretch>
            <a:fillRect/>
          </a:stretch>
        </p:blipFill>
        <p:spPr>
          <a:xfrm>
            <a:off x="540000" y="1296000"/>
            <a:ext cx="1584000" cy="1530000"/>
          </a:xfrm>
          <a:prstGeom prst="rect">
            <a:avLst/>
          </a:prstGeom>
        </p:spPr>
      </p:pic>
      <p:sp>
        <p:nvSpPr>
          <p:cNvPr id="6" name="TextBox 5"/>
          <p:cNvSpPr txBox="1"/>
          <p:nvPr/>
        </p:nvSpPr>
        <p:spPr>
          <a:xfrm>
            <a:off x="2268000" y="1080000"/>
            <a:ext cx="1584000" cy="216000"/>
          </a:xfrm>
          <a:prstGeom prst="rect">
            <a:avLst/>
          </a:prstGeom>
          <a:noFill/>
        </p:spPr>
        <p:txBody>
          <a:bodyPr wrap="square" lIns="0" tIns="0" rIns="0" bIns="0">
            <a:spAutoFit/>
          </a:bodyPr>
          <a:lstStyle/>
          <a:p>
            <a:pPr algn="l">
              <a:lnSpc>
                <a:spcPct val="135000"/>
              </a:lnSpc>
            </a:pPr>
            <a:r>
              <a:rPr sz="1150" b="1">
                <a:solidFill>
                  <a:srgbClr val="000000"/>
                </a:solidFill>
                <a:latin typeface="微软雅黑"/>
                <a:ea typeface="微软雅黑"/>
                <a:cs typeface="微软雅黑"/>
              </a:rPr>
              <a:t>2</a:t>
            </a:r>
            <a:endParaRPr sz="1150" b="1">
              <a:solidFill>
                <a:srgbClr val="000000"/>
              </a:solidFill>
              <a:latin typeface="微软雅黑"/>
              <a:ea typeface="微软雅黑"/>
              <a:cs typeface="微软雅黑"/>
            </a:endParaRPr>
          </a:p>
        </p:txBody>
      </p:sp>
      <p:pic>
        <p:nvPicPr>
          <p:cNvPr id="7" name="Picture 6" descr="门控_r1c2.png"/>
          <p:cNvPicPr>
            <a:picLocks noChangeAspect="1"/>
          </p:cNvPicPr>
          <p:nvPr/>
        </p:nvPicPr>
        <p:blipFill>
          <a:blip r:embed="rId2"/>
          <a:stretch>
            <a:fillRect/>
          </a:stretch>
        </p:blipFill>
        <p:spPr>
          <a:xfrm>
            <a:off x="2268000" y="1296000"/>
            <a:ext cx="1584000" cy="1530000"/>
          </a:xfrm>
          <a:prstGeom prst="rect">
            <a:avLst/>
          </a:prstGeom>
        </p:spPr>
      </p:pic>
      <p:sp>
        <p:nvSpPr>
          <p:cNvPr id="8" name="TextBox 7"/>
          <p:cNvSpPr txBox="1"/>
          <p:nvPr/>
        </p:nvSpPr>
        <p:spPr>
          <a:xfrm>
            <a:off x="3996000" y="1080000"/>
            <a:ext cx="1584000" cy="216000"/>
          </a:xfrm>
          <a:prstGeom prst="rect">
            <a:avLst/>
          </a:prstGeom>
          <a:noFill/>
        </p:spPr>
        <p:txBody>
          <a:bodyPr wrap="square" lIns="0" tIns="0" rIns="0" bIns="0">
            <a:spAutoFit/>
          </a:bodyPr>
          <a:lstStyle/>
          <a:p>
            <a:pPr algn="l">
              <a:lnSpc>
                <a:spcPct val="135000"/>
              </a:lnSpc>
            </a:pPr>
            <a:r>
              <a:rPr sz="1150" b="1">
                <a:solidFill>
                  <a:srgbClr val="000000"/>
                </a:solidFill>
                <a:latin typeface="微软雅黑"/>
                <a:ea typeface="微软雅黑"/>
                <a:cs typeface="微软雅黑"/>
              </a:rPr>
              <a:t>3</a:t>
            </a:r>
            <a:endParaRPr sz="1150" b="1">
              <a:solidFill>
                <a:srgbClr val="000000"/>
              </a:solidFill>
              <a:latin typeface="微软雅黑"/>
              <a:ea typeface="微软雅黑"/>
              <a:cs typeface="微软雅黑"/>
            </a:endParaRPr>
          </a:p>
        </p:txBody>
      </p:sp>
      <p:pic>
        <p:nvPicPr>
          <p:cNvPr id="9" name="Picture 8" descr="门控_r1c3.png"/>
          <p:cNvPicPr>
            <a:picLocks noChangeAspect="1"/>
          </p:cNvPicPr>
          <p:nvPr/>
        </p:nvPicPr>
        <p:blipFill>
          <a:blip r:embed="rId3"/>
          <a:stretch>
            <a:fillRect/>
          </a:stretch>
        </p:blipFill>
        <p:spPr>
          <a:xfrm>
            <a:off x="3996000" y="1296000"/>
            <a:ext cx="1584000" cy="1530000"/>
          </a:xfrm>
          <a:prstGeom prst="rect">
            <a:avLst/>
          </a:prstGeom>
        </p:spPr>
      </p:pic>
      <p:sp>
        <p:nvSpPr>
          <p:cNvPr id="10" name="TextBox 9"/>
          <p:cNvSpPr txBox="1"/>
          <p:nvPr/>
        </p:nvSpPr>
        <p:spPr>
          <a:xfrm>
            <a:off x="540000" y="2880000"/>
            <a:ext cx="1584000" cy="216000"/>
          </a:xfrm>
          <a:prstGeom prst="rect">
            <a:avLst/>
          </a:prstGeom>
          <a:noFill/>
        </p:spPr>
        <p:txBody>
          <a:bodyPr wrap="square" lIns="0" tIns="0" rIns="0" bIns="0">
            <a:spAutoFit/>
          </a:bodyPr>
          <a:lstStyle/>
          <a:p>
            <a:pPr algn="l">
              <a:lnSpc>
                <a:spcPct val="135000"/>
              </a:lnSpc>
            </a:pPr>
            <a:r>
              <a:rPr sz="1150" b="1">
                <a:solidFill>
                  <a:srgbClr val="000000"/>
                </a:solidFill>
                <a:latin typeface="微软雅黑"/>
                <a:ea typeface="微软雅黑"/>
                <a:cs typeface="微软雅黑"/>
              </a:rPr>
              <a:t>4</a:t>
            </a:r>
            <a:endParaRPr sz="1150" b="1">
              <a:solidFill>
                <a:srgbClr val="000000"/>
              </a:solidFill>
              <a:latin typeface="微软雅黑"/>
              <a:ea typeface="微软雅黑"/>
              <a:cs typeface="微软雅黑"/>
            </a:endParaRPr>
          </a:p>
        </p:txBody>
      </p:sp>
      <p:pic>
        <p:nvPicPr>
          <p:cNvPr id="11" name="Picture 10" descr="门控_r2c1.png"/>
          <p:cNvPicPr>
            <a:picLocks noChangeAspect="1"/>
          </p:cNvPicPr>
          <p:nvPr/>
        </p:nvPicPr>
        <p:blipFill>
          <a:blip r:embed="rId4"/>
          <a:stretch>
            <a:fillRect/>
          </a:stretch>
        </p:blipFill>
        <p:spPr>
          <a:xfrm>
            <a:off x="540000" y="3096000"/>
            <a:ext cx="1584000" cy="1530000"/>
          </a:xfrm>
          <a:prstGeom prst="rect">
            <a:avLst/>
          </a:prstGeom>
        </p:spPr>
      </p:pic>
      <p:sp>
        <p:nvSpPr>
          <p:cNvPr id="12" name="TextBox 11"/>
          <p:cNvSpPr txBox="1"/>
          <p:nvPr/>
        </p:nvSpPr>
        <p:spPr>
          <a:xfrm>
            <a:off x="2268000" y="2880000"/>
            <a:ext cx="1584000" cy="216000"/>
          </a:xfrm>
          <a:prstGeom prst="rect">
            <a:avLst/>
          </a:prstGeom>
          <a:noFill/>
        </p:spPr>
        <p:txBody>
          <a:bodyPr wrap="square" lIns="0" tIns="0" rIns="0" bIns="0">
            <a:spAutoFit/>
          </a:bodyPr>
          <a:lstStyle/>
          <a:p>
            <a:pPr algn="l">
              <a:lnSpc>
                <a:spcPct val="135000"/>
              </a:lnSpc>
            </a:pPr>
            <a:r>
              <a:rPr sz="1150" b="1">
                <a:solidFill>
                  <a:srgbClr val="000000"/>
                </a:solidFill>
                <a:latin typeface="微软雅黑"/>
                <a:ea typeface="微软雅黑"/>
                <a:cs typeface="微软雅黑"/>
              </a:rPr>
              <a:t>5</a:t>
            </a:r>
            <a:endParaRPr sz="1150" b="1">
              <a:solidFill>
                <a:srgbClr val="000000"/>
              </a:solidFill>
              <a:latin typeface="微软雅黑"/>
              <a:ea typeface="微软雅黑"/>
              <a:cs typeface="微软雅黑"/>
            </a:endParaRPr>
          </a:p>
        </p:txBody>
      </p:sp>
      <p:pic>
        <p:nvPicPr>
          <p:cNvPr id="13" name="Picture 12" descr="门控_r2c2.png"/>
          <p:cNvPicPr>
            <a:picLocks noChangeAspect="1"/>
          </p:cNvPicPr>
          <p:nvPr/>
        </p:nvPicPr>
        <p:blipFill>
          <a:blip r:embed="rId5"/>
          <a:stretch>
            <a:fillRect/>
          </a:stretch>
        </p:blipFill>
        <p:spPr>
          <a:xfrm>
            <a:off x="2268000" y="3096000"/>
            <a:ext cx="1584000" cy="1530000"/>
          </a:xfrm>
          <a:prstGeom prst="rect">
            <a:avLst/>
          </a:prstGeom>
        </p:spPr>
      </p:pic>
      <p:sp>
        <p:nvSpPr>
          <p:cNvPr id="14" name="TextBox 13"/>
          <p:cNvSpPr txBox="1"/>
          <p:nvPr/>
        </p:nvSpPr>
        <p:spPr>
          <a:xfrm>
            <a:off x="3996000" y="2880000"/>
            <a:ext cx="1584000" cy="216000"/>
          </a:xfrm>
          <a:prstGeom prst="rect">
            <a:avLst/>
          </a:prstGeom>
          <a:noFill/>
        </p:spPr>
        <p:txBody>
          <a:bodyPr wrap="square" lIns="0" tIns="0" rIns="0" bIns="0">
            <a:spAutoFit/>
          </a:bodyPr>
          <a:lstStyle/>
          <a:p>
            <a:pPr algn="l">
              <a:lnSpc>
                <a:spcPct val="135000"/>
              </a:lnSpc>
            </a:pPr>
            <a:r>
              <a:rPr sz="1150" b="1">
                <a:solidFill>
                  <a:srgbClr val="000000"/>
                </a:solidFill>
                <a:latin typeface="微软雅黑"/>
                <a:ea typeface="微软雅黑"/>
                <a:cs typeface="微软雅黑"/>
              </a:rPr>
              <a:t>6</a:t>
            </a:r>
            <a:endParaRPr sz="1150" b="1">
              <a:solidFill>
                <a:srgbClr val="000000"/>
              </a:solidFill>
              <a:latin typeface="微软雅黑"/>
              <a:ea typeface="微软雅黑"/>
              <a:cs typeface="微软雅黑"/>
            </a:endParaRPr>
          </a:p>
        </p:txBody>
      </p:sp>
      <p:pic>
        <p:nvPicPr>
          <p:cNvPr id="15" name="Picture 14" descr="门控_r2c3.png"/>
          <p:cNvPicPr>
            <a:picLocks noChangeAspect="1"/>
          </p:cNvPicPr>
          <p:nvPr/>
        </p:nvPicPr>
        <p:blipFill>
          <a:blip r:embed="rId6"/>
          <a:stretch>
            <a:fillRect/>
          </a:stretch>
        </p:blipFill>
        <p:spPr>
          <a:xfrm>
            <a:off x="3996000" y="3096000"/>
            <a:ext cx="1584000" cy="1530000"/>
          </a:xfrm>
          <a:prstGeom prst="rect">
            <a:avLst/>
          </a:prstGeom>
        </p:spPr>
      </p:pic>
      <p:sp>
        <p:nvSpPr>
          <p:cNvPr id="16" name="TextBox 15"/>
          <p:cNvSpPr txBox="1"/>
          <p:nvPr/>
        </p:nvSpPr>
        <p:spPr>
          <a:xfrm>
            <a:off x="540000" y="4680000"/>
            <a:ext cx="1584000" cy="216000"/>
          </a:xfrm>
          <a:prstGeom prst="rect">
            <a:avLst/>
          </a:prstGeom>
          <a:noFill/>
        </p:spPr>
        <p:txBody>
          <a:bodyPr wrap="square" lIns="0" tIns="0" rIns="0" bIns="0">
            <a:spAutoFit/>
          </a:bodyPr>
          <a:lstStyle/>
          <a:p>
            <a:pPr algn="l">
              <a:lnSpc>
                <a:spcPct val="135000"/>
              </a:lnSpc>
            </a:pPr>
            <a:r>
              <a:rPr sz="1150" b="1">
                <a:solidFill>
                  <a:srgbClr val="000000"/>
                </a:solidFill>
                <a:latin typeface="微软雅黑"/>
                <a:ea typeface="微软雅黑"/>
                <a:cs typeface="微软雅黑"/>
              </a:rPr>
              <a:t>7</a:t>
            </a:r>
            <a:endParaRPr sz="1150" b="1">
              <a:solidFill>
                <a:srgbClr val="000000"/>
              </a:solidFill>
              <a:latin typeface="微软雅黑"/>
              <a:ea typeface="微软雅黑"/>
              <a:cs typeface="微软雅黑"/>
            </a:endParaRPr>
          </a:p>
        </p:txBody>
      </p:sp>
      <p:pic>
        <p:nvPicPr>
          <p:cNvPr id="17" name="Picture 16" descr="门控_r2c4.png"/>
          <p:cNvPicPr>
            <a:picLocks noChangeAspect="1"/>
          </p:cNvPicPr>
          <p:nvPr/>
        </p:nvPicPr>
        <p:blipFill>
          <a:blip r:embed="rId7"/>
          <a:stretch>
            <a:fillRect/>
          </a:stretch>
        </p:blipFill>
        <p:spPr>
          <a:xfrm>
            <a:off x="540000" y="4896000"/>
            <a:ext cx="1584000" cy="1530000"/>
          </a:xfrm>
          <a:prstGeom prst="rect">
            <a:avLst/>
          </a:prstGeom>
        </p:spPr>
      </p:pic>
      <p:graphicFrame>
        <p:nvGraphicFramePr>
          <p:cNvPr id="18" name="Table 17"/>
          <p:cNvGraphicFramePr>
            <a:graphicFrameLocks noGrp="1"/>
          </p:cNvGraphicFramePr>
          <p:nvPr/>
        </p:nvGraphicFramePr>
        <p:xfrm>
          <a:off x="5976000" y="1296000"/>
          <a:ext cx="5867998" cy="2073600"/>
        </p:xfrm>
        <a:graphic>
          <a:graphicData uri="http://schemas.openxmlformats.org/drawingml/2006/table">
            <a:tbl>
              <a:tblPr>
                <a:tableStyleId>{5C22544A-7EE6-4342-B048-85BDC9FD1C3A}</a:tableStyleId>
              </a:tblPr>
              <a:tblGrid>
                <a:gridCol w="533454"/>
                <a:gridCol w="2667272"/>
                <a:gridCol w="2667272"/>
              </a:tblGrid>
              <a:tr h="259200">
                <a:tc>
                  <a:txBody>
                    <a:bodyPr/>
                    <a:lstStyle/>
                    <a:p>
                      <a:pPr algn="l"/>
                      <a:endParaRPr sz="1150" b="1">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15875" cap="flat" cmpd="sng" algn="ctr">
                      <a:solidFill>
                        <a:srgbClr val="000000"/>
                      </a:solidFill>
                    </a:lnB>
                    <a:noFill/>
                  </a:tcPr>
                </a:tc>
                <a:tc>
                  <a:txBody>
                    <a:bodyPr/>
                    <a:lstStyle/>
                    <a:p>
                      <a:pPr algn="ctr"/>
                      <a:r>
                        <a:rPr sz="1150" b="1">
                          <a:solidFill>
                            <a:srgbClr val="000000"/>
                          </a:solidFill>
                          <a:latin typeface="微软雅黑"/>
                          <a:ea typeface="微软雅黑"/>
                          <a:cs typeface="微软雅黑"/>
                        </a:rPr>
                        <a:t>双参数</a:t>
                      </a:r>
                      <a:endParaRPr sz="1150" b="1">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15875" cap="flat" cmpd="sng" algn="ctr">
                      <a:solidFill>
                        <a:srgbClr val="000000"/>
                      </a:solidFill>
                    </a:lnB>
                    <a:noFill/>
                  </a:tcPr>
                </a:tc>
                <a:tc>
                  <a:txBody>
                    <a:bodyPr/>
                    <a:lstStyle/>
                    <a:p>
                      <a:pPr algn="ctr"/>
                      <a:r>
                        <a:rPr sz="1150" b="1">
                          <a:solidFill>
                            <a:srgbClr val="000000"/>
                          </a:solidFill>
                          <a:latin typeface="微软雅黑"/>
                          <a:ea typeface="微软雅黑"/>
                          <a:cs typeface="微软雅黑"/>
                        </a:rPr>
                        <a:t>门控群体</a:t>
                      </a:r>
                      <a:endParaRPr sz="1150" b="1">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15875" cap="flat" cmpd="sng" algn="ctr">
                      <a:solidFill>
                        <a:srgbClr val="000000"/>
                      </a:solidFill>
                    </a:lnB>
                    <a:noFill/>
                  </a:tcPr>
                </a:tc>
              </a:tr>
              <a:tr h="259200">
                <a:tc>
                  <a:txBody>
                    <a:bodyPr/>
                    <a:lstStyle/>
                    <a:p>
                      <a:pPr algn="l"/>
                      <a:r>
                        <a:rPr sz="1150" b="0">
                          <a:solidFill>
                            <a:srgbClr val="000000"/>
                          </a:solidFill>
                          <a:latin typeface="微软雅黑"/>
                          <a:ea typeface="微软雅黑"/>
                          <a:cs typeface="微软雅黑"/>
                        </a:rPr>
                        <a:t>1</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c>
                  <a:txBody>
                    <a:bodyPr/>
                    <a:lstStyle/>
                    <a:p>
                      <a:pPr algn="ctr"/>
                      <a:r>
                        <a:rPr sz="1150" b="0">
                          <a:solidFill>
                            <a:srgbClr val="000000"/>
                          </a:solidFill>
                          <a:latin typeface="微软雅黑"/>
                          <a:ea typeface="微软雅黑"/>
                          <a:cs typeface="微软雅黑"/>
                        </a:rPr>
                        <a:t>FSC-A / SSC-A</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c>
                  <a:txBody>
                    <a:bodyPr/>
                    <a:lstStyle/>
                    <a:p>
                      <a:pPr algn="ctr"/>
                      <a:r>
                        <a:rPr sz="1150" b="0">
                          <a:solidFill>
                            <a:srgbClr val="000000"/>
                          </a:solidFill>
                          <a:latin typeface="微软雅黑"/>
                          <a:ea typeface="微软雅黑"/>
                          <a:cs typeface="微软雅黑"/>
                        </a:rPr>
                        <a:t>细胞（排除碎片）</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r>
              <a:tr h="259200">
                <a:tc>
                  <a:txBody>
                    <a:bodyPr/>
                    <a:lstStyle/>
                    <a:p>
                      <a:pPr algn="l"/>
                      <a:r>
                        <a:rPr sz="1150" b="0">
                          <a:solidFill>
                            <a:srgbClr val="000000"/>
                          </a:solidFill>
                          <a:latin typeface="微软雅黑"/>
                          <a:ea typeface="微软雅黑"/>
                          <a:cs typeface="微软雅黑"/>
                        </a:rPr>
                        <a:t>2</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c>
                  <a:txBody>
                    <a:bodyPr/>
                    <a:lstStyle/>
                    <a:p>
                      <a:pPr algn="ctr"/>
                      <a:r>
                        <a:rPr sz="1150" b="0">
                          <a:solidFill>
                            <a:srgbClr val="000000"/>
                          </a:solidFill>
                          <a:latin typeface="微软雅黑"/>
                          <a:ea typeface="微软雅黑"/>
                          <a:cs typeface="微软雅黑"/>
                        </a:rPr>
                        <a:t>FSC-A / FSC-H</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c>
                  <a:txBody>
                    <a:bodyPr/>
                    <a:lstStyle/>
                    <a:p>
                      <a:pPr algn="ctr"/>
                      <a:r>
                        <a:rPr sz="1150" b="0">
                          <a:solidFill>
                            <a:srgbClr val="000000"/>
                          </a:solidFill>
                          <a:latin typeface="微软雅黑"/>
                          <a:ea typeface="微软雅黑"/>
                          <a:cs typeface="微软雅黑"/>
                        </a:rPr>
                        <a:t>单细胞（排除粘连体）</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r>
              <a:tr h="259200">
                <a:tc>
                  <a:txBody>
                    <a:bodyPr/>
                    <a:lstStyle/>
                    <a:p>
                      <a:pPr algn="l"/>
                      <a:r>
                        <a:rPr sz="1150" b="0">
                          <a:solidFill>
                            <a:srgbClr val="000000"/>
                          </a:solidFill>
                          <a:latin typeface="微软雅黑"/>
                          <a:ea typeface="微软雅黑"/>
                          <a:cs typeface="微软雅黑"/>
                        </a:rPr>
                        <a:t>3</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c>
                  <a:txBody>
                    <a:bodyPr/>
                    <a:lstStyle/>
                    <a:p>
                      <a:pPr algn="ctr"/>
                      <a:r>
                        <a:rPr sz="1150" b="0">
                          <a:solidFill>
                            <a:srgbClr val="000000"/>
                          </a:solidFill>
                          <a:latin typeface="微软雅黑"/>
                          <a:ea typeface="微软雅黑"/>
                          <a:cs typeface="微软雅黑"/>
                        </a:rPr>
                        <a:t>APC-Cy7 / SSC-H</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c>
                  <a:txBody>
                    <a:bodyPr/>
                    <a:lstStyle/>
                    <a:p>
                      <a:pPr algn="ctr"/>
                      <a:r>
                        <a:rPr sz="1150" b="0">
                          <a:solidFill>
                            <a:srgbClr val="000000"/>
                          </a:solidFill>
                          <a:latin typeface="微软雅黑"/>
                          <a:ea typeface="微软雅黑"/>
                          <a:cs typeface="微软雅黑"/>
                        </a:rPr>
                        <a:t>活细胞</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r>
              <a:tr h="259200">
                <a:tc>
                  <a:txBody>
                    <a:bodyPr/>
                    <a:lstStyle/>
                    <a:p>
                      <a:pPr algn="l"/>
                      <a:r>
                        <a:rPr sz="1150" b="0">
                          <a:solidFill>
                            <a:srgbClr val="000000"/>
                          </a:solidFill>
                          <a:latin typeface="微软雅黑"/>
                          <a:ea typeface="微软雅黑"/>
                          <a:cs typeface="微软雅黑"/>
                        </a:rPr>
                        <a:t>4</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c>
                  <a:txBody>
                    <a:bodyPr/>
                    <a:lstStyle/>
                    <a:p>
                      <a:pPr algn="ctr"/>
                      <a:r>
                        <a:rPr sz="1150" b="0">
                          <a:solidFill>
                            <a:srgbClr val="000000"/>
                          </a:solidFill>
                          <a:latin typeface="微软雅黑"/>
                          <a:ea typeface="微软雅黑"/>
                          <a:cs typeface="微软雅黑"/>
                        </a:rPr>
                        <a:t>BV421 / FSC-A</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c>
                  <a:txBody>
                    <a:bodyPr/>
                    <a:lstStyle/>
                    <a:p>
                      <a:pPr algn="ctr"/>
                      <a:r>
                        <a:rPr sz="1150" b="0">
                          <a:solidFill>
                            <a:srgbClr val="000000"/>
                          </a:solidFill>
                          <a:latin typeface="微软雅黑"/>
                          <a:ea typeface="微软雅黑"/>
                          <a:cs typeface="微软雅黑"/>
                        </a:rPr>
                        <a:t>Perforin 阳性</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r>
              <a:tr h="259200">
                <a:tc>
                  <a:txBody>
                    <a:bodyPr/>
                    <a:lstStyle/>
                    <a:p>
                      <a:pPr algn="l"/>
                      <a:r>
                        <a:rPr sz="1150" b="0">
                          <a:solidFill>
                            <a:srgbClr val="000000"/>
                          </a:solidFill>
                          <a:latin typeface="微软雅黑"/>
                          <a:ea typeface="微软雅黑"/>
                          <a:cs typeface="微软雅黑"/>
                        </a:rPr>
                        <a:t>5</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c>
                  <a:txBody>
                    <a:bodyPr/>
                    <a:lstStyle/>
                    <a:p>
                      <a:pPr algn="ctr"/>
                      <a:r>
                        <a:rPr sz="1150" b="0">
                          <a:solidFill>
                            <a:srgbClr val="000000"/>
                          </a:solidFill>
                          <a:latin typeface="微软雅黑"/>
                          <a:ea typeface="微软雅黑"/>
                          <a:cs typeface="微软雅黑"/>
                        </a:rPr>
                        <a:t>PE / FSC-A</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c>
                  <a:txBody>
                    <a:bodyPr/>
                    <a:lstStyle/>
                    <a:p>
                      <a:pPr algn="ctr"/>
                      <a:r>
                        <a:rPr sz="1150" b="0">
                          <a:solidFill>
                            <a:srgbClr val="000000"/>
                          </a:solidFill>
                          <a:latin typeface="微软雅黑"/>
                          <a:ea typeface="微软雅黑"/>
                          <a:cs typeface="微软雅黑"/>
                        </a:rPr>
                        <a:t>Granzyme B 阳性</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r>
              <a:tr h="259200">
                <a:tc>
                  <a:txBody>
                    <a:bodyPr/>
                    <a:lstStyle/>
                    <a:p>
                      <a:pPr algn="l"/>
                      <a:r>
                        <a:rPr sz="1150" b="0">
                          <a:solidFill>
                            <a:srgbClr val="000000"/>
                          </a:solidFill>
                          <a:latin typeface="微软雅黑"/>
                          <a:ea typeface="微软雅黑"/>
                          <a:cs typeface="微软雅黑"/>
                        </a:rPr>
                        <a:t>6</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c>
                  <a:txBody>
                    <a:bodyPr/>
                    <a:lstStyle/>
                    <a:p>
                      <a:pPr algn="ctr"/>
                      <a:r>
                        <a:rPr sz="1150" b="0">
                          <a:solidFill>
                            <a:srgbClr val="000000"/>
                          </a:solidFill>
                          <a:latin typeface="微软雅黑"/>
                          <a:ea typeface="微软雅黑"/>
                          <a:cs typeface="微软雅黑"/>
                        </a:rPr>
                        <a:t>BUV396 / FSC-A</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c>
                  <a:txBody>
                    <a:bodyPr/>
                    <a:lstStyle/>
                    <a:p>
                      <a:pPr algn="ctr"/>
                      <a:r>
                        <a:rPr sz="1150" b="0">
                          <a:solidFill>
                            <a:srgbClr val="000000"/>
                          </a:solidFill>
                          <a:latin typeface="微软雅黑"/>
                          <a:ea typeface="微软雅黑"/>
                          <a:cs typeface="微软雅黑"/>
                        </a:rPr>
                        <a:t>CD103 阳性</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r>
              <a:tr h="259200">
                <a:tc>
                  <a:txBody>
                    <a:bodyPr/>
                    <a:lstStyle/>
                    <a:p>
                      <a:pPr algn="l"/>
                      <a:r>
                        <a:rPr sz="1150" b="0">
                          <a:solidFill>
                            <a:srgbClr val="000000"/>
                          </a:solidFill>
                          <a:latin typeface="微软雅黑"/>
                          <a:ea typeface="微软雅黑"/>
                          <a:cs typeface="微软雅黑"/>
                        </a:rPr>
                        <a:t>7</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c>
                  <a:txBody>
                    <a:bodyPr/>
                    <a:lstStyle/>
                    <a:p>
                      <a:pPr algn="ctr"/>
                      <a:r>
                        <a:rPr sz="1150" b="0">
                          <a:solidFill>
                            <a:srgbClr val="000000"/>
                          </a:solidFill>
                          <a:latin typeface="微软雅黑"/>
                          <a:ea typeface="微软雅黑"/>
                          <a:cs typeface="微软雅黑"/>
                        </a:rPr>
                        <a:t>PerCP-eFluor710 / FSC-A</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c>
                  <a:txBody>
                    <a:bodyPr/>
                    <a:lstStyle/>
                    <a:p>
                      <a:pPr algn="ctr"/>
                      <a:r>
                        <a:rPr sz="1150" b="0">
                          <a:solidFill>
                            <a:srgbClr val="000000"/>
                          </a:solidFill>
                          <a:latin typeface="微软雅黑"/>
                          <a:ea typeface="微软雅黑"/>
                          <a:cs typeface="微软雅黑"/>
                        </a:rPr>
                        <a:t>Ki67 阳性</a:t>
                      </a:r>
                      <a:endParaRPr sz="1150" b="0">
                        <a:solidFill>
                          <a:srgbClr val="000000"/>
                        </a:solidFill>
                        <a:latin typeface="微软雅黑"/>
                        <a:ea typeface="微软雅黑"/>
                        <a:cs typeface="微软雅黑"/>
                      </a:endParaRPr>
                    </a:p>
                  </a:txBody>
                  <a:tcPr marL="36000" marR="36000" marT="0" marB="0" anchor="ctr">
                    <a:lnL w="0" cap="flat" cmpd="sng" algn="ctr">
                      <a:noFill/>
                    </a:lnL>
                    <a:lnR w="0" cap="flat" cmpd="sng" algn="ctr">
                      <a:noFill/>
                    </a:lnR>
                    <a:lnT w="0" cap="flat" cmpd="sng" algn="ctr">
                      <a:noFill/>
                    </a:lnT>
                    <a:lnB w="6350" cap="flat" cmpd="sng" algn="ctr">
                      <a:solidFill>
                        <a:srgbClr val="D9D9D9"/>
                      </a:solidFill>
                    </a:lnB>
                    <a:noFill/>
                  </a:tcPr>
                </a:tc>
              </a:tr>
            </a:tbl>
          </a:graphicData>
        </a:graphic>
      </p:graphicFrame>
      <p:sp>
        <p:nvSpPr>
          <p:cNvPr id="19" name="TextBox 18"/>
          <p:cNvSpPr txBox="1"/>
          <p:nvPr/>
        </p:nvSpPr>
        <p:spPr>
          <a:xfrm>
            <a:off x="540000" y="6443999"/>
            <a:ext cx="11160000" cy="324000"/>
          </a:xfrm>
          <a:prstGeom prst="rect">
            <a:avLst/>
          </a:prstGeom>
          <a:noFill/>
        </p:spPr>
        <p:txBody>
          <a:bodyPr wrap="square" lIns="0" tIns="0" rIns="0" bIns="0">
            <a:spAutoFit/>
          </a:bodyPr>
          <a:lstStyle/>
          <a:p>
            <a:pPr algn="l">
              <a:lnSpc>
                <a:spcPct val="135000"/>
              </a:lnSpc>
            </a:pPr>
            <a:r>
              <a:rPr sz="950" b="0">
                <a:solidFill>
                  <a:srgbClr val="595959"/>
                </a:solidFill>
                <a:latin typeface="微软雅黑"/>
                <a:ea typeface="微软雅黑"/>
                <a:cs typeface="微软雅黑"/>
              </a:rPr>
              <a:t>图内数字为该门占上一级的百分比。标记门阈值由全部 32 管活细胞合并后 Otsu 法确定，四个标记分别为 4159、123、1362、14542，各管共用。</a:t>
            </a:r>
            <a:endParaRPr sz="950" b="0">
              <a:solidFill>
                <a:srgbClr val="595959"/>
              </a:solidFill>
              <a:latin typeface="微软雅黑"/>
              <a:ea typeface="微软雅黑"/>
              <a:cs typeface="微软雅黑"/>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试验日期：2026-09-25</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0000" y="288000"/>
            <a:ext cx="11160000" cy="540000"/>
          </a:xfrm>
          <a:prstGeom prst="rect">
            <a:avLst/>
          </a:prstGeom>
          <a:noFill/>
        </p:spPr>
        <p:txBody>
          <a:bodyPr wrap="square" lIns="0" tIns="0" rIns="0" bIns="0">
            <a:spAutoFit/>
          </a:bodyPr>
          <a:lstStyle/>
          <a:p>
            <a:pPr algn="l">
              <a:lnSpc>
                <a:spcPct val="135000"/>
              </a:lnSpc>
            </a:pPr>
            <a:r>
              <a:rPr sz="2100" b="1">
                <a:solidFill>
                  <a:srgbClr val="000000"/>
                </a:solidFill>
                <a:latin typeface="微软雅黑"/>
                <a:ea typeface="微软雅黑"/>
                <a:cs typeface="微软雅黑"/>
              </a:rPr>
              <a:t>Day 4　人 NK-92MI　TGF-β × ACE</a:t>
            </a:r>
            <a:endParaRPr sz="2100" b="1">
              <a:solidFill>
                <a:srgbClr val="000000"/>
              </a:solidFill>
              <a:latin typeface="微软雅黑"/>
              <a:ea typeface="微软雅黑"/>
              <a:cs typeface="微软雅黑"/>
            </a:endParaRPr>
          </a:p>
        </p:txBody>
      </p:sp>
      <p:sp>
        <p:nvSpPr>
          <p:cNvPr id="3" name="TextBox 2"/>
          <p:cNvSpPr txBox="1"/>
          <p:nvPr/>
        </p:nvSpPr>
        <p:spPr>
          <a:xfrm>
            <a:off x="1188000" y="917999"/>
            <a:ext cx="1231200" cy="216000"/>
          </a:xfrm>
          <a:prstGeom prst="rect">
            <a:avLst/>
          </a:prstGeom>
          <a:noFill/>
        </p:spPr>
        <p:txBody>
          <a:bodyPr wrap="square" lIns="0" tIns="0" rIns="0" bIns="0">
            <a:spAutoFit/>
          </a:bodyPr>
          <a:lstStyle/>
          <a:p>
            <a:pPr algn="ctr">
              <a:lnSpc>
                <a:spcPct val="135000"/>
              </a:lnSpc>
            </a:pPr>
            <a:r>
              <a:rPr sz="1250" b="1">
                <a:solidFill>
                  <a:srgbClr val="000000"/>
                </a:solidFill>
                <a:latin typeface="微软雅黑"/>
                <a:ea typeface="微软雅黑"/>
                <a:cs typeface="微软雅黑"/>
              </a:rPr>
              <a:t>Perforin</a:t>
            </a:r>
            <a:endParaRPr sz="1250" b="1">
              <a:solidFill>
                <a:srgbClr val="000000"/>
              </a:solidFill>
              <a:latin typeface="微软雅黑"/>
              <a:ea typeface="微软雅黑"/>
              <a:cs typeface="微软雅黑"/>
            </a:endParaRPr>
          </a:p>
        </p:txBody>
      </p:sp>
      <p:sp>
        <p:nvSpPr>
          <p:cNvPr id="4" name="TextBox 3"/>
          <p:cNvSpPr txBox="1"/>
          <p:nvPr/>
        </p:nvSpPr>
        <p:spPr>
          <a:xfrm>
            <a:off x="2520000" y="917999"/>
            <a:ext cx="1231200" cy="216000"/>
          </a:xfrm>
          <a:prstGeom prst="rect">
            <a:avLst/>
          </a:prstGeom>
          <a:noFill/>
        </p:spPr>
        <p:txBody>
          <a:bodyPr wrap="square" lIns="0" tIns="0" rIns="0" bIns="0">
            <a:spAutoFit/>
          </a:bodyPr>
          <a:lstStyle/>
          <a:p>
            <a:pPr algn="ctr">
              <a:lnSpc>
                <a:spcPct val="135000"/>
              </a:lnSpc>
            </a:pPr>
            <a:r>
              <a:rPr sz="1250" b="1">
                <a:solidFill>
                  <a:srgbClr val="000000"/>
                </a:solidFill>
                <a:latin typeface="微软雅黑"/>
                <a:ea typeface="微软雅黑"/>
                <a:cs typeface="微软雅黑"/>
              </a:rPr>
              <a:t>Granzyme B</a:t>
            </a:r>
            <a:endParaRPr sz="1250" b="1">
              <a:solidFill>
                <a:srgbClr val="000000"/>
              </a:solidFill>
              <a:latin typeface="微软雅黑"/>
              <a:ea typeface="微软雅黑"/>
              <a:cs typeface="微软雅黑"/>
            </a:endParaRPr>
          </a:p>
        </p:txBody>
      </p:sp>
      <p:sp>
        <p:nvSpPr>
          <p:cNvPr id="5" name="TextBox 4"/>
          <p:cNvSpPr txBox="1"/>
          <p:nvPr/>
        </p:nvSpPr>
        <p:spPr>
          <a:xfrm>
            <a:off x="3851999" y="917999"/>
            <a:ext cx="1231200" cy="216000"/>
          </a:xfrm>
          <a:prstGeom prst="rect">
            <a:avLst/>
          </a:prstGeom>
          <a:noFill/>
        </p:spPr>
        <p:txBody>
          <a:bodyPr wrap="square" lIns="0" tIns="0" rIns="0" bIns="0">
            <a:spAutoFit/>
          </a:bodyPr>
          <a:lstStyle/>
          <a:p>
            <a:pPr algn="ctr">
              <a:lnSpc>
                <a:spcPct val="135000"/>
              </a:lnSpc>
            </a:pPr>
            <a:r>
              <a:rPr sz="1250" b="1">
                <a:solidFill>
                  <a:srgbClr val="000000"/>
                </a:solidFill>
                <a:latin typeface="微软雅黑"/>
                <a:ea typeface="微软雅黑"/>
                <a:cs typeface="微软雅黑"/>
              </a:rPr>
              <a:t>CD103</a:t>
            </a:r>
            <a:endParaRPr sz="1250" b="1">
              <a:solidFill>
                <a:srgbClr val="000000"/>
              </a:solidFill>
              <a:latin typeface="微软雅黑"/>
              <a:ea typeface="微软雅黑"/>
              <a:cs typeface="微软雅黑"/>
            </a:endParaRPr>
          </a:p>
        </p:txBody>
      </p:sp>
      <p:sp>
        <p:nvSpPr>
          <p:cNvPr id="6" name="TextBox 5"/>
          <p:cNvSpPr txBox="1"/>
          <p:nvPr/>
        </p:nvSpPr>
        <p:spPr>
          <a:xfrm>
            <a:off x="5184000" y="917999"/>
            <a:ext cx="1231200" cy="216000"/>
          </a:xfrm>
          <a:prstGeom prst="rect">
            <a:avLst/>
          </a:prstGeom>
          <a:noFill/>
        </p:spPr>
        <p:txBody>
          <a:bodyPr wrap="square" lIns="0" tIns="0" rIns="0" bIns="0">
            <a:spAutoFit/>
          </a:bodyPr>
          <a:lstStyle/>
          <a:p>
            <a:pPr algn="ctr">
              <a:lnSpc>
                <a:spcPct val="135000"/>
              </a:lnSpc>
            </a:pPr>
            <a:r>
              <a:rPr sz="1250" b="1">
                <a:solidFill>
                  <a:srgbClr val="000000"/>
                </a:solidFill>
                <a:latin typeface="微软雅黑"/>
                <a:ea typeface="微软雅黑"/>
                <a:cs typeface="微软雅黑"/>
              </a:rPr>
              <a:t>Ki67</a:t>
            </a:r>
            <a:endParaRPr sz="1250" b="1">
              <a:solidFill>
                <a:srgbClr val="000000"/>
              </a:solidFill>
              <a:latin typeface="微软雅黑"/>
              <a:ea typeface="微软雅黑"/>
              <a:cs typeface="微软雅黑"/>
            </a:endParaRPr>
          </a:p>
        </p:txBody>
      </p:sp>
      <p:sp>
        <p:nvSpPr>
          <p:cNvPr id="7" name="TextBox 6"/>
          <p:cNvSpPr txBox="1"/>
          <p:nvPr/>
        </p:nvSpPr>
        <p:spPr>
          <a:xfrm>
            <a:off x="413999" y="1584000"/>
            <a:ext cx="720000" cy="576000"/>
          </a:xfrm>
          <a:prstGeom prst="rect">
            <a:avLst/>
          </a:prstGeom>
          <a:noFill/>
        </p:spPr>
        <p:txBody>
          <a:bodyPr wrap="square" lIns="0" tIns="0" rIns="0" bIns="0">
            <a:spAutoFit/>
          </a:bodyPr>
          <a:lstStyle/>
          <a:p>
            <a:pPr algn="l">
              <a:lnSpc>
                <a:spcPct val="135000"/>
              </a:lnSpc>
            </a:pPr>
            <a:r>
              <a:rPr sz="1300" b="1">
                <a:solidFill>
                  <a:srgbClr val="000000"/>
                </a:solidFill>
                <a:latin typeface="微软雅黑"/>
                <a:ea typeface="微软雅黑"/>
                <a:cs typeface="微软雅黑"/>
              </a:rPr>
              <a:t>C</a:t>
            </a:r>
            <a:endParaRPr sz="1300" b="1">
              <a:solidFill>
                <a:srgbClr val="000000"/>
              </a:solidFill>
              <a:latin typeface="微软雅黑"/>
              <a:ea typeface="微软雅黑"/>
              <a:cs typeface="微软雅黑"/>
            </a:endParaRPr>
          </a:p>
          <a:p>
            <a:pPr algn="l">
              <a:lnSpc>
                <a:spcPct val="135000"/>
              </a:lnSpc>
            </a:pPr>
            <a:r>
              <a:rPr sz="800" b="0">
                <a:solidFill>
                  <a:srgbClr val="595959"/>
                </a:solidFill>
                <a:latin typeface="微软雅黑"/>
                <a:ea typeface="微软雅黑"/>
                <a:cs typeface="微软雅黑"/>
              </a:rPr>
              <a:t>对照</a:t>
            </a:r>
            <a:endParaRPr sz="800" b="0">
              <a:solidFill>
                <a:srgbClr val="595959"/>
              </a:solidFill>
              <a:latin typeface="微软雅黑"/>
              <a:ea typeface="微软雅黑"/>
              <a:cs typeface="微软雅黑"/>
            </a:endParaRPr>
          </a:p>
        </p:txBody>
      </p:sp>
      <p:pic>
        <p:nvPicPr>
          <p:cNvPr id="8" name="Picture 7" descr="门控_r2c1.png"/>
          <p:cNvPicPr>
            <a:picLocks noChangeAspect="1"/>
          </p:cNvPicPr>
          <p:nvPr/>
        </p:nvPicPr>
        <p:blipFill>
          <a:blip r:embed="rId1"/>
          <a:stretch>
            <a:fillRect/>
          </a:stretch>
        </p:blipFill>
        <p:spPr>
          <a:xfrm>
            <a:off x="1188000" y="1224000"/>
            <a:ext cx="1231200" cy="1188000"/>
          </a:xfrm>
          <a:prstGeom prst="rect">
            <a:avLst/>
          </a:prstGeom>
        </p:spPr>
      </p:pic>
      <p:pic>
        <p:nvPicPr>
          <p:cNvPr id="9" name="Picture 8" descr="门控_r2c2.png"/>
          <p:cNvPicPr>
            <a:picLocks noChangeAspect="1"/>
          </p:cNvPicPr>
          <p:nvPr/>
        </p:nvPicPr>
        <p:blipFill>
          <a:blip r:embed="rId2"/>
          <a:stretch>
            <a:fillRect/>
          </a:stretch>
        </p:blipFill>
        <p:spPr>
          <a:xfrm>
            <a:off x="2520000" y="1224000"/>
            <a:ext cx="1231200" cy="1188000"/>
          </a:xfrm>
          <a:prstGeom prst="rect">
            <a:avLst/>
          </a:prstGeom>
        </p:spPr>
      </p:pic>
      <p:pic>
        <p:nvPicPr>
          <p:cNvPr id="10" name="Picture 9" descr="门控_r2c3.png"/>
          <p:cNvPicPr>
            <a:picLocks noChangeAspect="1"/>
          </p:cNvPicPr>
          <p:nvPr/>
        </p:nvPicPr>
        <p:blipFill>
          <a:blip r:embed="rId3"/>
          <a:stretch>
            <a:fillRect/>
          </a:stretch>
        </p:blipFill>
        <p:spPr>
          <a:xfrm>
            <a:off x="3851999" y="1224000"/>
            <a:ext cx="1231200" cy="1188000"/>
          </a:xfrm>
          <a:prstGeom prst="rect">
            <a:avLst/>
          </a:prstGeom>
        </p:spPr>
      </p:pic>
      <p:pic>
        <p:nvPicPr>
          <p:cNvPr id="11" name="Picture 10" descr="门控_r2c4.png"/>
          <p:cNvPicPr>
            <a:picLocks noChangeAspect="1"/>
          </p:cNvPicPr>
          <p:nvPr/>
        </p:nvPicPr>
        <p:blipFill>
          <a:blip r:embed="rId4"/>
          <a:stretch>
            <a:fillRect/>
          </a:stretch>
        </p:blipFill>
        <p:spPr>
          <a:xfrm>
            <a:off x="5184000" y="1224000"/>
            <a:ext cx="1231200" cy="1188000"/>
          </a:xfrm>
          <a:prstGeom prst="rect">
            <a:avLst/>
          </a:prstGeom>
        </p:spPr>
      </p:pic>
      <p:sp>
        <p:nvSpPr>
          <p:cNvPr id="12" name="TextBox 11"/>
          <p:cNvSpPr txBox="1"/>
          <p:nvPr/>
        </p:nvSpPr>
        <p:spPr>
          <a:xfrm>
            <a:off x="413999" y="2880000"/>
            <a:ext cx="720000" cy="576000"/>
          </a:xfrm>
          <a:prstGeom prst="rect">
            <a:avLst/>
          </a:prstGeom>
          <a:noFill/>
        </p:spPr>
        <p:txBody>
          <a:bodyPr wrap="square" lIns="0" tIns="0" rIns="0" bIns="0">
            <a:spAutoFit/>
          </a:bodyPr>
          <a:lstStyle/>
          <a:p>
            <a:pPr algn="l">
              <a:lnSpc>
                <a:spcPct val="135000"/>
              </a:lnSpc>
            </a:pPr>
            <a:r>
              <a:rPr sz="1300" b="1">
                <a:solidFill>
                  <a:srgbClr val="000000"/>
                </a:solidFill>
                <a:latin typeface="微软雅黑"/>
                <a:ea typeface="微软雅黑"/>
                <a:cs typeface="微软雅黑"/>
              </a:rPr>
              <a:t>T</a:t>
            </a:r>
            <a:endParaRPr sz="1300" b="1">
              <a:solidFill>
                <a:srgbClr val="000000"/>
              </a:solidFill>
              <a:latin typeface="微软雅黑"/>
              <a:ea typeface="微软雅黑"/>
              <a:cs typeface="微软雅黑"/>
            </a:endParaRPr>
          </a:p>
          <a:p>
            <a:pPr algn="l">
              <a:lnSpc>
                <a:spcPct val="135000"/>
              </a:lnSpc>
            </a:pPr>
            <a:r>
              <a:rPr sz="800" b="0">
                <a:solidFill>
                  <a:srgbClr val="595959"/>
                </a:solidFill>
                <a:latin typeface="微软雅黑"/>
                <a:ea typeface="微软雅黑"/>
                <a:cs typeface="微软雅黑"/>
              </a:rPr>
              <a:t>TGF-β</a:t>
            </a:r>
            <a:endParaRPr sz="800" b="0">
              <a:solidFill>
                <a:srgbClr val="595959"/>
              </a:solidFill>
              <a:latin typeface="微软雅黑"/>
              <a:ea typeface="微软雅黑"/>
              <a:cs typeface="微软雅黑"/>
            </a:endParaRPr>
          </a:p>
        </p:txBody>
      </p:sp>
      <p:pic>
        <p:nvPicPr>
          <p:cNvPr id="13" name="Picture 12" descr="Day4_r2c1.png"/>
          <p:cNvPicPr>
            <a:picLocks noChangeAspect="1"/>
          </p:cNvPicPr>
          <p:nvPr/>
        </p:nvPicPr>
        <p:blipFill>
          <a:blip r:embed="rId5"/>
          <a:stretch>
            <a:fillRect/>
          </a:stretch>
        </p:blipFill>
        <p:spPr>
          <a:xfrm>
            <a:off x="1188000" y="2520000"/>
            <a:ext cx="1231200" cy="1188000"/>
          </a:xfrm>
          <a:prstGeom prst="rect">
            <a:avLst/>
          </a:prstGeom>
        </p:spPr>
      </p:pic>
      <p:pic>
        <p:nvPicPr>
          <p:cNvPr id="14" name="Picture 13" descr="Day4_r2c2.png"/>
          <p:cNvPicPr>
            <a:picLocks noChangeAspect="1"/>
          </p:cNvPicPr>
          <p:nvPr/>
        </p:nvPicPr>
        <p:blipFill>
          <a:blip r:embed="rId6"/>
          <a:stretch>
            <a:fillRect/>
          </a:stretch>
        </p:blipFill>
        <p:spPr>
          <a:xfrm>
            <a:off x="2520000" y="2520000"/>
            <a:ext cx="1231200" cy="1188000"/>
          </a:xfrm>
          <a:prstGeom prst="rect">
            <a:avLst/>
          </a:prstGeom>
        </p:spPr>
      </p:pic>
      <p:pic>
        <p:nvPicPr>
          <p:cNvPr id="15" name="Picture 14" descr="Day4_r2c3.png"/>
          <p:cNvPicPr>
            <a:picLocks noChangeAspect="1"/>
          </p:cNvPicPr>
          <p:nvPr/>
        </p:nvPicPr>
        <p:blipFill>
          <a:blip r:embed="rId7"/>
          <a:stretch>
            <a:fillRect/>
          </a:stretch>
        </p:blipFill>
        <p:spPr>
          <a:xfrm>
            <a:off x="3851999" y="2520000"/>
            <a:ext cx="1231200" cy="1188000"/>
          </a:xfrm>
          <a:prstGeom prst="rect">
            <a:avLst/>
          </a:prstGeom>
        </p:spPr>
      </p:pic>
      <p:pic>
        <p:nvPicPr>
          <p:cNvPr id="16" name="Picture 15" descr="Day4_r2c4.png"/>
          <p:cNvPicPr>
            <a:picLocks noChangeAspect="1"/>
          </p:cNvPicPr>
          <p:nvPr/>
        </p:nvPicPr>
        <p:blipFill>
          <a:blip r:embed="rId8"/>
          <a:stretch>
            <a:fillRect/>
          </a:stretch>
        </p:blipFill>
        <p:spPr>
          <a:xfrm>
            <a:off x="5184000" y="2520000"/>
            <a:ext cx="1231200" cy="1188000"/>
          </a:xfrm>
          <a:prstGeom prst="rect">
            <a:avLst/>
          </a:prstGeom>
        </p:spPr>
      </p:pic>
      <p:sp>
        <p:nvSpPr>
          <p:cNvPr id="17" name="TextBox 16"/>
          <p:cNvSpPr txBox="1"/>
          <p:nvPr/>
        </p:nvSpPr>
        <p:spPr>
          <a:xfrm>
            <a:off x="413999" y="4176000"/>
            <a:ext cx="720000" cy="576000"/>
          </a:xfrm>
          <a:prstGeom prst="rect">
            <a:avLst/>
          </a:prstGeom>
          <a:noFill/>
        </p:spPr>
        <p:txBody>
          <a:bodyPr wrap="square" lIns="0" tIns="0" rIns="0" bIns="0">
            <a:spAutoFit/>
          </a:bodyPr>
          <a:lstStyle/>
          <a:p>
            <a:pPr algn="l">
              <a:lnSpc>
                <a:spcPct val="135000"/>
              </a:lnSpc>
            </a:pPr>
            <a:r>
              <a:rPr sz="1300" b="1">
                <a:solidFill>
                  <a:srgbClr val="000000"/>
                </a:solidFill>
                <a:latin typeface="微软雅黑"/>
                <a:ea typeface="微软雅黑"/>
                <a:cs typeface="微软雅黑"/>
              </a:rPr>
              <a:t>TA</a:t>
            </a:r>
            <a:endParaRPr sz="1300" b="1">
              <a:solidFill>
                <a:srgbClr val="000000"/>
              </a:solidFill>
              <a:latin typeface="微软雅黑"/>
              <a:ea typeface="微软雅黑"/>
              <a:cs typeface="微软雅黑"/>
            </a:endParaRPr>
          </a:p>
          <a:p>
            <a:pPr algn="l">
              <a:lnSpc>
                <a:spcPct val="135000"/>
              </a:lnSpc>
            </a:pPr>
            <a:r>
              <a:rPr sz="800" b="0">
                <a:solidFill>
                  <a:srgbClr val="595959"/>
                </a:solidFill>
                <a:latin typeface="微软雅黑"/>
                <a:ea typeface="微软雅黑"/>
                <a:cs typeface="微软雅黑"/>
              </a:rPr>
              <a:t>TGF-β + ACE</a:t>
            </a:r>
            <a:endParaRPr sz="800" b="0">
              <a:solidFill>
                <a:srgbClr val="595959"/>
              </a:solidFill>
              <a:latin typeface="微软雅黑"/>
              <a:ea typeface="微软雅黑"/>
              <a:cs typeface="微软雅黑"/>
            </a:endParaRPr>
          </a:p>
        </p:txBody>
      </p:sp>
      <p:pic>
        <p:nvPicPr>
          <p:cNvPr id="18" name="Picture 17" descr="Day4_r3c1.png"/>
          <p:cNvPicPr>
            <a:picLocks noChangeAspect="1"/>
          </p:cNvPicPr>
          <p:nvPr/>
        </p:nvPicPr>
        <p:blipFill>
          <a:blip r:embed="rId9"/>
          <a:stretch>
            <a:fillRect/>
          </a:stretch>
        </p:blipFill>
        <p:spPr>
          <a:xfrm>
            <a:off x="1188000" y="3816000"/>
            <a:ext cx="1231200" cy="1188000"/>
          </a:xfrm>
          <a:prstGeom prst="rect">
            <a:avLst/>
          </a:prstGeom>
        </p:spPr>
      </p:pic>
      <p:pic>
        <p:nvPicPr>
          <p:cNvPr id="19" name="Picture 18" descr="Day4_r3c2.png"/>
          <p:cNvPicPr>
            <a:picLocks noChangeAspect="1"/>
          </p:cNvPicPr>
          <p:nvPr/>
        </p:nvPicPr>
        <p:blipFill>
          <a:blip r:embed="rId10"/>
          <a:stretch>
            <a:fillRect/>
          </a:stretch>
        </p:blipFill>
        <p:spPr>
          <a:xfrm>
            <a:off x="2520000" y="3816000"/>
            <a:ext cx="1231200" cy="1188000"/>
          </a:xfrm>
          <a:prstGeom prst="rect">
            <a:avLst/>
          </a:prstGeom>
        </p:spPr>
      </p:pic>
      <p:pic>
        <p:nvPicPr>
          <p:cNvPr id="20" name="Picture 19" descr="Day4_r3c3.png"/>
          <p:cNvPicPr>
            <a:picLocks noChangeAspect="1"/>
          </p:cNvPicPr>
          <p:nvPr/>
        </p:nvPicPr>
        <p:blipFill>
          <a:blip r:embed="rId11"/>
          <a:stretch>
            <a:fillRect/>
          </a:stretch>
        </p:blipFill>
        <p:spPr>
          <a:xfrm>
            <a:off x="3851999" y="3816000"/>
            <a:ext cx="1231200" cy="1188000"/>
          </a:xfrm>
          <a:prstGeom prst="rect">
            <a:avLst/>
          </a:prstGeom>
        </p:spPr>
      </p:pic>
      <p:pic>
        <p:nvPicPr>
          <p:cNvPr id="21" name="Picture 20" descr="Day4_r3c4.png"/>
          <p:cNvPicPr>
            <a:picLocks noChangeAspect="1"/>
          </p:cNvPicPr>
          <p:nvPr/>
        </p:nvPicPr>
        <p:blipFill>
          <a:blip r:embed="rId12"/>
          <a:stretch>
            <a:fillRect/>
          </a:stretch>
        </p:blipFill>
        <p:spPr>
          <a:xfrm>
            <a:off x="5184000" y="3816000"/>
            <a:ext cx="1231200" cy="1188000"/>
          </a:xfrm>
          <a:prstGeom prst="rect">
            <a:avLst/>
          </a:prstGeom>
        </p:spPr>
      </p:pic>
      <p:sp>
        <p:nvSpPr>
          <p:cNvPr id="22" name="TextBox 21"/>
          <p:cNvSpPr txBox="1"/>
          <p:nvPr/>
        </p:nvSpPr>
        <p:spPr>
          <a:xfrm>
            <a:off x="413999" y="5472000"/>
            <a:ext cx="720000" cy="576000"/>
          </a:xfrm>
          <a:prstGeom prst="rect">
            <a:avLst/>
          </a:prstGeom>
          <a:noFill/>
        </p:spPr>
        <p:txBody>
          <a:bodyPr wrap="square" lIns="0" tIns="0" rIns="0" bIns="0">
            <a:spAutoFit/>
          </a:bodyPr>
          <a:lstStyle/>
          <a:p>
            <a:pPr algn="l">
              <a:lnSpc>
                <a:spcPct val="135000"/>
              </a:lnSpc>
            </a:pPr>
            <a:r>
              <a:rPr sz="1300" b="1">
                <a:solidFill>
                  <a:srgbClr val="000000"/>
                </a:solidFill>
                <a:latin typeface="微软雅黑"/>
                <a:ea typeface="微软雅黑"/>
                <a:cs typeface="微软雅黑"/>
              </a:rPr>
              <a:t>A</a:t>
            </a:r>
            <a:endParaRPr sz="1300" b="1">
              <a:solidFill>
                <a:srgbClr val="000000"/>
              </a:solidFill>
              <a:latin typeface="微软雅黑"/>
              <a:ea typeface="微软雅黑"/>
              <a:cs typeface="微软雅黑"/>
            </a:endParaRPr>
          </a:p>
          <a:p>
            <a:pPr algn="l">
              <a:lnSpc>
                <a:spcPct val="135000"/>
              </a:lnSpc>
            </a:pPr>
            <a:r>
              <a:rPr sz="800" b="0">
                <a:solidFill>
                  <a:srgbClr val="595959"/>
                </a:solidFill>
                <a:latin typeface="微软雅黑"/>
                <a:ea typeface="微软雅黑"/>
                <a:cs typeface="微软雅黑"/>
              </a:rPr>
              <a:t>ACE</a:t>
            </a:r>
            <a:endParaRPr sz="800" b="0">
              <a:solidFill>
                <a:srgbClr val="595959"/>
              </a:solidFill>
              <a:latin typeface="微软雅黑"/>
              <a:ea typeface="微软雅黑"/>
              <a:cs typeface="微软雅黑"/>
            </a:endParaRPr>
          </a:p>
        </p:txBody>
      </p:sp>
      <p:pic>
        <p:nvPicPr>
          <p:cNvPr id="23" name="Picture 22" descr="Day4_r4c1.png"/>
          <p:cNvPicPr>
            <a:picLocks noChangeAspect="1"/>
          </p:cNvPicPr>
          <p:nvPr/>
        </p:nvPicPr>
        <p:blipFill>
          <a:blip r:embed="rId13"/>
          <a:stretch>
            <a:fillRect/>
          </a:stretch>
        </p:blipFill>
        <p:spPr>
          <a:xfrm>
            <a:off x="1188000" y="5112000"/>
            <a:ext cx="1231200" cy="1188000"/>
          </a:xfrm>
          <a:prstGeom prst="rect">
            <a:avLst/>
          </a:prstGeom>
        </p:spPr>
      </p:pic>
      <p:pic>
        <p:nvPicPr>
          <p:cNvPr id="24" name="Picture 23" descr="Day4_r4c2.png"/>
          <p:cNvPicPr>
            <a:picLocks noChangeAspect="1"/>
          </p:cNvPicPr>
          <p:nvPr/>
        </p:nvPicPr>
        <p:blipFill>
          <a:blip r:embed="rId14"/>
          <a:stretch>
            <a:fillRect/>
          </a:stretch>
        </p:blipFill>
        <p:spPr>
          <a:xfrm>
            <a:off x="2520000" y="5112000"/>
            <a:ext cx="1231200" cy="1188000"/>
          </a:xfrm>
          <a:prstGeom prst="rect">
            <a:avLst/>
          </a:prstGeom>
        </p:spPr>
      </p:pic>
      <p:pic>
        <p:nvPicPr>
          <p:cNvPr id="25" name="Picture 24" descr="Day4_r4c3.png"/>
          <p:cNvPicPr>
            <a:picLocks noChangeAspect="1"/>
          </p:cNvPicPr>
          <p:nvPr/>
        </p:nvPicPr>
        <p:blipFill>
          <a:blip r:embed="rId15"/>
          <a:stretch>
            <a:fillRect/>
          </a:stretch>
        </p:blipFill>
        <p:spPr>
          <a:xfrm>
            <a:off x="3851999" y="5112000"/>
            <a:ext cx="1231200" cy="1188000"/>
          </a:xfrm>
          <a:prstGeom prst="rect">
            <a:avLst/>
          </a:prstGeom>
        </p:spPr>
      </p:pic>
      <p:pic>
        <p:nvPicPr>
          <p:cNvPr id="26" name="Picture 25" descr="Day4_r4c4.png"/>
          <p:cNvPicPr>
            <a:picLocks noChangeAspect="1"/>
          </p:cNvPicPr>
          <p:nvPr/>
        </p:nvPicPr>
        <p:blipFill>
          <a:blip r:embed="rId16"/>
          <a:stretch>
            <a:fillRect/>
          </a:stretch>
        </p:blipFill>
        <p:spPr>
          <a:xfrm>
            <a:off x="5184000" y="5112000"/>
            <a:ext cx="1231200" cy="1188000"/>
          </a:xfrm>
          <a:prstGeom prst="rect">
            <a:avLst/>
          </a:prstGeom>
        </p:spPr>
      </p:pic>
      <p:sp>
        <p:nvSpPr>
          <p:cNvPr id="27" name="TextBox 26"/>
          <p:cNvSpPr txBox="1"/>
          <p:nvPr/>
        </p:nvSpPr>
        <p:spPr>
          <a:xfrm>
            <a:off x="413999" y="6372000"/>
            <a:ext cx="720000" cy="216000"/>
          </a:xfrm>
          <a:prstGeom prst="rect">
            <a:avLst/>
          </a:prstGeom>
          <a:noFill/>
        </p:spPr>
        <p:txBody>
          <a:bodyPr wrap="square" lIns="0" tIns="0" rIns="0" bIns="0">
            <a:spAutoFit/>
          </a:bodyPr>
          <a:lstStyle/>
          <a:p>
            <a:pPr algn="l">
              <a:lnSpc>
                <a:spcPct val="135000"/>
              </a:lnSpc>
            </a:pPr>
            <a:r>
              <a:rPr sz="950" b="0">
                <a:solidFill>
                  <a:srgbClr val="000000"/>
                </a:solidFill>
                <a:latin typeface="微软雅黑"/>
                <a:ea typeface="微软雅黑"/>
                <a:cs typeface="微软雅黑"/>
              </a:rPr>
              <a:t>FSC-A ↑</a:t>
            </a:r>
            <a:endParaRPr sz="950" b="0">
              <a:solidFill>
                <a:srgbClr val="000000"/>
              </a:solidFill>
              <a:latin typeface="微软雅黑"/>
              <a:ea typeface="微软雅黑"/>
              <a:cs typeface="微软雅黑"/>
            </a:endParaRPr>
          </a:p>
        </p:txBody>
      </p:sp>
      <p:sp>
        <p:nvSpPr>
          <p:cNvPr id="28" name="TextBox 27"/>
          <p:cNvSpPr txBox="1"/>
          <p:nvPr/>
        </p:nvSpPr>
        <p:spPr>
          <a:xfrm>
            <a:off x="1188000" y="6372000"/>
            <a:ext cx="1231200" cy="216000"/>
          </a:xfrm>
          <a:prstGeom prst="rect">
            <a:avLst/>
          </a:prstGeom>
          <a:noFill/>
        </p:spPr>
        <p:txBody>
          <a:bodyPr wrap="square" lIns="0" tIns="0" rIns="0" bIns="0">
            <a:spAutoFit/>
          </a:bodyPr>
          <a:lstStyle/>
          <a:p>
            <a:pPr algn="ctr">
              <a:lnSpc>
                <a:spcPct val="135000"/>
              </a:lnSpc>
            </a:pPr>
            <a:r>
              <a:rPr sz="900" b="0">
                <a:solidFill>
                  <a:srgbClr val="000000"/>
                </a:solidFill>
                <a:latin typeface="微软雅黑"/>
                <a:ea typeface="微软雅黑"/>
                <a:cs typeface="微软雅黑"/>
              </a:rPr>
              <a:t>BV 421-A  →</a:t>
            </a:r>
            <a:endParaRPr sz="900" b="0">
              <a:solidFill>
                <a:srgbClr val="000000"/>
              </a:solidFill>
              <a:latin typeface="微软雅黑"/>
              <a:ea typeface="微软雅黑"/>
              <a:cs typeface="微软雅黑"/>
            </a:endParaRPr>
          </a:p>
        </p:txBody>
      </p:sp>
      <p:sp>
        <p:nvSpPr>
          <p:cNvPr id="29" name="TextBox 28"/>
          <p:cNvSpPr txBox="1"/>
          <p:nvPr/>
        </p:nvSpPr>
        <p:spPr>
          <a:xfrm>
            <a:off x="2520000" y="6372000"/>
            <a:ext cx="1231200" cy="216000"/>
          </a:xfrm>
          <a:prstGeom prst="rect">
            <a:avLst/>
          </a:prstGeom>
          <a:noFill/>
        </p:spPr>
        <p:txBody>
          <a:bodyPr wrap="square" lIns="0" tIns="0" rIns="0" bIns="0">
            <a:spAutoFit/>
          </a:bodyPr>
          <a:lstStyle/>
          <a:p>
            <a:pPr algn="ctr">
              <a:lnSpc>
                <a:spcPct val="135000"/>
              </a:lnSpc>
            </a:pPr>
            <a:r>
              <a:rPr sz="900" b="0">
                <a:solidFill>
                  <a:srgbClr val="000000"/>
                </a:solidFill>
                <a:latin typeface="微软雅黑"/>
                <a:ea typeface="微软雅黑"/>
                <a:cs typeface="微软雅黑"/>
              </a:rPr>
              <a:t>PE-W_561-A  →</a:t>
            </a:r>
            <a:endParaRPr sz="900" b="0">
              <a:solidFill>
                <a:srgbClr val="000000"/>
              </a:solidFill>
              <a:latin typeface="微软雅黑"/>
              <a:ea typeface="微软雅黑"/>
              <a:cs typeface="微软雅黑"/>
            </a:endParaRPr>
          </a:p>
        </p:txBody>
      </p:sp>
      <p:sp>
        <p:nvSpPr>
          <p:cNvPr id="30" name="TextBox 29"/>
          <p:cNvSpPr txBox="1"/>
          <p:nvPr/>
        </p:nvSpPr>
        <p:spPr>
          <a:xfrm>
            <a:off x="3851999" y="6372000"/>
            <a:ext cx="1231200" cy="216000"/>
          </a:xfrm>
          <a:prstGeom prst="rect">
            <a:avLst/>
          </a:prstGeom>
          <a:noFill/>
        </p:spPr>
        <p:txBody>
          <a:bodyPr wrap="square" lIns="0" tIns="0" rIns="0" bIns="0">
            <a:spAutoFit/>
          </a:bodyPr>
          <a:lstStyle/>
          <a:p>
            <a:pPr algn="ctr">
              <a:lnSpc>
                <a:spcPct val="135000"/>
              </a:lnSpc>
            </a:pPr>
            <a:r>
              <a:rPr sz="900" b="0">
                <a:solidFill>
                  <a:srgbClr val="000000"/>
                </a:solidFill>
                <a:latin typeface="微软雅黑"/>
                <a:ea typeface="微软雅黑"/>
                <a:cs typeface="微软雅黑"/>
              </a:rPr>
              <a:t>BUV396-A  →</a:t>
            </a:r>
            <a:endParaRPr sz="900" b="0">
              <a:solidFill>
                <a:srgbClr val="000000"/>
              </a:solidFill>
              <a:latin typeface="微软雅黑"/>
              <a:ea typeface="微软雅黑"/>
              <a:cs typeface="微软雅黑"/>
            </a:endParaRPr>
          </a:p>
        </p:txBody>
      </p:sp>
      <p:sp>
        <p:nvSpPr>
          <p:cNvPr id="31" name="TextBox 30"/>
          <p:cNvSpPr txBox="1"/>
          <p:nvPr/>
        </p:nvSpPr>
        <p:spPr>
          <a:xfrm>
            <a:off x="5184000" y="6372000"/>
            <a:ext cx="1231200" cy="216000"/>
          </a:xfrm>
          <a:prstGeom prst="rect">
            <a:avLst/>
          </a:prstGeom>
          <a:noFill/>
        </p:spPr>
        <p:txBody>
          <a:bodyPr wrap="square" lIns="0" tIns="0" rIns="0" bIns="0">
            <a:spAutoFit/>
          </a:bodyPr>
          <a:lstStyle/>
          <a:p>
            <a:pPr algn="ctr">
              <a:lnSpc>
                <a:spcPct val="135000"/>
              </a:lnSpc>
            </a:pPr>
            <a:r>
              <a:rPr sz="900" b="0">
                <a:solidFill>
                  <a:srgbClr val="000000"/>
                </a:solidFill>
                <a:latin typeface="微软雅黑"/>
                <a:ea typeface="微软雅黑"/>
                <a:cs typeface="微软雅黑"/>
              </a:rPr>
              <a:t>PerCP-Cy5-5-A  →</a:t>
            </a:r>
            <a:endParaRPr sz="900" b="0">
              <a:solidFill>
                <a:srgbClr val="000000"/>
              </a:solidFill>
              <a:latin typeface="微软雅黑"/>
              <a:ea typeface="微软雅黑"/>
              <a:cs typeface="微软雅黑"/>
            </a:endParaRPr>
          </a:p>
        </p:txBody>
      </p:sp>
      <p:pic>
        <p:nvPicPr>
          <p:cNvPr id="32" name="Picture 31" descr="side_105_day4.png"/>
          <p:cNvPicPr>
            <a:picLocks noChangeAspect="1"/>
          </p:cNvPicPr>
          <p:nvPr/>
        </p:nvPicPr>
        <p:blipFill>
          <a:blip r:embed="rId17"/>
          <a:stretch>
            <a:fillRect/>
          </a:stretch>
        </p:blipFill>
        <p:spPr>
          <a:xfrm>
            <a:off x="6588000" y="864000"/>
            <a:ext cx="2520000" cy="5796000"/>
          </a:xfrm>
          <a:prstGeom prst="rect">
            <a:avLst/>
          </a:prstGeom>
        </p:spPr>
      </p:pic>
      <p:sp>
        <p:nvSpPr>
          <p:cNvPr id="33" name="TextBox 32"/>
          <p:cNvSpPr txBox="1"/>
          <p:nvPr/>
        </p:nvSpPr>
        <p:spPr>
          <a:xfrm>
            <a:off x="9180000" y="900000"/>
            <a:ext cx="2772000" cy="5760000"/>
          </a:xfrm>
          <a:prstGeom prst="rect">
            <a:avLst/>
          </a:prstGeom>
          <a:noFill/>
        </p:spPr>
        <p:txBody>
          <a:bodyPr wrap="square" lIns="0" tIns="0" rIns="0" bIns="0">
            <a:spAutoFit/>
          </a:bodyPr>
          <a:lstStyle/>
          <a:p>
            <a:pPr algn="l">
              <a:lnSpc>
                <a:spcPct val="135000"/>
              </a:lnSpc>
            </a:pPr>
            <a:r>
              <a:rPr sz="1200" b="1">
                <a:solidFill>
                  <a:srgbClr val="000000"/>
                </a:solidFill>
                <a:latin typeface="微软雅黑"/>
                <a:ea typeface="微软雅黑"/>
                <a:cs typeface="微软雅黑"/>
              </a:rPr>
              <a:t>实验信息</a:t>
            </a:r>
            <a:endParaRPr sz="1200" b="1">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人 NK-92MI 细胞系</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2×2 析因：TGF-β × ACE</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每组 4 管，共 32 管</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采集 2026-09-25</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BD LSRFortessa X-20</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未设单染补偿对照</a:t>
            </a:r>
            <a:endParaRPr sz="1050" b="0">
              <a:solidFill>
                <a:srgbClr val="000000"/>
              </a:solidFill>
              <a:latin typeface="微软雅黑"/>
              <a:ea typeface="微软雅黑"/>
              <a:cs typeface="微软雅黑"/>
            </a:endParaRPr>
          </a:p>
          <a:p>
            <a:pPr algn="l">
              <a:lnSpc>
                <a:spcPct val="135000"/>
              </a:lnSpc>
              <a:spcBef>
                <a:spcPts val="1400"/>
              </a:spcBef>
            </a:pPr>
            <a:r>
              <a:rPr sz="1200" b="1">
                <a:solidFill>
                  <a:srgbClr val="000000"/>
                </a:solidFill>
                <a:latin typeface="微软雅黑"/>
                <a:ea typeface="微软雅黑"/>
                <a:cs typeface="微软雅黑"/>
              </a:rPr>
              <a:t>染色方案</a:t>
            </a:r>
            <a:endParaRPr sz="1200" b="1">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死活-APC-Cy7</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Perforin-BV421</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Granzyme B-PE</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CD103-BUV396</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Ki67-PerCP-eFluor710</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CD49a-BV711（未检出信号）</a:t>
            </a:r>
            <a:endParaRPr sz="1050" b="0">
              <a:solidFill>
                <a:srgbClr val="000000"/>
              </a:solidFill>
              <a:latin typeface="微软雅黑"/>
              <a:ea typeface="微软雅黑"/>
              <a:cs typeface="微软雅黑"/>
            </a:endParaRPr>
          </a:p>
          <a:p>
            <a:pPr algn="l">
              <a:lnSpc>
                <a:spcPct val="135000"/>
              </a:lnSpc>
              <a:spcBef>
                <a:spcPts val="1400"/>
              </a:spcBef>
            </a:pPr>
            <a:r>
              <a:rPr sz="1100" b="0">
                <a:solidFill>
                  <a:srgbClr val="000000"/>
                </a:solidFill>
                <a:latin typeface="微软雅黑"/>
                <a:ea typeface="微软雅黑"/>
                <a:cs typeface="微软雅黑"/>
              </a:rPr>
              <a:t>每组展示一支代表管</a:t>
            </a:r>
            <a:endParaRPr sz="110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右侧柱状图为该时间点全部 4 管</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均值 ± 标准差，每点代表一管</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Dunnett 检验对 C</a:t>
            </a:r>
            <a:endParaRPr sz="1050" b="0">
              <a:solidFill>
                <a:srgbClr val="000000"/>
              </a:solidFill>
              <a:latin typeface="微软雅黑"/>
              <a:ea typeface="微软雅黑"/>
              <a:cs typeface="微软雅黑"/>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试验日期：2026-09-25</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0000" y="288000"/>
            <a:ext cx="11160000" cy="540000"/>
          </a:xfrm>
          <a:prstGeom prst="rect">
            <a:avLst/>
          </a:prstGeom>
          <a:noFill/>
        </p:spPr>
        <p:txBody>
          <a:bodyPr wrap="square" lIns="0" tIns="0" rIns="0" bIns="0">
            <a:spAutoFit/>
          </a:bodyPr>
          <a:lstStyle/>
          <a:p>
            <a:pPr algn="l">
              <a:lnSpc>
                <a:spcPct val="135000"/>
              </a:lnSpc>
            </a:pPr>
            <a:r>
              <a:rPr sz="2100" b="1">
                <a:solidFill>
                  <a:srgbClr val="000000"/>
                </a:solidFill>
                <a:latin typeface="微软雅黑"/>
                <a:ea typeface="微软雅黑"/>
                <a:cs typeface="微软雅黑"/>
              </a:rPr>
              <a:t>Day 8　人 NK-92MI　TGF-β × ACE</a:t>
            </a:r>
            <a:endParaRPr sz="2100" b="1">
              <a:solidFill>
                <a:srgbClr val="000000"/>
              </a:solidFill>
              <a:latin typeface="微软雅黑"/>
              <a:ea typeface="微软雅黑"/>
              <a:cs typeface="微软雅黑"/>
            </a:endParaRPr>
          </a:p>
        </p:txBody>
      </p:sp>
      <p:sp>
        <p:nvSpPr>
          <p:cNvPr id="3" name="TextBox 2"/>
          <p:cNvSpPr txBox="1"/>
          <p:nvPr/>
        </p:nvSpPr>
        <p:spPr>
          <a:xfrm>
            <a:off x="1188000" y="917999"/>
            <a:ext cx="1231200" cy="216000"/>
          </a:xfrm>
          <a:prstGeom prst="rect">
            <a:avLst/>
          </a:prstGeom>
          <a:noFill/>
        </p:spPr>
        <p:txBody>
          <a:bodyPr wrap="square" lIns="0" tIns="0" rIns="0" bIns="0">
            <a:spAutoFit/>
          </a:bodyPr>
          <a:lstStyle/>
          <a:p>
            <a:pPr algn="ctr">
              <a:lnSpc>
                <a:spcPct val="135000"/>
              </a:lnSpc>
            </a:pPr>
            <a:r>
              <a:rPr sz="1250" b="1">
                <a:solidFill>
                  <a:srgbClr val="000000"/>
                </a:solidFill>
                <a:latin typeface="微软雅黑"/>
                <a:ea typeface="微软雅黑"/>
                <a:cs typeface="微软雅黑"/>
              </a:rPr>
              <a:t>Perforin</a:t>
            </a:r>
            <a:endParaRPr sz="1250" b="1">
              <a:solidFill>
                <a:srgbClr val="000000"/>
              </a:solidFill>
              <a:latin typeface="微软雅黑"/>
              <a:ea typeface="微软雅黑"/>
              <a:cs typeface="微软雅黑"/>
            </a:endParaRPr>
          </a:p>
        </p:txBody>
      </p:sp>
      <p:sp>
        <p:nvSpPr>
          <p:cNvPr id="4" name="TextBox 3"/>
          <p:cNvSpPr txBox="1"/>
          <p:nvPr/>
        </p:nvSpPr>
        <p:spPr>
          <a:xfrm>
            <a:off x="2520000" y="917999"/>
            <a:ext cx="1231200" cy="216000"/>
          </a:xfrm>
          <a:prstGeom prst="rect">
            <a:avLst/>
          </a:prstGeom>
          <a:noFill/>
        </p:spPr>
        <p:txBody>
          <a:bodyPr wrap="square" lIns="0" tIns="0" rIns="0" bIns="0">
            <a:spAutoFit/>
          </a:bodyPr>
          <a:lstStyle/>
          <a:p>
            <a:pPr algn="ctr">
              <a:lnSpc>
                <a:spcPct val="135000"/>
              </a:lnSpc>
            </a:pPr>
            <a:r>
              <a:rPr sz="1250" b="1">
                <a:solidFill>
                  <a:srgbClr val="000000"/>
                </a:solidFill>
                <a:latin typeface="微软雅黑"/>
                <a:ea typeface="微软雅黑"/>
                <a:cs typeface="微软雅黑"/>
              </a:rPr>
              <a:t>Granzyme B</a:t>
            </a:r>
            <a:endParaRPr sz="1250" b="1">
              <a:solidFill>
                <a:srgbClr val="000000"/>
              </a:solidFill>
              <a:latin typeface="微软雅黑"/>
              <a:ea typeface="微软雅黑"/>
              <a:cs typeface="微软雅黑"/>
            </a:endParaRPr>
          </a:p>
        </p:txBody>
      </p:sp>
      <p:sp>
        <p:nvSpPr>
          <p:cNvPr id="5" name="TextBox 4"/>
          <p:cNvSpPr txBox="1"/>
          <p:nvPr/>
        </p:nvSpPr>
        <p:spPr>
          <a:xfrm>
            <a:off x="3851999" y="917999"/>
            <a:ext cx="1231200" cy="216000"/>
          </a:xfrm>
          <a:prstGeom prst="rect">
            <a:avLst/>
          </a:prstGeom>
          <a:noFill/>
        </p:spPr>
        <p:txBody>
          <a:bodyPr wrap="square" lIns="0" tIns="0" rIns="0" bIns="0">
            <a:spAutoFit/>
          </a:bodyPr>
          <a:lstStyle/>
          <a:p>
            <a:pPr algn="ctr">
              <a:lnSpc>
                <a:spcPct val="135000"/>
              </a:lnSpc>
            </a:pPr>
            <a:r>
              <a:rPr sz="1250" b="1">
                <a:solidFill>
                  <a:srgbClr val="000000"/>
                </a:solidFill>
                <a:latin typeface="微软雅黑"/>
                <a:ea typeface="微软雅黑"/>
                <a:cs typeface="微软雅黑"/>
              </a:rPr>
              <a:t>CD103</a:t>
            </a:r>
            <a:endParaRPr sz="1250" b="1">
              <a:solidFill>
                <a:srgbClr val="000000"/>
              </a:solidFill>
              <a:latin typeface="微软雅黑"/>
              <a:ea typeface="微软雅黑"/>
              <a:cs typeface="微软雅黑"/>
            </a:endParaRPr>
          </a:p>
        </p:txBody>
      </p:sp>
      <p:sp>
        <p:nvSpPr>
          <p:cNvPr id="6" name="TextBox 5"/>
          <p:cNvSpPr txBox="1"/>
          <p:nvPr/>
        </p:nvSpPr>
        <p:spPr>
          <a:xfrm>
            <a:off x="5184000" y="917999"/>
            <a:ext cx="1231200" cy="216000"/>
          </a:xfrm>
          <a:prstGeom prst="rect">
            <a:avLst/>
          </a:prstGeom>
          <a:noFill/>
        </p:spPr>
        <p:txBody>
          <a:bodyPr wrap="square" lIns="0" tIns="0" rIns="0" bIns="0">
            <a:spAutoFit/>
          </a:bodyPr>
          <a:lstStyle/>
          <a:p>
            <a:pPr algn="ctr">
              <a:lnSpc>
                <a:spcPct val="135000"/>
              </a:lnSpc>
            </a:pPr>
            <a:r>
              <a:rPr sz="1250" b="1">
                <a:solidFill>
                  <a:srgbClr val="000000"/>
                </a:solidFill>
                <a:latin typeface="微软雅黑"/>
                <a:ea typeface="微软雅黑"/>
                <a:cs typeface="微软雅黑"/>
              </a:rPr>
              <a:t>Ki67</a:t>
            </a:r>
            <a:endParaRPr sz="1250" b="1">
              <a:solidFill>
                <a:srgbClr val="000000"/>
              </a:solidFill>
              <a:latin typeface="微软雅黑"/>
              <a:ea typeface="微软雅黑"/>
              <a:cs typeface="微软雅黑"/>
            </a:endParaRPr>
          </a:p>
        </p:txBody>
      </p:sp>
      <p:sp>
        <p:nvSpPr>
          <p:cNvPr id="7" name="TextBox 6"/>
          <p:cNvSpPr txBox="1"/>
          <p:nvPr/>
        </p:nvSpPr>
        <p:spPr>
          <a:xfrm>
            <a:off x="413999" y="1584000"/>
            <a:ext cx="720000" cy="576000"/>
          </a:xfrm>
          <a:prstGeom prst="rect">
            <a:avLst/>
          </a:prstGeom>
          <a:noFill/>
        </p:spPr>
        <p:txBody>
          <a:bodyPr wrap="square" lIns="0" tIns="0" rIns="0" bIns="0">
            <a:spAutoFit/>
          </a:bodyPr>
          <a:lstStyle/>
          <a:p>
            <a:pPr algn="l">
              <a:lnSpc>
                <a:spcPct val="135000"/>
              </a:lnSpc>
            </a:pPr>
            <a:r>
              <a:rPr sz="1300" b="1">
                <a:solidFill>
                  <a:srgbClr val="000000"/>
                </a:solidFill>
                <a:latin typeface="微软雅黑"/>
                <a:ea typeface="微软雅黑"/>
                <a:cs typeface="微软雅黑"/>
              </a:rPr>
              <a:t>C</a:t>
            </a:r>
            <a:endParaRPr sz="1300" b="1">
              <a:solidFill>
                <a:srgbClr val="000000"/>
              </a:solidFill>
              <a:latin typeface="微软雅黑"/>
              <a:ea typeface="微软雅黑"/>
              <a:cs typeface="微软雅黑"/>
            </a:endParaRPr>
          </a:p>
          <a:p>
            <a:pPr algn="l">
              <a:lnSpc>
                <a:spcPct val="135000"/>
              </a:lnSpc>
            </a:pPr>
            <a:r>
              <a:rPr sz="800" b="0">
                <a:solidFill>
                  <a:srgbClr val="595959"/>
                </a:solidFill>
                <a:latin typeface="微软雅黑"/>
                <a:ea typeface="微软雅黑"/>
                <a:cs typeface="微软雅黑"/>
              </a:rPr>
              <a:t>对照</a:t>
            </a:r>
            <a:endParaRPr sz="800" b="0">
              <a:solidFill>
                <a:srgbClr val="595959"/>
              </a:solidFill>
              <a:latin typeface="微软雅黑"/>
              <a:ea typeface="微软雅黑"/>
              <a:cs typeface="微软雅黑"/>
            </a:endParaRPr>
          </a:p>
        </p:txBody>
      </p:sp>
      <p:pic>
        <p:nvPicPr>
          <p:cNvPr id="8" name="Picture 7" descr="Day8_r1c1.png"/>
          <p:cNvPicPr>
            <a:picLocks noChangeAspect="1"/>
          </p:cNvPicPr>
          <p:nvPr/>
        </p:nvPicPr>
        <p:blipFill>
          <a:blip r:embed="rId1"/>
          <a:stretch>
            <a:fillRect/>
          </a:stretch>
        </p:blipFill>
        <p:spPr>
          <a:xfrm>
            <a:off x="1188000" y="1224000"/>
            <a:ext cx="1231200" cy="1188000"/>
          </a:xfrm>
          <a:prstGeom prst="rect">
            <a:avLst/>
          </a:prstGeom>
        </p:spPr>
      </p:pic>
      <p:pic>
        <p:nvPicPr>
          <p:cNvPr id="9" name="Picture 8" descr="Day8_r1c2.png"/>
          <p:cNvPicPr>
            <a:picLocks noChangeAspect="1"/>
          </p:cNvPicPr>
          <p:nvPr/>
        </p:nvPicPr>
        <p:blipFill>
          <a:blip r:embed="rId2"/>
          <a:stretch>
            <a:fillRect/>
          </a:stretch>
        </p:blipFill>
        <p:spPr>
          <a:xfrm>
            <a:off x="2520000" y="1224000"/>
            <a:ext cx="1231200" cy="1188000"/>
          </a:xfrm>
          <a:prstGeom prst="rect">
            <a:avLst/>
          </a:prstGeom>
        </p:spPr>
      </p:pic>
      <p:pic>
        <p:nvPicPr>
          <p:cNvPr id="10" name="Picture 9" descr="Day8_r1c3.png"/>
          <p:cNvPicPr>
            <a:picLocks noChangeAspect="1"/>
          </p:cNvPicPr>
          <p:nvPr/>
        </p:nvPicPr>
        <p:blipFill>
          <a:blip r:embed="rId3"/>
          <a:stretch>
            <a:fillRect/>
          </a:stretch>
        </p:blipFill>
        <p:spPr>
          <a:xfrm>
            <a:off x="3851999" y="1224000"/>
            <a:ext cx="1231200" cy="1188000"/>
          </a:xfrm>
          <a:prstGeom prst="rect">
            <a:avLst/>
          </a:prstGeom>
        </p:spPr>
      </p:pic>
      <p:pic>
        <p:nvPicPr>
          <p:cNvPr id="11" name="Picture 10" descr="Day8_r1c4.png"/>
          <p:cNvPicPr>
            <a:picLocks noChangeAspect="1"/>
          </p:cNvPicPr>
          <p:nvPr/>
        </p:nvPicPr>
        <p:blipFill>
          <a:blip r:embed="rId4"/>
          <a:stretch>
            <a:fillRect/>
          </a:stretch>
        </p:blipFill>
        <p:spPr>
          <a:xfrm>
            <a:off x="5184000" y="1224000"/>
            <a:ext cx="1231200" cy="1188000"/>
          </a:xfrm>
          <a:prstGeom prst="rect">
            <a:avLst/>
          </a:prstGeom>
        </p:spPr>
      </p:pic>
      <p:sp>
        <p:nvSpPr>
          <p:cNvPr id="12" name="TextBox 11"/>
          <p:cNvSpPr txBox="1"/>
          <p:nvPr/>
        </p:nvSpPr>
        <p:spPr>
          <a:xfrm>
            <a:off x="413999" y="2880000"/>
            <a:ext cx="720000" cy="576000"/>
          </a:xfrm>
          <a:prstGeom prst="rect">
            <a:avLst/>
          </a:prstGeom>
          <a:noFill/>
        </p:spPr>
        <p:txBody>
          <a:bodyPr wrap="square" lIns="0" tIns="0" rIns="0" bIns="0">
            <a:spAutoFit/>
          </a:bodyPr>
          <a:lstStyle/>
          <a:p>
            <a:pPr algn="l">
              <a:lnSpc>
                <a:spcPct val="135000"/>
              </a:lnSpc>
            </a:pPr>
            <a:r>
              <a:rPr sz="1300" b="1">
                <a:solidFill>
                  <a:srgbClr val="000000"/>
                </a:solidFill>
                <a:latin typeface="微软雅黑"/>
                <a:ea typeface="微软雅黑"/>
                <a:cs typeface="微软雅黑"/>
              </a:rPr>
              <a:t>T</a:t>
            </a:r>
            <a:endParaRPr sz="1300" b="1">
              <a:solidFill>
                <a:srgbClr val="000000"/>
              </a:solidFill>
              <a:latin typeface="微软雅黑"/>
              <a:ea typeface="微软雅黑"/>
              <a:cs typeface="微软雅黑"/>
            </a:endParaRPr>
          </a:p>
          <a:p>
            <a:pPr algn="l">
              <a:lnSpc>
                <a:spcPct val="135000"/>
              </a:lnSpc>
            </a:pPr>
            <a:r>
              <a:rPr sz="800" b="0">
                <a:solidFill>
                  <a:srgbClr val="595959"/>
                </a:solidFill>
                <a:latin typeface="微软雅黑"/>
                <a:ea typeface="微软雅黑"/>
                <a:cs typeface="微软雅黑"/>
              </a:rPr>
              <a:t>TGF-β</a:t>
            </a:r>
            <a:endParaRPr sz="800" b="0">
              <a:solidFill>
                <a:srgbClr val="595959"/>
              </a:solidFill>
              <a:latin typeface="微软雅黑"/>
              <a:ea typeface="微软雅黑"/>
              <a:cs typeface="微软雅黑"/>
            </a:endParaRPr>
          </a:p>
        </p:txBody>
      </p:sp>
      <p:pic>
        <p:nvPicPr>
          <p:cNvPr id="13" name="Picture 12" descr="Day8_r2c1.png"/>
          <p:cNvPicPr>
            <a:picLocks noChangeAspect="1"/>
          </p:cNvPicPr>
          <p:nvPr/>
        </p:nvPicPr>
        <p:blipFill>
          <a:blip r:embed="rId5"/>
          <a:stretch>
            <a:fillRect/>
          </a:stretch>
        </p:blipFill>
        <p:spPr>
          <a:xfrm>
            <a:off x="1188000" y="2520000"/>
            <a:ext cx="1231200" cy="1188000"/>
          </a:xfrm>
          <a:prstGeom prst="rect">
            <a:avLst/>
          </a:prstGeom>
        </p:spPr>
      </p:pic>
      <p:pic>
        <p:nvPicPr>
          <p:cNvPr id="14" name="Picture 13" descr="Day8_r2c2.png"/>
          <p:cNvPicPr>
            <a:picLocks noChangeAspect="1"/>
          </p:cNvPicPr>
          <p:nvPr/>
        </p:nvPicPr>
        <p:blipFill>
          <a:blip r:embed="rId6"/>
          <a:stretch>
            <a:fillRect/>
          </a:stretch>
        </p:blipFill>
        <p:spPr>
          <a:xfrm>
            <a:off x="2520000" y="2520000"/>
            <a:ext cx="1231200" cy="1188000"/>
          </a:xfrm>
          <a:prstGeom prst="rect">
            <a:avLst/>
          </a:prstGeom>
        </p:spPr>
      </p:pic>
      <p:pic>
        <p:nvPicPr>
          <p:cNvPr id="15" name="Picture 14" descr="Day8_r2c3.png"/>
          <p:cNvPicPr>
            <a:picLocks noChangeAspect="1"/>
          </p:cNvPicPr>
          <p:nvPr/>
        </p:nvPicPr>
        <p:blipFill>
          <a:blip r:embed="rId7"/>
          <a:stretch>
            <a:fillRect/>
          </a:stretch>
        </p:blipFill>
        <p:spPr>
          <a:xfrm>
            <a:off x="3851999" y="2520000"/>
            <a:ext cx="1231200" cy="1188000"/>
          </a:xfrm>
          <a:prstGeom prst="rect">
            <a:avLst/>
          </a:prstGeom>
        </p:spPr>
      </p:pic>
      <p:pic>
        <p:nvPicPr>
          <p:cNvPr id="16" name="Picture 15" descr="Day8_r2c4.png"/>
          <p:cNvPicPr>
            <a:picLocks noChangeAspect="1"/>
          </p:cNvPicPr>
          <p:nvPr/>
        </p:nvPicPr>
        <p:blipFill>
          <a:blip r:embed="rId8"/>
          <a:stretch>
            <a:fillRect/>
          </a:stretch>
        </p:blipFill>
        <p:spPr>
          <a:xfrm>
            <a:off x="5184000" y="2520000"/>
            <a:ext cx="1231200" cy="1188000"/>
          </a:xfrm>
          <a:prstGeom prst="rect">
            <a:avLst/>
          </a:prstGeom>
        </p:spPr>
      </p:pic>
      <p:sp>
        <p:nvSpPr>
          <p:cNvPr id="17" name="TextBox 16"/>
          <p:cNvSpPr txBox="1"/>
          <p:nvPr/>
        </p:nvSpPr>
        <p:spPr>
          <a:xfrm>
            <a:off x="413999" y="4176000"/>
            <a:ext cx="720000" cy="576000"/>
          </a:xfrm>
          <a:prstGeom prst="rect">
            <a:avLst/>
          </a:prstGeom>
          <a:noFill/>
        </p:spPr>
        <p:txBody>
          <a:bodyPr wrap="square" lIns="0" tIns="0" rIns="0" bIns="0">
            <a:spAutoFit/>
          </a:bodyPr>
          <a:lstStyle/>
          <a:p>
            <a:pPr algn="l">
              <a:lnSpc>
                <a:spcPct val="135000"/>
              </a:lnSpc>
            </a:pPr>
            <a:r>
              <a:rPr sz="1300" b="1">
                <a:solidFill>
                  <a:srgbClr val="000000"/>
                </a:solidFill>
                <a:latin typeface="微软雅黑"/>
                <a:ea typeface="微软雅黑"/>
                <a:cs typeface="微软雅黑"/>
              </a:rPr>
              <a:t>TA</a:t>
            </a:r>
            <a:endParaRPr sz="1300" b="1">
              <a:solidFill>
                <a:srgbClr val="000000"/>
              </a:solidFill>
              <a:latin typeface="微软雅黑"/>
              <a:ea typeface="微软雅黑"/>
              <a:cs typeface="微软雅黑"/>
            </a:endParaRPr>
          </a:p>
          <a:p>
            <a:pPr algn="l">
              <a:lnSpc>
                <a:spcPct val="135000"/>
              </a:lnSpc>
            </a:pPr>
            <a:r>
              <a:rPr sz="800" b="0">
                <a:solidFill>
                  <a:srgbClr val="595959"/>
                </a:solidFill>
                <a:latin typeface="微软雅黑"/>
                <a:ea typeface="微软雅黑"/>
                <a:cs typeface="微软雅黑"/>
              </a:rPr>
              <a:t>TGF-β + ACE</a:t>
            </a:r>
            <a:endParaRPr sz="800" b="0">
              <a:solidFill>
                <a:srgbClr val="595959"/>
              </a:solidFill>
              <a:latin typeface="微软雅黑"/>
              <a:ea typeface="微软雅黑"/>
              <a:cs typeface="微软雅黑"/>
            </a:endParaRPr>
          </a:p>
        </p:txBody>
      </p:sp>
      <p:pic>
        <p:nvPicPr>
          <p:cNvPr id="18" name="Picture 17" descr="Day8_r3c1.png"/>
          <p:cNvPicPr>
            <a:picLocks noChangeAspect="1"/>
          </p:cNvPicPr>
          <p:nvPr/>
        </p:nvPicPr>
        <p:blipFill>
          <a:blip r:embed="rId9"/>
          <a:stretch>
            <a:fillRect/>
          </a:stretch>
        </p:blipFill>
        <p:spPr>
          <a:xfrm>
            <a:off x="1188000" y="3816000"/>
            <a:ext cx="1231200" cy="1188000"/>
          </a:xfrm>
          <a:prstGeom prst="rect">
            <a:avLst/>
          </a:prstGeom>
        </p:spPr>
      </p:pic>
      <p:pic>
        <p:nvPicPr>
          <p:cNvPr id="19" name="Picture 18" descr="Day8_r3c2.png"/>
          <p:cNvPicPr>
            <a:picLocks noChangeAspect="1"/>
          </p:cNvPicPr>
          <p:nvPr/>
        </p:nvPicPr>
        <p:blipFill>
          <a:blip r:embed="rId10"/>
          <a:stretch>
            <a:fillRect/>
          </a:stretch>
        </p:blipFill>
        <p:spPr>
          <a:xfrm>
            <a:off x="2520000" y="3816000"/>
            <a:ext cx="1231200" cy="1188000"/>
          </a:xfrm>
          <a:prstGeom prst="rect">
            <a:avLst/>
          </a:prstGeom>
        </p:spPr>
      </p:pic>
      <p:pic>
        <p:nvPicPr>
          <p:cNvPr id="20" name="Picture 19" descr="Day8_r3c3.png"/>
          <p:cNvPicPr>
            <a:picLocks noChangeAspect="1"/>
          </p:cNvPicPr>
          <p:nvPr/>
        </p:nvPicPr>
        <p:blipFill>
          <a:blip r:embed="rId11"/>
          <a:stretch>
            <a:fillRect/>
          </a:stretch>
        </p:blipFill>
        <p:spPr>
          <a:xfrm>
            <a:off x="3851999" y="3816000"/>
            <a:ext cx="1231200" cy="1188000"/>
          </a:xfrm>
          <a:prstGeom prst="rect">
            <a:avLst/>
          </a:prstGeom>
        </p:spPr>
      </p:pic>
      <p:pic>
        <p:nvPicPr>
          <p:cNvPr id="21" name="Picture 20" descr="Day8_r3c4.png"/>
          <p:cNvPicPr>
            <a:picLocks noChangeAspect="1"/>
          </p:cNvPicPr>
          <p:nvPr/>
        </p:nvPicPr>
        <p:blipFill>
          <a:blip r:embed="rId12"/>
          <a:stretch>
            <a:fillRect/>
          </a:stretch>
        </p:blipFill>
        <p:spPr>
          <a:xfrm>
            <a:off x="5184000" y="3816000"/>
            <a:ext cx="1231200" cy="1188000"/>
          </a:xfrm>
          <a:prstGeom prst="rect">
            <a:avLst/>
          </a:prstGeom>
        </p:spPr>
      </p:pic>
      <p:sp>
        <p:nvSpPr>
          <p:cNvPr id="22" name="TextBox 21"/>
          <p:cNvSpPr txBox="1"/>
          <p:nvPr/>
        </p:nvSpPr>
        <p:spPr>
          <a:xfrm>
            <a:off x="413999" y="5472000"/>
            <a:ext cx="720000" cy="576000"/>
          </a:xfrm>
          <a:prstGeom prst="rect">
            <a:avLst/>
          </a:prstGeom>
          <a:noFill/>
        </p:spPr>
        <p:txBody>
          <a:bodyPr wrap="square" lIns="0" tIns="0" rIns="0" bIns="0">
            <a:spAutoFit/>
          </a:bodyPr>
          <a:lstStyle/>
          <a:p>
            <a:pPr algn="l">
              <a:lnSpc>
                <a:spcPct val="135000"/>
              </a:lnSpc>
            </a:pPr>
            <a:r>
              <a:rPr sz="1300" b="1">
                <a:solidFill>
                  <a:srgbClr val="000000"/>
                </a:solidFill>
                <a:latin typeface="微软雅黑"/>
                <a:ea typeface="微软雅黑"/>
                <a:cs typeface="微软雅黑"/>
              </a:rPr>
              <a:t>A</a:t>
            </a:r>
            <a:endParaRPr sz="1300" b="1">
              <a:solidFill>
                <a:srgbClr val="000000"/>
              </a:solidFill>
              <a:latin typeface="微软雅黑"/>
              <a:ea typeface="微软雅黑"/>
              <a:cs typeface="微软雅黑"/>
            </a:endParaRPr>
          </a:p>
          <a:p>
            <a:pPr algn="l">
              <a:lnSpc>
                <a:spcPct val="135000"/>
              </a:lnSpc>
            </a:pPr>
            <a:r>
              <a:rPr sz="800" b="0">
                <a:solidFill>
                  <a:srgbClr val="595959"/>
                </a:solidFill>
                <a:latin typeface="微软雅黑"/>
                <a:ea typeface="微软雅黑"/>
                <a:cs typeface="微软雅黑"/>
              </a:rPr>
              <a:t>ACE</a:t>
            </a:r>
            <a:endParaRPr sz="800" b="0">
              <a:solidFill>
                <a:srgbClr val="595959"/>
              </a:solidFill>
              <a:latin typeface="微软雅黑"/>
              <a:ea typeface="微软雅黑"/>
              <a:cs typeface="微软雅黑"/>
            </a:endParaRPr>
          </a:p>
        </p:txBody>
      </p:sp>
      <p:pic>
        <p:nvPicPr>
          <p:cNvPr id="23" name="Picture 22" descr="Day8_r4c1.png"/>
          <p:cNvPicPr>
            <a:picLocks noChangeAspect="1"/>
          </p:cNvPicPr>
          <p:nvPr/>
        </p:nvPicPr>
        <p:blipFill>
          <a:blip r:embed="rId13"/>
          <a:stretch>
            <a:fillRect/>
          </a:stretch>
        </p:blipFill>
        <p:spPr>
          <a:xfrm>
            <a:off x="1188000" y="5112000"/>
            <a:ext cx="1231200" cy="1188000"/>
          </a:xfrm>
          <a:prstGeom prst="rect">
            <a:avLst/>
          </a:prstGeom>
        </p:spPr>
      </p:pic>
      <p:pic>
        <p:nvPicPr>
          <p:cNvPr id="24" name="Picture 23" descr="Day8_r4c2.png"/>
          <p:cNvPicPr>
            <a:picLocks noChangeAspect="1"/>
          </p:cNvPicPr>
          <p:nvPr/>
        </p:nvPicPr>
        <p:blipFill>
          <a:blip r:embed="rId14"/>
          <a:stretch>
            <a:fillRect/>
          </a:stretch>
        </p:blipFill>
        <p:spPr>
          <a:xfrm>
            <a:off x="2520000" y="5112000"/>
            <a:ext cx="1231200" cy="1188000"/>
          </a:xfrm>
          <a:prstGeom prst="rect">
            <a:avLst/>
          </a:prstGeom>
        </p:spPr>
      </p:pic>
      <p:pic>
        <p:nvPicPr>
          <p:cNvPr id="25" name="Picture 24" descr="Day8_r4c3.png"/>
          <p:cNvPicPr>
            <a:picLocks noChangeAspect="1"/>
          </p:cNvPicPr>
          <p:nvPr/>
        </p:nvPicPr>
        <p:blipFill>
          <a:blip r:embed="rId15"/>
          <a:stretch>
            <a:fillRect/>
          </a:stretch>
        </p:blipFill>
        <p:spPr>
          <a:xfrm>
            <a:off x="3851999" y="5112000"/>
            <a:ext cx="1231200" cy="1188000"/>
          </a:xfrm>
          <a:prstGeom prst="rect">
            <a:avLst/>
          </a:prstGeom>
        </p:spPr>
      </p:pic>
      <p:pic>
        <p:nvPicPr>
          <p:cNvPr id="26" name="Picture 25" descr="Day8_r4c4.png"/>
          <p:cNvPicPr>
            <a:picLocks noChangeAspect="1"/>
          </p:cNvPicPr>
          <p:nvPr/>
        </p:nvPicPr>
        <p:blipFill>
          <a:blip r:embed="rId16"/>
          <a:stretch>
            <a:fillRect/>
          </a:stretch>
        </p:blipFill>
        <p:spPr>
          <a:xfrm>
            <a:off x="5184000" y="5112000"/>
            <a:ext cx="1231200" cy="1188000"/>
          </a:xfrm>
          <a:prstGeom prst="rect">
            <a:avLst/>
          </a:prstGeom>
        </p:spPr>
      </p:pic>
      <p:sp>
        <p:nvSpPr>
          <p:cNvPr id="27" name="TextBox 26"/>
          <p:cNvSpPr txBox="1"/>
          <p:nvPr/>
        </p:nvSpPr>
        <p:spPr>
          <a:xfrm>
            <a:off x="413999" y="6372000"/>
            <a:ext cx="720000" cy="216000"/>
          </a:xfrm>
          <a:prstGeom prst="rect">
            <a:avLst/>
          </a:prstGeom>
          <a:noFill/>
        </p:spPr>
        <p:txBody>
          <a:bodyPr wrap="square" lIns="0" tIns="0" rIns="0" bIns="0">
            <a:spAutoFit/>
          </a:bodyPr>
          <a:lstStyle/>
          <a:p>
            <a:pPr algn="l">
              <a:lnSpc>
                <a:spcPct val="135000"/>
              </a:lnSpc>
            </a:pPr>
            <a:r>
              <a:rPr sz="950" b="0">
                <a:solidFill>
                  <a:srgbClr val="000000"/>
                </a:solidFill>
                <a:latin typeface="微软雅黑"/>
                <a:ea typeface="微软雅黑"/>
                <a:cs typeface="微软雅黑"/>
              </a:rPr>
              <a:t>FSC-A ↑</a:t>
            </a:r>
            <a:endParaRPr sz="950" b="0">
              <a:solidFill>
                <a:srgbClr val="000000"/>
              </a:solidFill>
              <a:latin typeface="微软雅黑"/>
              <a:ea typeface="微软雅黑"/>
              <a:cs typeface="微软雅黑"/>
            </a:endParaRPr>
          </a:p>
        </p:txBody>
      </p:sp>
      <p:sp>
        <p:nvSpPr>
          <p:cNvPr id="28" name="TextBox 27"/>
          <p:cNvSpPr txBox="1"/>
          <p:nvPr/>
        </p:nvSpPr>
        <p:spPr>
          <a:xfrm>
            <a:off x="1188000" y="6372000"/>
            <a:ext cx="1231200" cy="216000"/>
          </a:xfrm>
          <a:prstGeom prst="rect">
            <a:avLst/>
          </a:prstGeom>
          <a:noFill/>
        </p:spPr>
        <p:txBody>
          <a:bodyPr wrap="square" lIns="0" tIns="0" rIns="0" bIns="0">
            <a:spAutoFit/>
          </a:bodyPr>
          <a:lstStyle/>
          <a:p>
            <a:pPr algn="ctr">
              <a:lnSpc>
                <a:spcPct val="135000"/>
              </a:lnSpc>
            </a:pPr>
            <a:r>
              <a:rPr sz="900" b="0">
                <a:solidFill>
                  <a:srgbClr val="000000"/>
                </a:solidFill>
                <a:latin typeface="微软雅黑"/>
                <a:ea typeface="微软雅黑"/>
                <a:cs typeface="微软雅黑"/>
              </a:rPr>
              <a:t>BV 421-A  →</a:t>
            </a:r>
            <a:endParaRPr sz="900" b="0">
              <a:solidFill>
                <a:srgbClr val="000000"/>
              </a:solidFill>
              <a:latin typeface="微软雅黑"/>
              <a:ea typeface="微软雅黑"/>
              <a:cs typeface="微软雅黑"/>
            </a:endParaRPr>
          </a:p>
        </p:txBody>
      </p:sp>
      <p:sp>
        <p:nvSpPr>
          <p:cNvPr id="29" name="TextBox 28"/>
          <p:cNvSpPr txBox="1"/>
          <p:nvPr/>
        </p:nvSpPr>
        <p:spPr>
          <a:xfrm>
            <a:off x="2520000" y="6372000"/>
            <a:ext cx="1231200" cy="216000"/>
          </a:xfrm>
          <a:prstGeom prst="rect">
            <a:avLst/>
          </a:prstGeom>
          <a:noFill/>
        </p:spPr>
        <p:txBody>
          <a:bodyPr wrap="square" lIns="0" tIns="0" rIns="0" bIns="0">
            <a:spAutoFit/>
          </a:bodyPr>
          <a:lstStyle/>
          <a:p>
            <a:pPr algn="ctr">
              <a:lnSpc>
                <a:spcPct val="135000"/>
              </a:lnSpc>
            </a:pPr>
            <a:r>
              <a:rPr sz="900" b="0">
                <a:solidFill>
                  <a:srgbClr val="000000"/>
                </a:solidFill>
                <a:latin typeface="微软雅黑"/>
                <a:ea typeface="微软雅黑"/>
                <a:cs typeface="微软雅黑"/>
              </a:rPr>
              <a:t>PE-W_561-A  →</a:t>
            </a:r>
            <a:endParaRPr sz="900" b="0">
              <a:solidFill>
                <a:srgbClr val="000000"/>
              </a:solidFill>
              <a:latin typeface="微软雅黑"/>
              <a:ea typeface="微软雅黑"/>
              <a:cs typeface="微软雅黑"/>
            </a:endParaRPr>
          </a:p>
        </p:txBody>
      </p:sp>
      <p:sp>
        <p:nvSpPr>
          <p:cNvPr id="30" name="TextBox 29"/>
          <p:cNvSpPr txBox="1"/>
          <p:nvPr/>
        </p:nvSpPr>
        <p:spPr>
          <a:xfrm>
            <a:off x="3851999" y="6372000"/>
            <a:ext cx="1231200" cy="216000"/>
          </a:xfrm>
          <a:prstGeom prst="rect">
            <a:avLst/>
          </a:prstGeom>
          <a:noFill/>
        </p:spPr>
        <p:txBody>
          <a:bodyPr wrap="square" lIns="0" tIns="0" rIns="0" bIns="0">
            <a:spAutoFit/>
          </a:bodyPr>
          <a:lstStyle/>
          <a:p>
            <a:pPr algn="ctr">
              <a:lnSpc>
                <a:spcPct val="135000"/>
              </a:lnSpc>
            </a:pPr>
            <a:r>
              <a:rPr sz="900" b="0">
                <a:solidFill>
                  <a:srgbClr val="000000"/>
                </a:solidFill>
                <a:latin typeface="微软雅黑"/>
                <a:ea typeface="微软雅黑"/>
                <a:cs typeface="微软雅黑"/>
              </a:rPr>
              <a:t>BUV396-A  →</a:t>
            </a:r>
            <a:endParaRPr sz="900" b="0">
              <a:solidFill>
                <a:srgbClr val="000000"/>
              </a:solidFill>
              <a:latin typeface="微软雅黑"/>
              <a:ea typeface="微软雅黑"/>
              <a:cs typeface="微软雅黑"/>
            </a:endParaRPr>
          </a:p>
        </p:txBody>
      </p:sp>
      <p:sp>
        <p:nvSpPr>
          <p:cNvPr id="31" name="TextBox 30"/>
          <p:cNvSpPr txBox="1"/>
          <p:nvPr/>
        </p:nvSpPr>
        <p:spPr>
          <a:xfrm>
            <a:off x="5184000" y="6372000"/>
            <a:ext cx="1231200" cy="216000"/>
          </a:xfrm>
          <a:prstGeom prst="rect">
            <a:avLst/>
          </a:prstGeom>
          <a:noFill/>
        </p:spPr>
        <p:txBody>
          <a:bodyPr wrap="square" lIns="0" tIns="0" rIns="0" bIns="0">
            <a:spAutoFit/>
          </a:bodyPr>
          <a:lstStyle/>
          <a:p>
            <a:pPr algn="ctr">
              <a:lnSpc>
                <a:spcPct val="135000"/>
              </a:lnSpc>
            </a:pPr>
            <a:r>
              <a:rPr sz="900" b="0">
                <a:solidFill>
                  <a:srgbClr val="000000"/>
                </a:solidFill>
                <a:latin typeface="微软雅黑"/>
                <a:ea typeface="微软雅黑"/>
                <a:cs typeface="微软雅黑"/>
              </a:rPr>
              <a:t>PerCP-Cy5-5-A  →</a:t>
            </a:r>
            <a:endParaRPr sz="900" b="0">
              <a:solidFill>
                <a:srgbClr val="000000"/>
              </a:solidFill>
              <a:latin typeface="微软雅黑"/>
              <a:ea typeface="微软雅黑"/>
              <a:cs typeface="微软雅黑"/>
            </a:endParaRPr>
          </a:p>
        </p:txBody>
      </p:sp>
      <p:pic>
        <p:nvPicPr>
          <p:cNvPr id="32" name="Picture 31" descr="side_105_day8.png"/>
          <p:cNvPicPr>
            <a:picLocks noChangeAspect="1"/>
          </p:cNvPicPr>
          <p:nvPr/>
        </p:nvPicPr>
        <p:blipFill>
          <a:blip r:embed="rId17"/>
          <a:stretch>
            <a:fillRect/>
          </a:stretch>
        </p:blipFill>
        <p:spPr>
          <a:xfrm>
            <a:off x="6588000" y="864000"/>
            <a:ext cx="2520000" cy="5796000"/>
          </a:xfrm>
          <a:prstGeom prst="rect">
            <a:avLst/>
          </a:prstGeom>
        </p:spPr>
      </p:pic>
      <p:sp>
        <p:nvSpPr>
          <p:cNvPr id="33" name="TextBox 32"/>
          <p:cNvSpPr txBox="1"/>
          <p:nvPr/>
        </p:nvSpPr>
        <p:spPr>
          <a:xfrm>
            <a:off x="9180000" y="900000"/>
            <a:ext cx="2772000" cy="5760000"/>
          </a:xfrm>
          <a:prstGeom prst="rect">
            <a:avLst/>
          </a:prstGeom>
          <a:noFill/>
        </p:spPr>
        <p:txBody>
          <a:bodyPr wrap="square" lIns="0" tIns="0" rIns="0" bIns="0">
            <a:spAutoFit/>
          </a:bodyPr>
          <a:lstStyle/>
          <a:p>
            <a:pPr algn="l">
              <a:lnSpc>
                <a:spcPct val="135000"/>
              </a:lnSpc>
            </a:pPr>
            <a:r>
              <a:rPr sz="1200" b="1">
                <a:solidFill>
                  <a:srgbClr val="000000"/>
                </a:solidFill>
                <a:latin typeface="微软雅黑"/>
                <a:ea typeface="微软雅黑"/>
                <a:cs typeface="微软雅黑"/>
              </a:rPr>
              <a:t>实验信息</a:t>
            </a:r>
            <a:endParaRPr sz="1200" b="1">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人 NK-92MI 细胞系</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2×2 析因：TGF-β × ACE</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每组 4 管，共 32 管</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采集 2026-09-25</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BD LSRFortessa X-20</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未设单染补偿对照</a:t>
            </a:r>
            <a:endParaRPr sz="1050" b="0">
              <a:solidFill>
                <a:srgbClr val="000000"/>
              </a:solidFill>
              <a:latin typeface="微软雅黑"/>
              <a:ea typeface="微软雅黑"/>
              <a:cs typeface="微软雅黑"/>
            </a:endParaRPr>
          </a:p>
          <a:p>
            <a:pPr algn="l">
              <a:lnSpc>
                <a:spcPct val="135000"/>
              </a:lnSpc>
              <a:spcBef>
                <a:spcPts val="1400"/>
              </a:spcBef>
            </a:pPr>
            <a:r>
              <a:rPr sz="1200" b="1">
                <a:solidFill>
                  <a:srgbClr val="000000"/>
                </a:solidFill>
                <a:latin typeface="微软雅黑"/>
                <a:ea typeface="微软雅黑"/>
                <a:cs typeface="微软雅黑"/>
              </a:rPr>
              <a:t>染色方案</a:t>
            </a:r>
            <a:endParaRPr sz="1200" b="1">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死活-APC-Cy7</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Perforin-BV421</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Granzyme B-PE</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CD103-BUV396</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Ki67-PerCP-eFluor710</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CD49a-BV711（未检出信号）</a:t>
            </a:r>
            <a:endParaRPr sz="1050" b="0">
              <a:solidFill>
                <a:srgbClr val="000000"/>
              </a:solidFill>
              <a:latin typeface="微软雅黑"/>
              <a:ea typeface="微软雅黑"/>
              <a:cs typeface="微软雅黑"/>
            </a:endParaRPr>
          </a:p>
          <a:p>
            <a:pPr algn="l">
              <a:lnSpc>
                <a:spcPct val="135000"/>
              </a:lnSpc>
              <a:spcBef>
                <a:spcPts val="1400"/>
              </a:spcBef>
            </a:pPr>
            <a:r>
              <a:rPr sz="1100" b="0">
                <a:solidFill>
                  <a:srgbClr val="000000"/>
                </a:solidFill>
                <a:latin typeface="微软雅黑"/>
                <a:ea typeface="微软雅黑"/>
                <a:cs typeface="微软雅黑"/>
              </a:rPr>
              <a:t>每组展示一支代表管</a:t>
            </a:r>
            <a:endParaRPr sz="110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右侧柱状图为该时间点全部 4 管</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均值 ± 标准差，每点代表一管</a:t>
            </a:r>
            <a:endParaRPr sz="1050" b="0">
              <a:solidFill>
                <a:srgbClr val="000000"/>
              </a:solidFill>
              <a:latin typeface="微软雅黑"/>
              <a:ea typeface="微软雅黑"/>
              <a:cs typeface="微软雅黑"/>
            </a:endParaRPr>
          </a:p>
          <a:p>
            <a:pPr algn="l">
              <a:lnSpc>
                <a:spcPct val="135000"/>
              </a:lnSpc>
              <a:spcBef>
                <a:spcPts val="300"/>
              </a:spcBef>
            </a:pPr>
            <a:r>
              <a:rPr sz="1050" b="0">
                <a:solidFill>
                  <a:srgbClr val="000000"/>
                </a:solidFill>
                <a:latin typeface="微软雅黑"/>
                <a:ea typeface="微软雅黑"/>
                <a:cs typeface="微软雅黑"/>
              </a:rPr>
              <a:t>Dunnett 检验对 C</a:t>
            </a:r>
            <a:endParaRPr sz="1050" b="0">
              <a:solidFill>
                <a:srgbClr val="000000"/>
              </a:solidFill>
              <a:latin typeface="微软雅黑"/>
              <a:ea typeface="微软雅黑"/>
              <a:cs typeface="微软雅黑"/>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试验日期：2026-09-25</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0000" y="288000"/>
            <a:ext cx="11160000" cy="540000"/>
          </a:xfrm>
          <a:prstGeom prst="rect">
            <a:avLst/>
          </a:prstGeom>
          <a:noFill/>
        </p:spPr>
        <p:txBody>
          <a:bodyPr wrap="square" lIns="0" tIns="0" rIns="0" bIns="0">
            <a:spAutoFit/>
          </a:bodyPr>
          <a:lstStyle/>
          <a:p>
            <a:pPr algn="l">
              <a:lnSpc>
                <a:spcPct val="135000"/>
              </a:lnSpc>
            </a:pPr>
            <a:r>
              <a:rPr sz="2600" b="1">
                <a:solidFill>
                  <a:srgbClr val="000000"/>
                </a:solidFill>
                <a:latin typeface="微软雅黑"/>
                <a:ea typeface="微软雅黑"/>
                <a:cs typeface="微软雅黑"/>
              </a:rPr>
              <a:t>结论</a:t>
            </a:r>
            <a:endParaRPr sz="2600" b="1">
              <a:solidFill>
                <a:srgbClr val="000000"/>
              </a:solidFill>
              <a:latin typeface="微软雅黑"/>
              <a:ea typeface="微软雅黑"/>
              <a:cs typeface="微软雅黑"/>
            </a:endParaRPr>
          </a:p>
        </p:txBody>
      </p:sp>
      <p:sp>
        <p:nvSpPr>
          <p:cNvPr id="3" name="TextBox 2"/>
          <p:cNvSpPr txBox="1"/>
          <p:nvPr/>
        </p:nvSpPr>
        <p:spPr>
          <a:xfrm>
            <a:off x="439670" y="1007999"/>
            <a:ext cx="11160000" cy="1607820"/>
          </a:xfrm>
          <a:prstGeom prst="rect">
            <a:avLst/>
          </a:prstGeom>
          <a:noFill/>
        </p:spPr>
        <p:txBody>
          <a:bodyPr wrap="square" lIns="0" tIns="0" rIns="0" bIns="0">
            <a:spAutoFit/>
          </a:bodyPr>
          <a:lstStyle/>
          <a:p>
            <a:pPr algn="l">
              <a:lnSpc>
                <a:spcPct val="135000"/>
              </a:lnSpc>
            </a:pPr>
            <a:r>
              <a:rPr sz="1350" b="0">
                <a:solidFill>
                  <a:srgbClr val="000000"/>
                </a:solidFill>
                <a:latin typeface="微软雅黑"/>
                <a:ea typeface="微软雅黑"/>
                <a:cs typeface="微软雅黑"/>
              </a:rPr>
              <a:t>1. TGF-β 压低 Granzyme B 与 Perforin，两个时间点一致。Day 4 代表管 Granzyme B 由 89.5 % 降至 66.7 %，Perforin 由 51.2 % 降至 25.3 %。</a:t>
            </a:r>
            <a:endParaRPr sz="1350" b="0">
              <a:solidFill>
                <a:srgbClr val="000000"/>
              </a:solidFill>
              <a:latin typeface="微软雅黑"/>
              <a:ea typeface="微软雅黑"/>
              <a:cs typeface="微软雅黑"/>
            </a:endParaRPr>
          </a:p>
          <a:p>
            <a:pPr algn="l">
              <a:lnSpc>
                <a:spcPct val="135000"/>
              </a:lnSpc>
              <a:spcBef>
                <a:spcPts val="1000"/>
              </a:spcBef>
            </a:pPr>
            <a:r>
              <a:rPr sz="1350" b="0">
                <a:solidFill>
                  <a:srgbClr val="000000"/>
                </a:solidFill>
                <a:latin typeface="微软雅黑"/>
                <a:ea typeface="微软雅黑"/>
                <a:cs typeface="微软雅黑"/>
              </a:rPr>
              <a:t>2. ACE 未能挽救。TGF-β + ACE 与单加 TGF-β 相当或更低，两个时间点的交互项均不显著。</a:t>
            </a:r>
            <a:endParaRPr sz="1350" b="0">
              <a:solidFill>
                <a:srgbClr val="000000"/>
              </a:solidFill>
              <a:latin typeface="微软雅黑"/>
              <a:ea typeface="微软雅黑"/>
              <a:cs typeface="微软雅黑"/>
            </a:endParaRPr>
          </a:p>
          <a:p>
            <a:pPr algn="l">
              <a:lnSpc>
                <a:spcPct val="135000"/>
              </a:lnSpc>
              <a:spcBef>
                <a:spcPts val="1000"/>
              </a:spcBef>
            </a:pPr>
            <a:r>
              <a:rPr sz="1350" b="0">
                <a:solidFill>
                  <a:srgbClr val="000000"/>
                </a:solidFill>
                <a:latin typeface="微软雅黑"/>
                <a:ea typeface="微软雅黑"/>
                <a:cs typeface="微软雅黑"/>
              </a:rPr>
              <a:t>3. ACE 单独提高 Ki67，Day 4 代表管由 62.1 % 升至 89.2 %，Day 8 该作用消失。</a:t>
            </a:r>
            <a:endParaRPr sz="1350" b="0">
              <a:solidFill>
                <a:srgbClr val="000000"/>
              </a:solidFill>
              <a:latin typeface="微软雅黑"/>
              <a:ea typeface="微软雅黑"/>
              <a:cs typeface="微软雅黑"/>
            </a:endParaRPr>
          </a:p>
          <a:p>
            <a:pPr algn="l">
              <a:lnSpc>
                <a:spcPct val="135000"/>
              </a:lnSpc>
              <a:spcBef>
                <a:spcPts val="1800"/>
              </a:spcBef>
            </a:pPr>
            <a:endParaRPr sz="1350" b="0">
              <a:solidFill>
                <a:srgbClr val="000000"/>
              </a:solidFill>
              <a:latin typeface="微软雅黑"/>
              <a:ea typeface="微软雅黑"/>
              <a:cs typeface="微软雅黑"/>
            </a:endParaRPr>
          </a:p>
        </p:txBody>
      </p:sp>
      <p:sp>
        <p:nvSpPr>
          <p:cNvPr id="1900001" name="ExpDate"/>
          <p:cNvSpPr txBox="1"/>
          <p:nvPr/>
        </p:nvSpPr>
        <p:spPr>
          <a:xfrm>
            <a:off x="9750000" y="6530000"/>
            <a:ext cx="2300000" cy="270000"/>
          </a:xfrm>
          <a:prstGeom prst="rect">
            <a:avLst/>
          </a:prstGeom>
          <a:noFill/>
        </p:spPr>
        <p:txBody>
          <a:bodyPr wrap="square" lIns="0" tIns="0" rIns="0" bIns="0" anchor="b"/>
          <a:lstStyle/>
          <a:p>
            <a:pPr algn="r"/>
            <a:r>
              <a:rPr lang="zh-CN" altLang="en-US" sz="900">
                <a:solidFill>
                  <a:srgbClr val="808080"/>
                </a:solidFill>
              </a:rPr>
              <a:t>试验日期：2026-09-25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64240" cy="219456"/>
          </a:xfrm>
          <a:prstGeom prst="rect">
            <a:avLst/>
          </a:prstGeom>
          <a:noFill/>
          <a:ln/>
        </p:spPr>
        <p:txBody>
          <a:bodyPr wrap="square" lIns="0" tIns="0" rIns="0" bIns="0" rtlCol="0" anchor="ctr"/>
          <a:lstStyle/>
          <a:p>
            <a:pPr indent="0" marL="0">
              <a:buNone/>
            </a:pPr>
            <a:r>
              <a:rPr lang="en-US" sz="1050" b="1" spc="100" kern="0" dirty="0">
                <a:solidFill>
                  <a:srgbClr val="B3202C"/>
                </a:solidFill>
                <a:latin typeface="Calibri" pitchFamily="34" charset="0"/>
                <a:ea typeface="Calibri" pitchFamily="34" charset="-122"/>
                <a:cs typeface="Calibri" pitchFamily="34" charset="-120"/>
              </a:rPr>
              <a:t>背景</a:t>
            </a:r>
            <a:endParaRPr lang="en-US" sz="1050" dirty="0"/>
          </a:p>
        </p:txBody>
      </p:sp>
      <p:sp>
        <p:nvSpPr>
          <p:cNvPr id="3" name="Text 1"/>
          <p:cNvSpPr/>
          <p:nvPr/>
        </p:nvSpPr>
        <p:spPr>
          <a:xfrm>
            <a:off x="548640" y="475488"/>
            <a:ext cx="11064240" cy="512064"/>
          </a:xfrm>
          <a:prstGeom prst="rect">
            <a:avLst/>
          </a:prstGeom>
          <a:noFill/>
          <a:ln/>
        </p:spPr>
        <p:txBody>
          <a:bodyPr wrap="square" lIns="0" tIns="0" rIns="0" bIns="0" rtlCol="0" anchor="ctr"/>
          <a:lstStyle/>
          <a:p>
            <a:pPr indent="0" marL="0">
              <a:buNone/>
            </a:pPr>
            <a:r>
              <a:rPr lang="en-US" sz="2600" b="1" dirty="0">
                <a:solidFill>
                  <a:srgbClr val="22303D"/>
                </a:solidFill>
                <a:latin typeface="Cambria" pitchFamily="34" charset="0"/>
                <a:ea typeface="Cambria" pitchFamily="34" charset="-122"/>
                <a:cs typeface="Cambria" pitchFamily="34" charset="-120"/>
              </a:rPr>
              <a:t>NK 细胞裂解级联的七个步骤与共同受阻位点</a:t>
            </a:r>
            <a:endParaRPr lang="en-US" sz="2600" dirty="0"/>
          </a:p>
        </p:txBody>
      </p:sp>
      <p:sp>
        <p:nvSpPr>
          <p:cNvPr id="4" name="Text 2"/>
          <p:cNvSpPr/>
          <p:nvPr/>
        </p:nvSpPr>
        <p:spPr>
          <a:xfrm>
            <a:off x="548640" y="1005840"/>
            <a:ext cx="11064240" cy="292608"/>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三项已发表研究各自独立地将阻断定位于同一步骤 —— MTOC 向免疫突触（immunological synapse，IS）重定向</a:t>
            </a:r>
            <a:endParaRPr lang="en-US" sz="1200" dirty="0"/>
          </a:p>
        </p:txBody>
      </p:sp>
      <p:pic>
        <p:nvPicPr>
          <p:cNvPr id="5" name="Image 0" descr="fig/f4_cascade_c.png">    </p:cNvPr>
          <p:cNvPicPr>
            <a:picLocks noChangeAspect="1"/>
          </p:cNvPicPr>
          <p:nvPr/>
        </p:nvPicPr>
        <p:blipFill>
          <a:blip r:embed="rId1"/>
          <a:stretch>
            <a:fillRect/>
          </a:stretch>
        </p:blipFill>
        <p:spPr>
          <a:xfrm>
            <a:off x="475488" y="1371600"/>
            <a:ext cx="6803136" cy="4251960"/>
          </a:xfrm>
          <a:prstGeom prst="rect">
            <a:avLst/>
          </a:prstGeom>
        </p:spPr>
      </p:pic>
      <p:sp>
        <p:nvSpPr>
          <p:cNvPr id="6" name="Text 3"/>
          <p:cNvSpPr/>
          <p:nvPr/>
        </p:nvSpPr>
        <p:spPr>
          <a:xfrm>
            <a:off x="7534656" y="1389888"/>
            <a:ext cx="4105656" cy="219456"/>
          </a:xfrm>
          <a:prstGeom prst="rect">
            <a:avLst/>
          </a:prstGeom>
          <a:noFill/>
          <a:ln/>
        </p:spPr>
        <p:txBody>
          <a:bodyPr wrap="square" lIns="0" tIns="0" rIns="0" bIns="0" rtlCol="0" anchor="ctr"/>
          <a:lstStyle/>
          <a:p>
            <a:pPr indent="0" marL="0">
              <a:buNone/>
            </a:pPr>
            <a:r>
              <a:rPr lang="en-US" sz="1050" b="1" spc="60" kern="0" dirty="0">
                <a:solidFill>
                  <a:srgbClr val="6B7683"/>
                </a:solidFill>
                <a:latin typeface="Calibri" pitchFamily="34" charset="0"/>
                <a:ea typeface="Calibri" pitchFamily="34" charset="-122"/>
                <a:cs typeface="Calibri" pitchFamily="34" charset="-120"/>
              </a:rPr>
              <a:t>裂解级联的七个步骤</a:t>
            </a:r>
            <a:endParaRPr lang="en-US" sz="1050" dirty="0"/>
          </a:p>
        </p:txBody>
      </p:sp>
      <p:sp>
        <p:nvSpPr>
          <p:cNvPr id="7" name="Shape 4"/>
          <p:cNvSpPr/>
          <p:nvPr/>
        </p:nvSpPr>
        <p:spPr>
          <a:xfrm>
            <a:off x="7626096" y="1719072"/>
            <a:ext cx="292608" cy="292608"/>
          </a:xfrm>
          <a:prstGeom prst="ellipse">
            <a:avLst/>
          </a:prstGeom>
          <a:solidFill>
            <a:srgbClr val="22303D"/>
          </a:solidFill>
          <a:ln w="12700">
            <a:solidFill>
              <a:srgbClr val="22303D"/>
            </a:solidFill>
            <a:prstDash val="solid"/>
          </a:ln>
        </p:spPr>
      </p:sp>
      <p:sp>
        <p:nvSpPr>
          <p:cNvPr id="8" name="Text 5"/>
          <p:cNvSpPr/>
          <p:nvPr/>
        </p:nvSpPr>
        <p:spPr>
          <a:xfrm>
            <a:off x="7626096" y="17190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8028432" y="1700784"/>
            <a:ext cx="3474720" cy="329184"/>
          </a:xfrm>
          <a:prstGeom prst="rect">
            <a:avLst/>
          </a:prstGeom>
          <a:noFill/>
          <a:ln/>
        </p:spPr>
        <p:txBody>
          <a:bodyPr wrap="square" lIns="0" tIns="0" rIns="0" bIns="0" rtlCol="0" anchor="ctr"/>
          <a:lstStyle/>
          <a:p>
            <a:pPr indent="0" marL="0">
              <a:buNone/>
            </a:pPr>
            <a:r>
              <a:rPr lang="en-US" sz="1100" dirty="0">
                <a:solidFill>
                  <a:srgbClr val="22303D"/>
                </a:solidFill>
                <a:latin typeface="Calibri" pitchFamily="34" charset="0"/>
                <a:ea typeface="Calibri" pitchFamily="34" charset="-122"/>
                <a:cs typeface="Calibri" pitchFamily="34" charset="-120"/>
              </a:rPr>
              <a:t>细胞黏附</a:t>
            </a:r>
            <a:endParaRPr lang="en-US" sz="1100" dirty="0"/>
          </a:p>
        </p:txBody>
      </p:sp>
      <p:sp>
        <p:nvSpPr>
          <p:cNvPr id="10" name="Shape 7"/>
          <p:cNvSpPr/>
          <p:nvPr/>
        </p:nvSpPr>
        <p:spPr>
          <a:xfrm>
            <a:off x="7772400" y="2029968"/>
            <a:ext cx="0" cy="109728"/>
          </a:xfrm>
          <a:prstGeom prst="line">
            <a:avLst/>
          </a:prstGeom>
          <a:noFill/>
          <a:ln w="17780">
            <a:solidFill>
              <a:srgbClr val="D8DEE4"/>
            </a:solidFill>
            <a:prstDash val="solid"/>
          </a:ln>
        </p:spPr>
      </p:sp>
      <p:sp>
        <p:nvSpPr>
          <p:cNvPr id="11" name="Shape 8"/>
          <p:cNvSpPr/>
          <p:nvPr/>
        </p:nvSpPr>
        <p:spPr>
          <a:xfrm>
            <a:off x="7626096" y="2176272"/>
            <a:ext cx="292608" cy="292608"/>
          </a:xfrm>
          <a:prstGeom prst="ellipse">
            <a:avLst/>
          </a:prstGeom>
          <a:solidFill>
            <a:srgbClr val="22303D"/>
          </a:solidFill>
          <a:ln w="12700">
            <a:solidFill>
              <a:srgbClr val="22303D"/>
            </a:solidFill>
            <a:prstDash val="solid"/>
          </a:ln>
        </p:spPr>
      </p:sp>
      <p:sp>
        <p:nvSpPr>
          <p:cNvPr id="12" name="Text 9"/>
          <p:cNvSpPr/>
          <p:nvPr/>
        </p:nvSpPr>
        <p:spPr>
          <a:xfrm>
            <a:off x="7626096" y="21762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p:nvPr/>
        </p:nvSpPr>
        <p:spPr>
          <a:xfrm>
            <a:off x="8028432" y="2157984"/>
            <a:ext cx="3474720" cy="329184"/>
          </a:xfrm>
          <a:prstGeom prst="rect">
            <a:avLst/>
          </a:prstGeom>
          <a:noFill/>
          <a:ln/>
        </p:spPr>
        <p:txBody>
          <a:bodyPr wrap="square" lIns="0" tIns="0" rIns="0" bIns="0" rtlCol="0" anchor="ctr"/>
          <a:lstStyle/>
          <a:p>
            <a:pPr indent="0" marL="0">
              <a:buNone/>
            </a:pPr>
            <a:r>
              <a:rPr lang="en-US" sz="1100" dirty="0">
                <a:solidFill>
                  <a:srgbClr val="22303D"/>
                </a:solidFill>
                <a:latin typeface="Calibri" pitchFamily="34" charset="0"/>
                <a:ea typeface="Calibri" pitchFamily="34" charset="-122"/>
                <a:cs typeface="Calibri" pitchFamily="34" charset="-120"/>
              </a:rPr>
              <a:t>活化受体连接</a:t>
            </a:r>
            <a:endParaRPr lang="en-US" sz="1100" dirty="0"/>
          </a:p>
        </p:txBody>
      </p:sp>
      <p:sp>
        <p:nvSpPr>
          <p:cNvPr id="14" name="Shape 11"/>
          <p:cNvSpPr/>
          <p:nvPr/>
        </p:nvSpPr>
        <p:spPr>
          <a:xfrm>
            <a:off x="7772400" y="2487168"/>
            <a:ext cx="0" cy="109728"/>
          </a:xfrm>
          <a:prstGeom prst="line">
            <a:avLst/>
          </a:prstGeom>
          <a:noFill/>
          <a:ln w="17780">
            <a:solidFill>
              <a:srgbClr val="D8DEE4"/>
            </a:solidFill>
            <a:prstDash val="solid"/>
          </a:ln>
        </p:spPr>
      </p:sp>
      <p:sp>
        <p:nvSpPr>
          <p:cNvPr id="15" name="Shape 12"/>
          <p:cNvSpPr/>
          <p:nvPr/>
        </p:nvSpPr>
        <p:spPr>
          <a:xfrm>
            <a:off x="7626096" y="2633472"/>
            <a:ext cx="292608" cy="292608"/>
          </a:xfrm>
          <a:prstGeom prst="ellipse">
            <a:avLst/>
          </a:prstGeom>
          <a:solidFill>
            <a:srgbClr val="22303D"/>
          </a:solidFill>
          <a:ln w="12700">
            <a:solidFill>
              <a:srgbClr val="22303D"/>
            </a:solidFill>
            <a:prstDash val="solid"/>
          </a:ln>
        </p:spPr>
      </p:sp>
      <p:sp>
        <p:nvSpPr>
          <p:cNvPr id="16" name="Text 13"/>
          <p:cNvSpPr/>
          <p:nvPr/>
        </p:nvSpPr>
        <p:spPr>
          <a:xfrm>
            <a:off x="7626096" y="26334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8028432" y="2615184"/>
            <a:ext cx="3474720" cy="329184"/>
          </a:xfrm>
          <a:prstGeom prst="rect">
            <a:avLst/>
          </a:prstGeom>
          <a:noFill/>
          <a:ln/>
        </p:spPr>
        <p:txBody>
          <a:bodyPr wrap="square" lIns="0" tIns="0" rIns="0" bIns="0" rtlCol="0" anchor="ctr"/>
          <a:lstStyle/>
          <a:p>
            <a:pPr indent="0" marL="0">
              <a:buNone/>
            </a:pPr>
            <a:r>
              <a:rPr lang="en-US" sz="1100" dirty="0">
                <a:solidFill>
                  <a:srgbClr val="22303D"/>
                </a:solidFill>
                <a:latin typeface="Calibri" pitchFamily="34" charset="0"/>
                <a:ea typeface="Calibri" pitchFamily="34" charset="-122"/>
                <a:cs typeface="Calibri" pitchFamily="34" charset="-120"/>
              </a:rPr>
              <a:t>纤维状肌动蛋白重塑</a:t>
            </a:r>
            <a:endParaRPr lang="en-US" sz="1100" dirty="0"/>
          </a:p>
        </p:txBody>
      </p:sp>
      <p:sp>
        <p:nvSpPr>
          <p:cNvPr id="18" name="Shape 15"/>
          <p:cNvSpPr/>
          <p:nvPr/>
        </p:nvSpPr>
        <p:spPr>
          <a:xfrm>
            <a:off x="7772400" y="2944368"/>
            <a:ext cx="0" cy="109728"/>
          </a:xfrm>
          <a:prstGeom prst="line">
            <a:avLst/>
          </a:prstGeom>
          <a:noFill/>
          <a:ln w="17780">
            <a:solidFill>
              <a:srgbClr val="D8DEE4"/>
            </a:solidFill>
            <a:prstDash val="solid"/>
          </a:ln>
        </p:spPr>
      </p:sp>
      <p:sp>
        <p:nvSpPr>
          <p:cNvPr id="19" name="Shape 16"/>
          <p:cNvSpPr/>
          <p:nvPr/>
        </p:nvSpPr>
        <p:spPr>
          <a:xfrm>
            <a:off x="7626096" y="3090672"/>
            <a:ext cx="292608" cy="292608"/>
          </a:xfrm>
          <a:prstGeom prst="ellipse">
            <a:avLst/>
          </a:prstGeom>
          <a:solidFill>
            <a:srgbClr val="22303D"/>
          </a:solidFill>
          <a:ln w="12700">
            <a:solidFill>
              <a:srgbClr val="22303D"/>
            </a:solidFill>
            <a:prstDash val="solid"/>
          </a:ln>
        </p:spPr>
      </p:sp>
      <p:sp>
        <p:nvSpPr>
          <p:cNvPr id="20" name="Text 17"/>
          <p:cNvSpPr/>
          <p:nvPr/>
        </p:nvSpPr>
        <p:spPr>
          <a:xfrm>
            <a:off x="7626096" y="30906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8"/>
          <p:cNvSpPr/>
          <p:nvPr/>
        </p:nvSpPr>
        <p:spPr>
          <a:xfrm>
            <a:off x="8028432" y="3072384"/>
            <a:ext cx="3474720" cy="329184"/>
          </a:xfrm>
          <a:prstGeom prst="rect">
            <a:avLst/>
          </a:prstGeom>
          <a:noFill/>
          <a:ln/>
        </p:spPr>
        <p:txBody>
          <a:bodyPr wrap="square" lIns="0" tIns="0" rIns="0" bIns="0" rtlCol="0" anchor="ctr"/>
          <a:lstStyle/>
          <a:p>
            <a:pPr indent="0" marL="0">
              <a:buNone/>
            </a:pPr>
            <a:r>
              <a:rPr lang="en-US" sz="1100" dirty="0">
                <a:solidFill>
                  <a:srgbClr val="22303D"/>
                </a:solidFill>
                <a:latin typeface="Calibri" pitchFamily="34" charset="0"/>
                <a:ea typeface="Calibri" pitchFamily="34" charset="-122"/>
                <a:cs typeface="Calibri" pitchFamily="34" charset="-120"/>
              </a:rPr>
              <a:t>裂解颗粒向 MTOC 汇聚</a:t>
            </a:r>
            <a:endParaRPr lang="en-US" sz="1100" dirty="0"/>
          </a:p>
        </p:txBody>
      </p:sp>
      <p:sp>
        <p:nvSpPr>
          <p:cNvPr id="22" name="Shape 19"/>
          <p:cNvSpPr/>
          <p:nvPr/>
        </p:nvSpPr>
        <p:spPr>
          <a:xfrm>
            <a:off x="7772400" y="3401568"/>
            <a:ext cx="0" cy="109728"/>
          </a:xfrm>
          <a:prstGeom prst="line">
            <a:avLst/>
          </a:prstGeom>
          <a:noFill/>
          <a:ln w="17780">
            <a:solidFill>
              <a:srgbClr val="D8DEE4"/>
            </a:solidFill>
            <a:prstDash val="solid"/>
          </a:ln>
        </p:spPr>
      </p:sp>
      <p:sp>
        <p:nvSpPr>
          <p:cNvPr id="23" name="Shape 20"/>
          <p:cNvSpPr/>
          <p:nvPr/>
        </p:nvSpPr>
        <p:spPr>
          <a:xfrm>
            <a:off x="7498080" y="3483864"/>
            <a:ext cx="4142232" cy="420624"/>
          </a:xfrm>
          <a:prstGeom prst="roundRect">
            <a:avLst>
              <a:gd name="adj" fmla="val 10870"/>
            </a:avLst>
          </a:prstGeom>
          <a:solidFill>
            <a:srgbClr val="FBEDEE"/>
          </a:solidFill>
          <a:ln w="15240">
            <a:solidFill>
              <a:srgbClr val="B3202C"/>
            </a:solidFill>
            <a:prstDash val="solid"/>
          </a:ln>
        </p:spPr>
      </p:sp>
      <p:sp>
        <p:nvSpPr>
          <p:cNvPr id="24" name="Shape 21"/>
          <p:cNvSpPr/>
          <p:nvPr/>
        </p:nvSpPr>
        <p:spPr>
          <a:xfrm>
            <a:off x="7626096" y="3547872"/>
            <a:ext cx="292608" cy="292608"/>
          </a:xfrm>
          <a:prstGeom prst="ellipse">
            <a:avLst/>
          </a:prstGeom>
          <a:solidFill>
            <a:srgbClr val="B3202C"/>
          </a:solidFill>
          <a:ln w="12700">
            <a:solidFill>
              <a:srgbClr val="B3202C"/>
            </a:solidFill>
            <a:prstDash val="solid"/>
          </a:ln>
        </p:spPr>
      </p:sp>
      <p:sp>
        <p:nvSpPr>
          <p:cNvPr id="25" name="Text 22"/>
          <p:cNvSpPr/>
          <p:nvPr/>
        </p:nvSpPr>
        <p:spPr>
          <a:xfrm>
            <a:off x="7626096" y="35478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3"/>
          <p:cNvSpPr/>
          <p:nvPr/>
        </p:nvSpPr>
        <p:spPr>
          <a:xfrm>
            <a:off x="8028432" y="3529584"/>
            <a:ext cx="3474720" cy="329184"/>
          </a:xfrm>
          <a:prstGeom prst="rect">
            <a:avLst/>
          </a:prstGeom>
          <a:noFill/>
          <a:ln/>
        </p:spPr>
        <p:txBody>
          <a:bodyPr wrap="square" lIns="0" tIns="0" rIns="0" bIns="0" rtlCol="0" anchor="ctr"/>
          <a:lstStyle/>
          <a:p>
            <a:pPr indent="0" marL="0">
              <a:buNone/>
            </a:pPr>
            <a:r>
              <a:rPr lang="en-US" sz="1100" b="1" dirty="0">
                <a:solidFill>
                  <a:srgbClr val="B3202C"/>
                </a:solidFill>
                <a:latin typeface="Calibri" pitchFamily="34" charset="0"/>
                <a:ea typeface="Calibri" pitchFamily="34" charset="-122"/>
                <a:cs typeface="Calibri" pitchFamily="34" charset="-120"/>
              </a:rPr>
              <a:t>MTOC 向免疫突触重定向</a:t>
            </a:r>
            <a:endParaRPr lang="en-US" sz="1100" dirty="0"/>
          </a:p>
        </p:txBody>
      </p:sp>
      <p:sp>
        <p:nvSpPr>
          <p:cNvPr id="27" name="Shape 24"/>
          <p:cNvSpPr/>
          <p:nvPr/>
        </p:nvSpPr>
        <p:spPr>
          <a:xfrm>
            <a:off x="7772400" y="3858768"/>
            <a:ext cx="0" cy="109728"/>
          </a:xfrm>
          <a:prstGeom prst="line">
            <a:avLst/>
          </a:prstGeom>
          <a:noFill/>
          <a:ln w="17780">
            <a:solidFill>
              <a:srgbClr val="D8DEE4"/>
            </a:solidFill>
            <a:prstDash val="solid"/>
          </a:ln>
        </p:spPr>
      </p:sp>
      <p:sp>
        <p:nvSpPr>
          <p:cNvPr id="28" name="Shape 25"/>
          <p:cNvSpPr/>
          <p:nvPr/>
        </p:nvSpPr>
        <p:spPr>
          <a:xfrm>
            <a:off x="7626096" y="4005072"/>
            <a:ext cx="292608" cy="292608"/>
          </a:xfrm>
          <a:prstGeom prst="ellipse">
            <a:avLst/>
          </a:prstGeom>
          <a:solidFill>
            <a:srgbClr val="22303D"/>
          </a:solidFill>
          <a:ln w="12700">
            <a:solidFill>
              <a:srgbClr val="22303D"/>
            </a:solidFill>
            <a:prstDash val="solid"/>
          </a:ln>
        </p:spPr>
      </p:sp>
      <p:sp>
        <p:nvSpPr>
          <p:cNvPr id="29" name="Text 26"/>
          <p:cNvSpPr/>
          <p:nvPr/>
        </p:nvSpPr>
        <p:spPr>
          <a:xfrm>
            <a:off x="7626096" y="40050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0" name="Text 27"/>
          <p:cNvSpPr/>
          <p:nvPr/>
        </p:nvSpPr>
        <p:spPr>
          <a:xfrm>
            <a:off x="8028432" y="3986784"/>
            <a:ext cx="3474720" cy="329184"/>
          </a:xfrm>
          <a:prstGeom prst="rect">
            <a:avLst/>
          </a:prstGeom>
          <a:noFill/>
          <a:ln/>
        </p:spPr>
        <p:txBody>
          <a:bodyPr wrap="square" lIns="0" tIns="0" rIns="0" bIns="0" rtlCol="0" anchor="ctr"/>
          <a:lstStyle/>
          <a:p>
            <a:pPr indent="0" marL="0">
              <a:buNone/>
            </a:pPr>
            <a:r>
              <a:rPr lang="en-US" sz="1100" dirty="0">
                <a:solidFill>
                  <a:srgbClr val="22303D"/>
                </a:solidFill>
                <a:latin typeface="Calibri" pitchFamily="34" charset="0"/>
                <a:ea typeface="Calibri" pitchFamily="34" charset="-122"/>
                <a:cs typeface="Calibri" pitchFamily="34" charset="-120"/>
              </a:rPr>
              <a:t>穿越皮层肌动蛋白网、脱颗粒</a:t>
            </a:r>
            <a:endParaRPr lang="en-US" sz="1100" dirty="0"/>
          </a:p>
        </p:txBody>
      </p:sp>
      <p:sp>
        <p:nvSpPr>
          <p:cNvPr id="31" name="Shape 28"/>
          <p:cNvSpPr/>
          <p:nvPr/>
        </p:nvSpPr>
        <p:spPr>
          <a:xfrm>
            <a:off x="7772400" y="4315968"/>
            <a:ext cx="0" cy="109728"/>
          </a:xfrm>
          <a:prstGeom prst="line">
            <a:avLst/>
          </a:prstGeom>
          <a:noFill/>
          <a:ln w="17780">
            <a:solidFill>
              <a:srgbClr val="D8DEE4"/>
            </a:solidFill>
            <a:prstDash val="solid"/>
          </a:ln>
        </p:spPr>
      </p:sp>
      <p:sp>
        <p:nvSpPr>
          <p:cNvPr id="32" name="Shape 29"/>
          <p:cNvSpPr/>
          <p:nvPr/>
        </p:nvSpPr>
        <p:spPr>
          <a:xfrm>
            <a:off x="7626096" y="4462272"/>
            <a:ext cx="292608" cy="292608"/>
          </a:xfrm>
          <a:prstGeom prst="ellipse">
            <a:avLst/>
          </a:prstGeom>
          <a:solidFill>
            <a:srgbClr val="22303D"/>
          </a:solidFill>
          <a:ln w="12700">
            <a:solidFill>
              <a:srgbClr val="22303D"/>
            </a:solidFill>
            <a:prstDash val="solid"/>
          </a:ln>
        </p:spPr>
      </p:sp>
      <p:sp>
        <p:nvSpPr>
          <p:cNvPr id="33" name="Text 30"/>
          <p:cNvSpPr/>
          <p:nvPr/>
        </p:nvSpPr>
        <p:spPr>
          <a:xfrm>
            <a:off x="7626096" y="44622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4" name="Text 31"/>
          <p:cNvSpPr/>
          <p:nvPr/>
        </p:nvSpPr>
        <p:spPr>
          <a:xfrm>
            <a:off x="8028432" y="4443984"/>
            <a:ext cx="3474720" cy="329184"/>
          </a:xfrm>
          <a:prstGeom prst="rect">
            <a:avLst/>
          </a:prstGeom>
          <a:noFill/>
          <a:ln/>
        </p:spPr>
        <p:txBody>
          <a:bodyPr wrap="square" lIns="0" tIns="0" rIns="0" bIns="0" rtlCol="0" anchor="ctr"/>
          <a:lstStyle/>
          <a:p>
            <a:pPr indent="0" marL="0">
              <a:buNone/>
            </a:pPr>
            <a:r>
              <a:rPr lang="en-US" sz="1100" dirty="0">
                <a:solidFill>
                  <a:srgbClr val="22303D"/>
                </a:solidFill>
                <a:latin typeface="Calibri" pitchFamily="34" charset="0"/>
                <a:ea typeface="Calibri" pitchFamily="34" charset="-122"/>
                <a:cs typeface="Calibri" pitchFamily="34" charset="-120"/>
              </a:rPr>
              <a:t>颗粒膜融合</a:t>
            </a:r>
            <a:endParaRPr lang="en-US" sz="1100" dirty="0"/>
          </a:p>
        </p:txBody>
      </p:sp>
      <p:sp>
        <p:nvSpPr>
          <p:cNvPr id="35" name="Text 32"/>
          <p:cNvSpPr/>
          <p:nvPr/>
        </p:nvSpPr>
        <p:spPr>
          <a:xfrm>
            <a:off x="8028432" y="5138928"/>
            <a:ext cx="3611880" cy="219456"/>
          </a:xfrm>
          <a:prstGeom prst="rect">
            <a:avLst/>
          </a:prstGeom>
          <a:noFill/>
          <a:ln/>
        </p:spPr>
        <p:txBody>
          <a:bodyPr wrap="square" lIns="0" tIns="0" rIns="0" bIns="0" rtlCol="0" anchor="ctr"/>
          <a:lstStyle/>
          <a:p>
            <a:pPr indent="0" marL="0">
              <a:buNone/>
            </a:pPr>
            <a:r>
              <a:rPr lang="en-US" sz="1000" b="1" dirty="0">
                <a:solidFill>
                  <a:srgbClr val="B3202C"/>
                </a:solidFill>
                <a:latin typeface="Calibri" pitchFamily="34" charset="0"/>
                <a:ea typeface="Calibri" pitchFamily="34" charset="-122"/>
                <a:cs typeface="Calibri" pitchFamily="34" charset="-120"/>
              </a:rPr>
              <a:t>← 多种抑制信号的共同作用位点</a:t>
            </a:r>
            <a:endParaRPr lang="en-US" sz="1000" dirty="0"/>
          </a:p>
        </p:txBody>
      </p:sp>
      <p:sp>
        <p:nvSpPr>
          <p:cNvPr id="36" name="Shape 33"/>
          <p:cNvSpPr/>
          <p:nvPr/>
        </p:nvSpPr>
        <p:spPr>
          <a:xfrm>
            <a:off x="548640" y="5632704"/>
            <a:ext cx="3502152" cy="969264"/>
          </a:xfrm>
          <a:prstGeom prst="roundRect">
            <a:avLst>
              <a:gd name="adj" fmla="val 5660"/>
            </a:avLst>
          </a:prstGeom>
          <a:solidFill>
            <a:srgbClr val="F1F4F6"/>
          </a:solidFill>
          <a:ln w="12700">
            <a:solidFill>
              <a:srgbClr val="D8DEE4"/>
            </a:solidFill>
            <a:prstDash val="solid"/>
          </a:ln>
        </p:spPr>
      </p:sp>
      <p:sp>
        <p:nvSpPr>
          <p:cNvPr id="37" name="Text 34"/>
          <p:cNvSpPr/>
          <p:nvPr/>
        </p:nvSpPr>
        <p:spPr>
          <a:xfrm>
            <a:off x="768096" y="5751576"/>
            <a:ext cx="3063240" cy="201168"/>
          </a:xfrm>
          <a:prstGeom prst="rect">
            <a:avLst/>
          </a:prstGeom>
          <a:noFill/>
          <a:ln/>
        </p:spPr>
        <p:txBody>
          <a:bodyPr wrap="square" lIns="0" tIns="0" rIns="0" bIns="0" rtlCol="0" anchor="ctr"/>
          <a:lstStyle/>
          <a:p>
            <a:pPr indent="0" marL="0">
              <a:buNone/>
            </a:pPr>
            <a:r>
              <a:rPr lang="en-US" sz="950" b="1" spc="40" kern="0" dirty="0">
                <a:solidFill>
                  <a:srgbClr val="6B7683"/>
                </a:solidFill>
                <a:latin typeface="Calibri" pitchFamily="34" charset="0"/>
                <a:ea typeface="Calibri" pitchFamily="34" charset="-122"/>
                <a:cs typeface="Calibri" pitchFamily="34" charset="-120"/>
              </a:rPr>
              <a:t>Kopcow 2005 · PNAS</a:t>
            </a:r>
            <a:endParaRPr lang="en-US" sz="950" dirty="0"/>
          </a:p>
        </p:txBody>
      </p:sp>
      <p:sp>
        <p:nvSpPr>
          <p:cNvPr id="38" name="Text 35"/>
          <p:cNvSpPr/>
          <p:nvPr/>
        </p:nvSpPr>
        <p:spPr>
          <a:xfrm>
            <a:off x="768096" y="5943600"/>
            <a:ext cx="3063240" cy="219456"/>
          </a:xfrm>
          <a:prstGeom prst="rect">
            <a:avLst/>
          </a:prstGeom>
          <a:noFill/>
          <a:ln/>
        </p:spPr>
        <p:txBody>
          <a:bodyPr wrap="square" lIns="0" tIns="0" rIns="0" bIns="0" rtlCol="0" anchor="ctr"/>
          <a:lstStyle/>
          <a:p>
            <a:pPr indent="0" marL="0">
              <a:buNone/>
            </a:pPr>
            <a:r>
              <a:rPr lang="en-US" sz="1150" b="1" dirty="0">
                <a:solidFill>
                  <a:srgbClr val="22303D"/>
                </a:solidFill>
                <a:latin typeface="Cambria" pitchFamily="34" charset="0"/>
                <a:ea typeface="Cambria" pitchFamily="34" charset="-122"/>
                <a:cs typeface="Cambria" pitchFamily="34" charset="-120"/>
              </a:rPr>
              <a:t>蜕膜 NK 细胞（dNK）</a:t>
            </a:r>
            <a:endParaRPr lang="en-US" sz="1150" dirty="0"/>
          </a:p>
        </p:txBody>
      </p:sp>
      <p:sp>
        <p:nvSpPr>
          <p:cNvPr id="39" name="Text 36"/>
          <p:cNvSpPr/>
          <p:nvPr/>
        </p:nvSpPr>
        <p:spPr>
          <a:xfrm>
            <a:off x="768096" y="6181344"/>
            <a:ext cx="3063240" cy="310896"/>
          </a:xfrm>
          <a:prstGeom prst="rect">
            <a:avLst/>
          </a:prstGeom>
          <a:noFill/>
          <a:ln/>
        </p:spPr>
        <p:txBody>
          <a:bodyPr wrap="square" lIns="0" tIns="0" rIns="0" bIns="0" rtlCol="0" anchor="t"/>
          <a:lstStyle/>
          <a:p>
            <a:pPr indent="0" marL="0">
              <a:lnSpc>
                <a:spcPct val="106000"/>
              </a:lnSpc>
              <a:buNone/>
            </a:pPr>
            <a:r>
              <a:rPr lang="en-US" sz="900" b="1" dirty="0">
                <a:solidFill>
                  <a:srgbClr val="8A5A12"/>
                </a:solidFill>
                <a:latin typeface="Calibri" pitchFamily="34" charset="0"/>
                <a:ea typeface="Calibri" pitchFamily="34" charset="-122"/>
                <a:cs typeface="Calibri" pitchFamily="34" charset="-120"/>
              </a:rPr>
              <a:t>裂解装置完整，受阻于第 5 步；但靶细胞携非经典抑制性配体，未排除抑制性受体参与</a:t>
            </a:r>
            <a:endParaRPr lang="en-US" sz="900" dirty="0"/>
          </a:p>
        </p:txBody>
      </p:sp>
      <p:sp>
        <p:nvSpPr>
          <p:cNvPr id="40" name="Shape 37"/>
          <p:cNvSpPr/>
          <p:nvPr/>
        </p:nvSpPr>
        <p:spPr>
          <a:xfrm>
            <a:off x="4343400" y="5632704"/>
            <a:ext cx="3502152" cy="969264"/>
          </a:xfrm>
          <a:prstGeom prst="roundRect">
            <a:avLst>
              <a:gd name="adj" fmla="val 5660"/>
            </a:avLst>
          </a:prstGeom>
          <a:solidFill>
            <a:srgbClr val="F1F4F6"/>
          </a:solidFill>
          <a:ln w="12700">
            <a:solidFill>
              <a:srgbClr val="D8DEE4"/>
            </a:solidFill>
            <a:prstDash val="solid"/>
          </a:ln>
        </p:spPr>
      </p:sp>
      <p:sp>
        <p:nvSpPr>
          <p:cNvPr id="41" name="Text 38"/>
          <p:cNvSpPr/>
          <p:nvPr/>
        </p:nvSpPr>
        <p:spPr>
          <a:xfrm>
            <a:off x="4562856" y="5751576"/>
            <a:ext cx="3063240" cy="201168"/>
          </a:xfrm>
          <a:prstGeom prst="rect">
            <a:avLst/>
          </a:prstGeom>
          <a:noFill/>
          <a:ln/>
        </p:spPr>
        <p:txBody>
          <a:bodyPr wrap="square" lIns="0" tIns="0" rIns="0" bIns="0" rtlCol="0" anchor="ctr"/>
          <a:lstStyle/>
          <a:p>
            <a:pPr indent="0" marL="0">
              <a:buNone/>
            </a:pPr>
            <a:r>
              <a:rPr lang="en-US" sz="950" b="1" spc="40" kern="0" dirty="0">
                <a:solidFill>
                  <a:srgbClr val="6B7683"/>
                </a:solidFill>
                <a:latin typeface="Calibri" pitchFamily="34" charset="0"/>
                <a:ea typeface="Calibri" pitchFamily="34" charset="-122"/>
                <a:cs typeface="Calibri" pitchFamily="34" charset="-120"/>
              </a:rPr>
              <a:t>PNAS 2025 · pnas.2503259122</a:t>
            </a:r>
            <a:endParaRPr lang="en-US" sz="950" dirty="0"/>
          </a:p>
        </p:txBody>
      </p:sp>
      <p:sp>
        <p:nvSpPr>
          <p:cNvPr id="42" name="Text 39"/>
          <p:cNvSpPr/>
          <p:nvPr/>
        </p:nvSpPr>
        <p:spPr>
          <a:xfrm>
            <a:off x="4562856" y="5943600"/>
            <a:ext cx="3063240" cy="219456"/>
          </a:xfrm>
          <a:prstGeom prst="rect">
            <a:avLst/>
          </a:prstGeom>
          <a:noFill/>
          <a:ln/>
        </p:spPr>
        <p:txBody>
          <a:bodyPr wrap="square" lIns="0" tIns="0" rIns="0" bIns="0" rtlCol="0" anchor="ctr"/>
          <a:lstStyle/>
          <a:p>
            <a:pPr indent="0" marL="0">
              <a:buNone/>
            </a:pPr>
            <a:r>
              <a:rPr lang="en-US" sz="1150" b="1" dirty="0">
                <a:solidFill>
                  <a:srgbClr val="22303D"/>
                </a:solidFill>
                <a:latin typeface="Cambria" pitchFamily="34" charset="0"/>
                <a:ea typeface="Cambria" pitchFamily="34" charset="-122"/>
                <a:cs typeface="Cambria" pitchFamily="34" charset="-120"/>
              </a:rPr>
              <a:t>健康 pbNK 细胞被癌细胞急性接触抑制</a:t>
            </a:r>
            <a:endParaRPr lang="en-US" sz="1150" dirty="0"/>
          </a:p>
        </p:txBody>
      </p:sp>
      <p:sp>
        <p:nvSpPr>
          <p:cNvPr id="43" name="Text 40"/>
          <p:cNvSpPr/>
          <p:nvPr/>
        </p:nvSpPr>
        <p:spPr>
          <a:xfrm>
            <a:off x="4562856" y="6181344"/>
            <a:ext cx="3063240" cy="310896"/>
          </a:xfrm>
          <a:prstGeom prst="rect">
            <a:avLst/>
          </a:prstGeom>
          <a:noFill/>
          <a:ln/>
        </p:spPr>
        <p:txBody>
          <a:bodyPr wrap="square" lIns="0" tIns="0" rIns="0" bIns="0" rtlCol="0" anchor="t"/>
          <a:lstStyle/>
          <a:p>
            <a:pPr indent="0" marL="0">
              <a:lnSpc>
                <a:spcPct val="106000"/>
              </a:lnSpc>
              <a:buNone/>
            </a:pPr>
            <a:r>
              <a:rPr lang="en-US" sz="900" b="1" dirty="0">
                <a:solidFill>
                  <a:srgbClr val="1B6E6D"/>
                </a:solidFill>
                <a:latin typeface="Calibri" pitchFamily="34" charset="0"/>
                <a:ea typeface="Calibri" pitchFamily="34" charset="-122"/>
                <a:cs typeface="Calibri" pitchFamily="34" charset="-120"/>
              </a:rPr>
              <a:t>HLA 聚集接合抑制性 KIR，作用位点同为第 5 步；为部分减弱，位移差约 1–1.5 µm，未设杀伤实验</a:t>
            </a:r>
            <a:endParaRPr lang="en-US" sz="900" dirty="0"/>
          </a:p>
        </p:txBody>
      </p:sp>
      <p:sp>
        <p:nvSpPr>
          <p:cNvPr id="44" name="Shape 41"/>
          <p:cNvSpPr/>
          <p:nvPr/>
        </p:nvSpPr>
        <p:spPr>
          <a:xfrm>
            <a:off x="8138160" y="5632704"/>
            <a:ext cx="3502152" cy="969264"/>
          </a:xfrm>
          <a:prstGeom prst="roundRect">
            <a:avLst>
              <a:gd name="adj" fmla="val 5660"/>
            </a:avLst>
          </a:prstGeom>
          <a:solidFill>
            <a:srgbClr val="F1F4F6"/>
          </a:solidFill>
          <a:ln w="12700">
            <a:solidFill>
              <a:srgbClr val="D8DEE4"/>
            </a:solidFill>
            <a:prstDash val="solid"/>
          </a:ln>
        </p:spPr>
      </p:sp>
      <p:sp>
        <p:nvSpPr>
          <p:cNvPr id="45" name="Text 42"/>
          <p:cNvSpPr/>
          <p:nvPr/>
        </p:nvSpPr>
        <p:spPr>
          <a:xfrm>
            <a:off x="8357616" y="5751576"/>
            <a:ext cx="3063240" cy="201168"/>
          </a:xfrm>
          <a:prstGeom prst="rect">
            <a:avLst/>
          </a:prstGeom>
          <a:noFill/>
          <a:ln/>
        </p:spPr>
        <p:txBody>
          <a:bodyPr wrap="square" lIns="0" tIns="0" rIns="0" bIns="0" rtlCol="0" anchor="ctr"/>
          <a:lstStyle/>
          <a:p>
            <a:pPr indent="0" marL="0">
              <a:buNone/>
            </a:pPr>
            <a:r>
              <a:rPr lang="en-US" sz="950" b="1" spc="40" kern="0" dirty="0">
                <a:solidFill>
                  <a:srgbClr val="6B7683"/>
                </a:solidFill>
                <a:latin typeface="Calibri" pitchFamily="34" charset="0"/>
                <a:ea typeface="Calibri" pitchFamily="34" charset="-122"/>
                <a:cs typeface="Calibri" pitchFamily="34" charset="-120"/>
              </a:rPr>
              <a:t>Das &amp; Long 2010 · J Immunol</a:t>
            </a:r>
            <a:endParaRPr lang="en-US" sz="950" dirty="0"/>
          </a:p>
        </p:txBody>
      </p:sp>
      <p:sp>
        <p:nvSpPr>
          <p:cNvPr id="46" name="Text 43"/>
          <p:cNvSpPr/>
          <p:nvPr/>
        </p:nvSpPr>
        <p:spPr>
          <a:xfrm>
            <a:off x="8357616" y="5943600"/>
            <a:ext cx="3063240" cy="219456"/>
          </a:xfrm>
          <a:prstGeom prst="rect">
            <a:avLst/>
          </a:prstGeom>
          <a:noFill/>
          <a:ln/>
        </p:spPr>
        <p:txBody>
          <a:bodyPr wrap="square" lIns="0" tIns="0" rIns="0" bIns="0" rtlCol="0" anchor="ctr"/>
          <a:lstStyle/>
          <a:p>
            <a:pPr indent="0" marL="0">
              <a:buNone/>
            </a:pPr>
            <a:r>
              <a:rPr lang="en-US" sz="1150" b="1" dirty="0">
                <a:solidFill>
                  <a:srgbClr val="22303D"/>
                </a:solidFill>
                <a:latin typeface="Cambria" pitchFamily="34" charset="0"/>
                <a:ea typeface="Cambria" pitchFamily="34" charset="-122"/>
                <a:cs typeface="Cambria" pitchFamily="34" charset="-120"/>
              </a:rPr>
              <a:t>抑制性受体直接作用于第 5 步</a:t>
            </a:r>
            <a:endParaRPr lang="en-US" sz="1150" dirty="0"/>
          </a:p>
        </p:txBody>
      </p:sp>
      <p:sp>
        <p:nvSpPr>
          <p:cNvPr id="47" name="Text 44"/>
          <p:cNvSpPr/>
          <p:nvPr/>
        </p:nvSpPr>
        <p:spPr>
          <a:xfrm>
            <a:off x="8357616" y="6181344"/>
            <a:ext cx="3063240" cy="310896"/>
          </a:xfrm>
          <a:prstGeom prst="rect">
            <a:avLst/>
          </a:prstGeom>
          <a:noFill/>
          <a:ln/>
        </p:spPr>
        <p:txBody>
          <a:bodyPr wrap="square" lIns="0" tIns="0" rIns="0" bIns="0" rtlCol="0" anchor="t"/>
          <a:lstStyle/>
          <a:p>
            <a:pPr indent="0" marL="0">
              <a:lnSpc>
                <a:spcPct val="106000"/>
              </a:lnSpc>
              <a:buNone/>
            </a:pPr>
            <a:r>
              <a:rPr lang="en-US" sz="900" b="1" dirty="0">
                <a:solidFill>
                  <a:srgbClr val="B3202C"/>
                </a:solidFill>
                <a:latin typeface="Calibri" pitchFamily="34" charset="0"/>
                <a:ea typeface="Calibri" pitchFamily="34" charset="-122"/>
                <a:cs typeface="Calibri" pitchFamily="34" charset="-120"/>
              </a:rPr>
              <a:t>抑制信号阻断颗粒向免疫突触移动，而第 6 步脱颗粒保留 —— 第 5 步并非颗粒释放的必经控制点</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64240" cy="219456"/>
          </a:xfrm>
          <a:prstGeom prst="rect">
            <a:avLst/>
          </a:prstGeom>
          <a:noFill/>
          <a:ln/>
        </p:spPr>
        <p:txBody>
          <a:bodyPr wrap="square" lIns="0" tIns="0" rIns="0" bIns="0" rtlCol="0" anchor="ctr"/>
          <a:lstStyle/>
          <a:p>
            <a:pPr indent="0" marL="0">
              <a:buNone/>
            </a:pPr>
            <a:r>
              <a:rPr lang="en-US" sz="1050" b="1" spc="100" kern="0" dirty="0">
                <a:solidFill>
                  <a:srgbClr val="B3202C"/>
                </a:solidFill>
                <a:latin typeface="Calibri" pitchFamily="34" charset="0"/>
                <a:ea typeface="Calibri" pitchFamily="34" charset="-122"/>
                <a:cs typeface="Calibri" pitchFamily="34" charset="-120"/>
              </a:rPr>
              <a:t>背景 · 二</a:t>
            </a:r>
            <a:endParaRPr lang="en-US" sz="1050" dirty="0"/>
          </a:p>
        </p:txBody>
      </p:sp>
      <p:sp>
        <p:nvSpPr>
          <p:cNvPr id="3" name="Text 1"/>
          <p:cNvSpPr/>
          <p:nvPr/>
        </p:nvSpPr>
        <p:spPr>
          <a:xfrm>
            <a:off x="548640" y="475488"/>
            <a:ext cx="11064240" cy="512064"/>
          </a:xfrm>
          <a:prstGeom prst="rect">
            <a:avLst/>
          </a:prstGeom>
          <a:noFill/>
          <a:ln/>
        </p:spPr>
        <p:txBody>
          <a:bodyPr wrap="square" lIns="0" tIns="0" rIns="0" bIns="0" rtlCol="0" anchor="ctr"/>
          <a:lstStyle/>
          <a:p>
            <a:pPr indent="0" marL="0">
              <a:buNone/>
            </a:pPr>
            <a:r>
              <a:rPr lang="en-US" sz="2600" b="1" dirty="0">
                <a:solidFill>
                  <a:srgbClr val="22303D"/>
                </a:solidFill>
                <a:latin typeface="Cambria" pitchFamily="34" charset="0"/>
                <a:ea typeface="Cambria" pitchFamily="34" charset="-122"/>
                <a:cs typeface="Cambria" pitchFamily="34" charset="-120"/>
              </a:rPr>
              <a:t>三类上游机制均表现为 MTOC 重定向受阻</a:t>
            </a:r>
            <a:endParaRPr lang="en-US" sz="2600" dirty="0"/>
          </a:p>
        </p:txBody>
      </p:sp>
      <p:sp>
        <p:nvSpPr>
          <p:cNvPr id="4" name="Text 2"/>
          <p:cNvSpPr/>
          <p:nvPr/>
        </p:nvSpPr>
        <p:spPr>
          <a:xfrm>
            <a:off x="548640" y="1005840"/>
            <a:ext cx="11064240" cy="292608"/>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承接上页：受阻位点已定于第 5 步，但其上游可分为三类，三者表型一致，故只能通过实验条件逐一排除</a:t>
            </a:r>
            <a:endParaRPr lang="en-US" sz="1200" dirty="0"/>
          </a:p>
        </p:txBody>
      </p:sp>
      <p:sp>
        <p:nvSpPr>
          <p:cNvPr id="5" name="Shape 3"/>
          <p:cNvSpPr/>
          <p:nvPr/>
        </p:nvSpPr>
        <p:spPr>
          <a:xfrm>
            <a:off x="548640" y="1371600"/>
            <a:ext cx="3502152" cy="2761488"/>
          </a:xfrm>
          <a:prstGeom prst="roundRect">
            <a:avLst>
              <a:gd name="adj" fmla="val 1987"/>
            </a:avLst>
          </a:prstGeom>
          <a:solidFill>
            <a:srgbClr val="FFFFFF"/>
          </a:solidFill>
          <a:ln w="17780">
            <a:solidFill>
              <a:srgbClr val="1B6E6D"/>
            </a:solidFill>
            <a:prstDash val="solid"/>
          </a:ln>
        </p:spPr>
      </p:sp>
      <p:sp>
        <p:nvSpPr>
          <p:cNvPr id="6" name="Shape 4"/>
          <p:cNvSpPr/>
          <p:nvPr/>
        </p:nvSpPr>
        <p:spPr>
          <a:xfrm>
            <a:off x="749808" y="1517904"/>
            <a:ext cx="640080" cy="274320"/>
          </a:xfrm>
          <a:prstGeom prst="roundRect">
            <a:avLst>
              <a:gd name="adj" fmla="val 16667"/>
            </a:avLst>
          </a:prstGeom>
          <a:solidFill>
            <a:srgbClr val="1B6E6D"/>
          </a:solidFill>
          <a:ln w="12700">
            <a:solidFill>
              <a:srgbClr val="1B6E6D"/>
            </a:solidFill>
            <a:prstDash val="solid"/>
          </a:ln>
        </p:spPr>
      </p:sp>
      <p:sp>
        <p:nvSpPr>
          <p:cNvPr id="7" name="Text 5"/>
          <p:cNvSpPr/>
          <p:nvPr/>
        </p:nvSpPr>
        <p:spPr>
          <a:xfrm>
            <a:off x="749808" y="1517904"/>
            <a:ext cx="640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 类</a:t>
            </a:r>
            <a:endParaRPr lang="en-US" sz="1050" dirty="0"/>
          </a:p>
        </p:txBody>
      </p:sp>
      <p:sp>
        <p:nvSpPr>
          <p:cNvPr id="8" name="Text 6"/>
          <p:cNvSpPr/>
          <p:nvPr/>
        </p:nvSpPr>
        <p:spPr>
          <a:xfrm>
            <a:off x="1463040" y="1499616"/>
            <a:ext cx="2368296" cy="310896"/>
          </a:xfrm>
          <a:prstGeom prst="rect">
            <a:avLst/>
          </a:prstGeom>
          <a:noFill/>
          <a:ln/>
        </p:spPr>
        <p:txBody>
          <a:bodyPr wrap="square" lIns="0" tIns="0" rIns="0" bIns="0" rtlCol="0" anchor="ctr"/>
          <a:lstStyle/>
          <a:p>
            <a:pPr indent="0" marL="0">
              <a:buNone/>
            </a:pPr>
            <a:r>
              <a:rPr lang="en-US" sz="1200" b="1" dirty="0">
                <a:solidFill>
                  <a:srgbClr val="1B6E6D"/>
                </a:solidFill>
                <a:latin typeface="Cambria" pitchFamily="34" charset="0"/>
                <a:ea typeface="Cambria" pitchFamily="34" charset="-122"/>
                <a:cs typeface="Cambria" pitchFamily="34" charset="-120"/>
              </a:rPr>
              <a:t>配体依赖性急性抑制</a:t>
            </a:r>
            <a:endParaRPr lang="en-US" sz="1200" dirty="0"/>
          </a:p>
        </p:txBody>
      </p:sp>
      <p:sp>
        <p:nvSpPr>
          <p:cNvPr id="9" name="Text 7"/>
          <p:cNvSpPr/>
          <p:nvPr/>
        </p:nvSpPr>
        <p:spPr>
          <a:xfrm>
            <a:off x="749808" y="1847088"/>
            <a:ext cx="3099816" cy="1682496"/>
          </a:xfrm>
          <a:prstGeom prst="rect">
            <a:avLst/>
          </a:prstGeom>
          <a:noFill/>
          <a:ln/>
        </p:spPr>
        <p:txBody>
          <a:bodyPr wrap="square" lIns="0" tIns="0" rIns="0" bIns="0" rtlCol="0" anchor="t"/>
          <a:lstStyle/>
          <a:p>
            <a:pPr indent="0" marL="0">
              <a:lnSpc>
                <a:spcPct val="112000"/>
              </a:lnSpc>
              <a:buNone/>
            </a:pPr>
            <a:r>
              <a:rPr lang="en-US" sz="900" b="1" dirty="0">
                <a:solidFill>
                  <a:srgbClr val="6B7683"/>
                </a:solidFill>
                <a:latin typeface="Calibri" pitchFamily="34" charset="0"/>
                <a:ea typeface="Calibri" pitchFamily="34" charset="-122"/>
                <a:cs typeface="Calibri" pitchFamily="34" charset="-120"/>
              </a:rPr>
              <a:t>机制　</a:t>
            </a:r>
            <a:pPr indent="0" marL="0">
              <a:lnSpc>
                <a:spcPct val="112000"/>
              </a:lnSpc>
              <a:buNone/>
            </a:pPr>
            <a:r>
              <a:rPr lang="en-US" sz="900" dirty="0">
                <a:solidFill>
                  <a:srgbClr val="22303D"/>
                </a:solidFill>
                <a:latin typeface="Calibri" pitchFamily="34" charset="0"/>
                <a:ea typeface="Calibri" pitchFamily="34" charset="-122"/>
                <a:cs typeface="Calibri" pitchFamily="34" charset="-120"/>
              </a:rPr>
              <a:t>抑制性受体 → ITIM → SHP-1/2 → Vav1 去磷酸化
</a:t>
            </a:r>
            <a:pPr indent="0" marL="0">
              <a:lnSpc>
                <a:spcPct val="112000"/>
              </a:lnSpc>
              <a:buNone/>
            </a:pPr>
            <a:r>
              <a:rPr lang="en-US" sz="900" b="1" dirty="0">
                <a:solidFill>
                  <a:srgbClr val="6B7683"/>
                </a:solidFill>
                <a:latin typeface="Calibri" pitchFamily="34" charset="0"/>
                <a:ea typeface="Calibri" pitchFamily="34" charset="-122"/>
                <a:cs typeface="Calibri" pitchFamily="34" charset="-120"/>
              </a:rPr>
              <a:t>证据　</a:t>
            </a:r>
            <a:pPr indent="0" marL="0">
              <a:lnSpc>
                <a:spcPct val="112000"/>
              </a:lnSpc>
              <a:buNone/>
            </a:pPr>
            <a:r>
              <a:rPr lang="en-US" sz="900" dirty="0">
                <a:solidFill>
                  <a:srgbClr val="22303D"/>
                </a:solidFill>
                <a:latin typeface="Calibri" pitchFamily="34" charset="0"/>
                <a:ea typeface="Calibri" pitchFamily="34" charset="-122"/>
                <a:cs typeface="Calibri" pitchFamily="34" charset="-120"/>
              </a:rPr>
              <a:t>癌细胞经 HLA 聚集急性抑制 NK 细胞极化，抗体阻断后可恢复
</a:t>
            </a:r>
            <a:pPr indent="0" marL="0">
              <a:lnSpc>
                <a:spcPct val="112000"/>
              </a:lnSpc>
              <a:buNone/>
            </a:pPr>
            <a:r>
              <a:rPr lang="en-US" sz="900" b="1" dirty="0">
                <a:solidFill>
                  <a:srgbClr val="6B7683"/>
                </a:solidFill>
                <a:latin typeface="Calibri" pitchFamily="34" charset="0"/>
                <a:ea typeface="Calibri" pitchFamily="34" charset="-122"/>
                <a:cs typeface="Calibri" pitchFamily="34" charset="-120"/>
              </a:rPr>
              <a:t>排除方式　</a:t>
            </a:r>
            <a:pPr indent="0" marL="0">
              <a:lnSpc>
                <a:spcPct val="112000"/>
              </a:lnSpc>
              <a:buNone/>
            </a:pPr>
            <a:r>
              <a:rPr lang="en-US" sz="900" b="1" dirty="0">
                <a:solidFill>
                  <a:srgbClr val="1B6E6D"/>
                </a:solidFill>
                <a:latin typeface="Calibri" pitchFamily="34" charset="0"/>
                <a:ea typeface="Calibri" pitchFamily="34" charset="-122"/>
                <a:cs typeface="Calibri" pitchFamily="34" charset="-120"/>
              </a:rPr>
              <a:t>实验不使用靶细胞，改用固相包被抗体刺激，该类抑制即无从发生</a:t>
            </a:r>
            <a:endParaRPr lang="en-US" sz="900" dirty="0"/>
          </a:p>
        </p:txBody>
      </p:sp>
      <p:sp>
        <p:nvSpPr>
          <p:cNvPr id="10" name="Shape 8"/>
          <p:cNvSpPr/>
          <p:nvPr/>
        </p:nvSpPr>
        <p:spPr>
          <a:xfrm>
            <a:off x="749808" y="3566160"/>
            <a:ext cx="3099816" cy="0"/>
          </a:xfrm>
          <a:prstGeom prst="line">
            <a:avLst/>
          </a:prstGeom>
          <a:noFill/>
          <a:ln w="12700">
            <a:solidFill>
              <a:srgbClr val="D8DEE4"/>
            </a:solidFill>
            <a:prstDash val="solid"/>
          </a:ln>
        </p:spPr>
      </p:sp>
      <p:sp>
        <p:nvSpPr>
          <p:cNvPr id="11" name="Text 9"/>
          <p:cNvSpPr/>
          <p:nvPr/>
        </p:nvSpPr>
        <p:spPr>
          <a:xfrm>
            <a:off x="749808" y="3621024"/>
            <a:ext cx="3099816" cy="457200"/>
          </a:xfrm>
          <a:prstGeom prst="rect">
            <a:avLst/>
          </a:prstGeom>
          <a:noFill/>
          <a:ln/>
        </p:spPr>
        <p:txBody>
          <a:bodyPr wrap="square" lIns="0" tIns="0" rIns="0" bIns="0" rtlCol="0" anchor="t"/>
          <a:lstStyle/>
          <a:p>
            <a:pPr indent="0" marL="0">
              <a:lnSpc>
                <a:spcPct val="106000"/>
              </a:lnSpc>
              <a:buNone/>
            </a:pPr>
            <a:r>
              <a:rPr lang="en-US" sz="750" dirty="0">
                <a:solidFill>
                  <a:srgbClr val="6B7683"/>
                </a:solidFill>
                <a:latin typeface="Calibri" pitchFamily="34" charset="0"/>
                <a:ea typeface="Calibri" pitchFamily="34" charset="-122"/>
                <a:cs typeface="Calibri" pitchFamily="34" charset="-120"/>
              </a:rPr>
              <a:t>Hoffmann C, Filali L, et al. PNAS 2025;122:e2503259122（Fig 4）　·　Das A, Long EO. J Immunol 2010;185:4698</a:t>
            </a:r>
            <a:endParaRPr lang="en-US" sz="750" dirty="0"/>
          </a:p>
        </p:txBody>
      </p:sp>
      <p:sp>
        <p:nvSpPr>
          <p:cNvPr id="12" name="Shape 10"/>
          <p:cNvSpPr/>
          <p:nvPr/>
        </p:nvSpPr>
        <p:spPr>
          <a:xfrm>
            <a:off x="4343400" y="1371600"/>
            <a:ext cx="3502152" cy="2761488"/>
          </a:xfrm>
          <a:prstGeom prst="roundRect">
            <a:avLst>
              <a:gd name="adj" fmla="val 1987"/>
            </a:avLst>
          </a:prstGeom>
          <a:solidFill>
            <a:srgbClr val="FFFFFF"/>
          </a:solidFill>
          <a:ln w="17780">
            <a:solidFill>
              <a:srgbClr val="B3202C"/>
            </a:solidFill>
            <a:prstDash val="dash"/>
          </a:ln>
        </p:spPr>
      </p:sp>
      <p:sp>
        <p:nvSpPr>
          <p:cNvPr id="13" name="Shape 11"/>
          <p:cNvSpPr/>
          <p:nvPr/>
        </p:nvSpPr>
        <p:spPr>
          <a:xfrm>
            <a:off x="4544568" y="1517904"/>
            <a:ext cx="640080" cy="274320"/>
          </a:xfrm>
          <a:prstGeom prst="roundRect">
            <a:avLst>
              <a:gd name="adj" fmla="val 16667"/>
            </a:avLst>
          </a:prstGeom>
          <a:solidFill>
            <a:srgbClr val="B3202C"/>
          </a:solidFill>
          <a:ln w="12700">
            <a:solidFill>
              <a:srgbClr val="B3202C"/>
            </a:solidFill>
            <a:prstDash val="solid"/>
          </a:ln>
        </p:spPr>
      </p:sp>
      <p:sp>
        <p:nvSpPr>
          <p:cNvPr id="14" name="Text 12"/>
          <p:cNvSpPr/>
          <p:nvPr/>
        </p:nvSpPr>
        <p:spPr>
          <a:xfrm>
            <a:off x="4544568" y="1517904"/>
            <a:ext cx="640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 类</a:t>
            </a:r>
            <a:endParaRPr lang="en-US" sz="1050" dirty="0"/>
          </a:p>
        </p:txBody>
      </p:sp>
      <p:sp>
        <p:nvSpPr>
          <p:cNvPr id="15" name="Text 13"/>
          <p:cNvSpPr/>
          <p:nvPr/>
        </p:nvSpPr>
        <p:spPr>
          <a:xfrm>
            <a:off x="5257800" y="1499616"/>
            <a:ext cx="2368296" cy="310896"/>
          </a:xfrm>
          <a:prstGeom prst="rect">
            <a:avLst/>
          </a:prstGeom>
          <a:noFill/>
          <a:ln/>
        </p:spPr>
        <p:txBody>
          <a:bodyPr wrap="square" lIns="0" tIns="0" rIns="0" bIns="0" rtlCol="0" anchor="ctr"/>
          <a:lstStyle/>
          <a:p>
            <a:pPr indent="0" marL="0">
              <a:buNone/>
            </a:pPr>
            <a:r>
              <a:rPr lang="en-US" sz="1200" b="1" dirty="0">
                <a:solidFill>
                  <a:srgbClr val="B3202C"/>
                </a:solidFill>
                <a:latin typeface="Cambria" pitchFamily="34" charset="0"/>
                <a:ea typeface="Cambria" pitchFamily="34" charset="-122"/>
                <a:cs typeface="Cambria" pitchFamily="34" charset="-120"/>
              </a:rPr>
              <a:t>细胞携带性持久制动（待验证）</a:t>
            </a:r>
            <a:endParaRPr lang="en-US" sz="1200" dirty="0"/>
          </a:p>
        </p:txBody>
      </p:sp>
      <p:sp>
        <p:nvSpPr>
          <p:cNvPr id="16" name="Shape 14"/>
          <p:cNvSpPr/>
          <p:nvPr/>
        </p:nvSpPr>
        <p:spPr>
          <a:xfrm>
            <a:off x="4526280" y="1847088"/>
            <a:ext cx="3136392" cy="658368"/>
          </a:xfrm>
          <a:prstGeom prst="roundRect">
            <a:avLst>
              <a:gd name="adj" fmla="val 6944"/>
            </a:avLst>
          </a:prstGeom>
          <a:solidFill>
            <a:srgbClr val="FBEDEE"/>
          </a:solidFill>
          <a:ln w="12700">
            <a:solidFill>
              <a:srgbClr val="B3202C"/>
            </a:solidFill>
            <a:prstDash val="solid"/>
          </a:ln>
        </p:spPr>
      </p:sp>
      <p:sp>
        <p:nvSpPr>
          <p:cNvPr id="17" name="Text 15"/>
          <p:cNvSpPr/>
          <p:nvPr/>
        </p:nvSpPr>
        <p:spPr>
          <a:xfrm>
            <a:off x="4636008" y="1911096"/>
            <a:ext cx="2916936" cy="548640"/>
          </a:xfrm>
          <a:prstGeom prst="rect">
            <a:avLst/>
          </a:prstGeom>
          <a:noFill/>
          <a:ln/>
        </p:spPr>
        <p:txBody>
          <a:bodyPr wrap="square" lIns="0" tIns="0" rIns="0" bIns="0" rtlCol="0" anchor="t"/>
          <a:lstStyle/>
          <a:p>
            <a:pPr indent="0" marL="0">
              <a:lnSpc>
                <a:spcPct val="108000"/>
              </a:lnSpc>
              <a:buNone/>
            </a:pPr>
            <a:r>
              <a:rPr lang="en-US" sz="800" b="1" dirty="0">
                <a:solidFill>
                  <a:srgbClr val="B3202C"/>
                </a:solidFill>
                <a:latin typeface="Calibri" pitchFamily="34" charset="0"/>
                <a:ea typeface="Calibri" pitchFamily="34" charset="-122"/>
                <a:cs typeface="Calibri" pitchFamily="34" charset="-120"/>
              </a:rPr>
              <a:t>为何设此类　</a:t>
            </a:r>
            <a:pPr indent="0" marL="0">
              <a:lnSpc>
                <a:spcPct val="108000"/>
              </a:lnSpc>
              <a:buNone/>
            </a:pPr>
            <a:r>
              <a:rPr lang="en-US" sz="800" dirty="0">
                <a:solidFill>
                  <a:srgbClr val="22303D"/>
                </a:solidFill>
                <a:latin typeface="Calibri" pitchFamily="34" charset="0"/>
                <a:ea typeface="Calibri" pitchFamily="34" charset="-122"/>
                <a:cs typeface="Calibri" pitchFamily="34" charset="-120"/>
              </a:rPr>
              <a:t>文献常引用的「蜕膜 NK 连 MHC-I 阴性靶细胞都不极化，故缺陷为细胞内在」，说的正是这一类，而该说法从未被验证 —— 本研究检验的是领域已在使用的假设，不是提出新机制。</a:t>
            </a:r>
            <a:endParaRPr lang="en-US" sz="800" dirty="0"/>
          </a:p>
        </p:txBody>
      </p:sp>
      <p:sp>
        <p:nvSpPr>
          <p:cNvPr id="18" name="Text 16"/>
          <p:cNvSpPr/>
          <p:nvPr/>
        </p:nvSpPr>
        <p:spPr>
          <a:xfrm>
            <a:off x="4544568" y="2596896"/>
            <a:ext cx="3099816" cy="932688"/>
          </a:xfrm>
          <a:prstGeom prst="rect">
            <a:avLst/>
          </a:prstGeom>
          <a:noFill/>
          <a:ln/>
        </p:spPr>
        <p:txBody>
          <a:bodyPr wrap="square" lIns="0" tIns="0" rIns="0" bIns="0" rtlCol="0" anchor="t"/>
          <a:lstStyle/>
          <a:p>
            <a:pPr indent="0" marL="0">
              <a:lnSpc>
                <a:spcPct val="112000"/>
              </a:lnSpc>
              <a:buNone/>
            </a:pPr>
            <a:r>
              <a:rPr lang="en-US" sz="900" b="1" dirty="0">
                <a:solidFill>
                  <a:srgbClr val="6B7683"/>
                </a:solidFill>
                <a:latin typeface="Calibri" pitchFamily="34" charset="0"/>
                <a:ea typeface="Calibri" pitchFamily="34" charset="-122"/>
                <a:cs typeface="Calibri" pitchFamily="34" charset="-120"/>
              </a:rPr>
              <a:t>推测机制　</a:t>
            </a:r>
            <a:pPr indent="0" marL="0">
              <a:lnSpc>
                <a:spcPct val="112000"/>
              </a:lnSpc>
              <a:buNone/>
            </a:pPr>
            <a:r>
              <a:rPr lang="en-US" sz="900" dirty="0">
                <a:solidFill>
                  <a:srgbClr val="22303D"/>
                </a:solidFill>
                <a:latin typeface="Calibri" pitchFamily="34" charset="0"/>
                <a:ea typeface="Calibri" pitchFamily="34" charset="-122"/>
                <a:cs typeface="Calibri" pitchFamily="34" charset="-120"/>
              </a:rPr>
              <a:t>TGF-β → SMAD / mTOR 通路，尚未确定
</a:t>
            </a:r>
            <a:pPr indent="0" marL="0">
              <a:lnSpc>
                <a:spcPct val="112000"/>
              </a:lnSpc>
              <a:buNone/>
            </a:pPr>
            <a:r>
              <a:rPr lang="en-US" sz="900" b="1" dirty="0">
                <a:solidFill>
                  <a:srgbClr val="6B7683"/>
                </a:solidFill>
                <a:latin typeface="Calibri" pitchFamily="34" charset="0"/>
                <a:ea typeface="Calibri" pitchFamily="34" charset="-122"/>
                <a:cs typeface="Calibri" pitchFamily="34" charset="-120"/>
              </a:rPr>
              <a:t>现有证据　</a:t>
            </a:r>
            <a:pPr indent="0" marL="0">
              <a:lnSpc>
                <a:spcPct val="112000"/>
              </a:lnSpc>
              <a:buNone/>
            </a:pPr>
            <a:r>
              <a:rPr lang="en-US" sz="900" b="1" dirty="0">
                <a:solidFill>
                  <a:srgbClr val="B3202C"/>
                </a:solidFill>
                <a:latin typeface="Calibri" pitchFamily="34" charset="0"/>
                <a:ea typeface="Calibri" pitchFamily="34" charset="-122"/>
                <a:cs typeface="Calibri" pitchFamily="34" charset="-120"/>
              </a:rPr>
              <a:t>无直接证据 —— Kopcow 所用靶细胞表达多种非 HLA 抑制性配体，不能排除其参与
</a:t>
            </a:r>
            <a:pPr indent="0" marL="0">
              <a:lnSpc>
                <a:spcPct val="112000"/>
              </a:lnSpc>
              <a:buNone/>
            </a:pPr>
            <a:r>
              <a:rPr lang="en-US" sz="900" b="1" dirty="0">
                <a:solidFill>
                  <a:srgbClr val="6B7683"/>
                </a:solidFill>
                <a:latin typeface="Calibri" pitchFamily="34" charset="0"/>
                <a:ea typeface="Calibri" pitchFamily="34" charset="-122"/>
                <a:cs typeface="Calibri" pitchFamily="34" charset="-120"/>
              </a:rPr>
              <a:t>验证条件　</a:t>
            </a:r>
            <a:pPr indent="0" marL="0">
              <a:lnSpc>
                <a:spcPct val="112000"/>
              </a:lnSpc>
              <a:buNone/>
            </a:pPr>
            <a:r>
              <a:rPr lang="en-US" sz="900" b="1" dirty="0">
                <a:solidFill>
                  <a:srgbClr val="B3202C"/>
                </a:solidFill>
                <a:latin typeface="Calibri" pitchFamily="34" charset="0"/>
                <a:ea typeface="Calibri" pitchFamily="34" charset="-122"/>
                <a:cs typeface="Calibri" pitchFamily="34" charset="-120"/>
              </a:rPr>
              <a:t>① 不使用靶细胞　② 近端信号匹配　③ 洗脱后仍不恢复</a:t>
            </a:r>
            <a:endParaRPr lang="en-US" sz="900" dirty="0"/>
          </a:p>
        </p:txBody>
      </p:sp>
      <p:sp>
        <p:nvSpPr>
          <p:cNvPr id="19" name="Shape 17"/>
          <p:cNvSpPr/>
          <p:nvPr/>
        </p:nvSpPr>
        <p:spPr>
          <a:xfrm>
            <a:off x="4544568" y="3566160"/>
            <a:ext cx="3099816" cy="0"/>
          </a:xfrm>
          <a:prstGeom prst="line">
            <a:avLst/>
          </a:prstGeom>
          <a:noFill/>
          <a:ln w="12700">
            <a:solidFill>
              <a:srgbClr val="D8DEE4"/>
            </a:solidFill>
            <a:prstDash val="solid"/>
          </a:ln>
        </p:spPr>
      </p:sp>
      <p:sp>
        <p:nvSpPr>
          <p:cNvPr id="20" name="Text 18"/>
          <p:cNvSpPr/>
          <p:nvPr/>
        </p:nvSpPr>
        <p:spPr>
          <a:xfrm>
            <a:off x="4544568" y="3621024"/>
            <a:ext cx="3099816" cy="457200"/>
          </a:xfrm>
          <a:prstGeom prst="rect">
            <a:avLst/>
          </a:prstGeom>
          <a:noFill/>
          <a:ln/>
        </p:spPr>
        <p:txBody>
          <a:bodyPr wrap="square" lIns="0" tIns="0" rIns="0" bIns="0" rtlCol="0" anchor="t"/>
          <a:lstStyle/>
          <a:p>
            <a:pPr indent="0" marL="0">
              <a:lnSpc>
                <a:spcPct val="106000"/>
              </a:lnSpc>
              <a:buNone/>
            </a:pPr>
            <a:r>
              <a:rPr lang="en-US" sz="750" dirty="0">
                <a:solidFill>
                  <a:srgbClr val="6B7683"/>
                </a:solidFill>
                <a:latin typeface="Calibri" pitchFamily="34" charset="0"/>
                <a:ea typeface="Calibri" pitchFamily="34" charset="-122"/>
                <a:cs typeface="Calibri" pitchFamily="34" charset="-120"/>
              </a:rPr>
              <a:t>现象 Kopcow HD, et al. PNAS 2005;102:15563　·　配体 Rosen DB, et al. J Immunol 2005;175:7796 与 2008;180:6508　·　诱导方案 Keskin DB, et al. PNAS 2007;104:3378；Cerdeira AS, et al. J Immunol 2013;190:3939</a:t>
            </a:r>
            <a:endParaRPr lang="en-US" sz="750" dirty="0"/>
          </a:p>
        </p:txBody>
      </p:sp>
      <p:sp>
        <p:nvSpPr>
          <p:cNvPr id="21" name="Shape 19"/>
          <p:cNvSpPr/>
          <p:nvPr/>
        </p:nvSpPr>
        <p:spPr>
          <a:xfrm>
            <a:off x="8138160" y="1371600"/>
            <a:ext cx="3502152" cy="2761488"/>
          </a:xfrm>
          <a:prstGeom prst="roundRect">
            <a:avLst>
              <a:gd name="adj" fmla="val 1987"/>
            </a:avLst>
          </a:prstGeom>
          <a:solidFill>
            <a:srgbClr val="FFFFFF"/>
          </a:solidFill>
          <a:ln w="17780">
            <a:solidFill>
              <a:srgbClr val="4A3A72"/>
            </a:solidFill>
            <a:prstDash val="solid"/>
          </a:ln>
        </p:spPr>
      </p:sp>
      <p:sp>
        <p:nvSpPr>
          <p:cNvPr id="22" name="Shape 20"/>
          <p:cNvSpPr/>
          <p:nvPr/>
        </p:nvSpPr>
        <p:spPr>
          <a:xfrm>
            <a:off x="8339328" y="1517904"/>
            <a:ext cx="640080" cy="274320"/>
          </a:xfrm>
          <a:prstGeom prst="roundRect">
            <a:avLst>
              <a:gd name="adj" fmla="val 16667"/>
            </a:avLst>
          </a:prstGeom>
          <a:solidFill>
            <a:srgbClr val="4A3A72"/>
          </a:solidFill>
          <a:ln w="12700">
            <a:solidFill>
              <a:srgbClr val="4A3A72"/>
            </a:solidFill>
            <a:prstDash val="solid"/>
          </a:ln>
        </p:spPr>
      </p:sp>
      <p:sp>
        <p:nvSpPr>
          <p:cNvPr id="23" name="Text 21"/>
          <p:cNvSpPr/>
          <p:nvPr/>
        </p:nvSpPr>
        <p:spPr>
          <a:xfrm>
            <a:off x="8339328" y="1517904"/>
            <a:ext cx="640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 类</a:t>
            </a:r>
            <a:endParaRPr lang="en-US" sz="1050" dirty="0"/>
          </a:p>
        </p:txBody>
      </p:sp>
      <p:sp>
        <p:nvSpPr>
          <p:cNvPr id="24" name="Text 22"/>
          <p:cNvSpPr/>
          <p:nvPr/>
        </p:nvSpPr>
        <p:spPr>
          <a:xfrm>
            <a:off x="9052560" y="1499616"/>
            <a:ext cx="2368296" cy="310896"/>
          </a:xfrm>
          <a:prstGeom prst="rect">
            <a:avLst/>
          </a:prstGeom>
          <a:noFill/>
          <a:ln/>
        </p:spPr>
        <p:txBody>
          <a:bodyPr wrap="square" lIns="0" tIns="0" rIns="0" bIns="0" rtlCol="0" anchor="ctr"/>
          <a:lstStyle/>
          <a:p>
            <a:pPr indent="0" marL="0">
              <a:buNone/>
            </a:pPr>
            <a:r>
              <a:rPr lang="en-US" sz="1200" b="1" dirty="0">
                <a:solidFill>
                  <a:srgbClr val="4A3A72"/>
                </a:solidFill>
                <a:latin typeface="Cambria" pitchFamily="34" charset="0"/>
                <a:ea typeface="Cambria" pitchFamily="34" charset="-122"/>
                <a:cs typeface="Cambria" pitchFamily="34" charset="-120"/>
              </a:rPr>
              <a:t>活化信号强度不足</a:t>
            </a:r>
            <a:endParaRPr lang="en-US" sz="1200" dirty="0"/>
          </a:p>
        </p:txBody>
      </p:sp>
      <p:sp>
        <p:nvSpPr>
          <p:cNvPr id="25" name="Text 23"/>
          <p:cNvSpPr/>
          <p:nvPr/>
        </p:nvSpPr>
        <p:spPr>
          <a:xfrm>
            <a:off x="8339328" y="1847088"/>
            <a:ext cx="3099816" cy="1682496"/>
          </a:xfrm>
          <a:prstGeom prst="rect">
            <a:avLst/>
          </a:prstGeom>
          <a:noFill/>
          <a:ln/>
        </p:spPr>
        <p:txBody>
          <a:bodyPr wrap="square" lIns="0" tIns="0" rIns="0" bIns="0" rtlCol="0" anchor="t"/>
          <a:lstStyle/>
          <a:p>
            <a:pPr indent="0" marL="0">
              <a:lnSpc>
                <a:spcPct val="112000"/>
              </a:lnSpc>
              <a:buNone/>
            </a:pPr>
            <a:r>
              <a:rPr lang="en-US" sz="900" b="1" dirty="0">
                <a:solidFill>
                  <a:srgbClr val="6B7683"/>
                </a:solidFill>
                <a:latin typeface="Calibri" pitchFamily="34" charset="0"/>
                <a:ea typeface="Calibri" pitchFamily="34" charset="-122"/>
                <a:cs typeface="Calibri" pitchFamily="34" charset="-120"/>
              </a:rPr>
              <a:t>机制　</a:t>
            </a:r>
            <a:pPr indent="0" marL="0">
              <a:lnSpc>
                <a:spcPct val="112000"/>
              </a:lnSpc>
              <a:buNone/>
            </a:pPr>
            <a:r>
              <a:rPr lang="en-US" sz="900" dirty="0">
                <a:solidFill>
                  <a:srgbClr val="22303D"/>
                </a:solidFill>
                <a:latin typeface="Calibri" pitchFamily="34" charset="0"/>
                <a:ea typeface="Calibri" pitchFamily="34" charset="-122"/>
                <a:cs typeface="Calibri" pitchFamily="34" charset="-120"/>
              </a:rPr>
              <a:t>磷脂酶 Cγ（PLCγ）与 MEK/细胞外信号调节激酶（ERK）未达阈值，磷脂酰肌醇 3-激酶（PI3K）已激活
</a:t>
            </a:r>
            <a:pPr indent="0" marL="0">
              <a:lnSpc>
                <a:spcPct val="112000"/>
              </a:lnSpc>
              <a:buNone/>
            </a:pPr>
            <a:r>
              <a:rPr lang="en-US" sz="900" b="1" dirty="0">
                <a:solidFill>
                  <a:srgbClr val="6B7683"/>
                </a:solidFill>
                <a:latin typeface="Calibri" pitchFamily="34" charset="0"/>
                <a:ea typeface="Calibri" pitchFamily="34" charset="-122"/>
                <a:cs typeface="Calibri" pitchFamily="34" charset="-120"/>
              </a:rPr>
              <a:t>证据　</a:t>
            </a:r>
            <a:pPr indent="0" marL="0">
              <a:lnSpc>
                <a:spcPct val="112000"/>
              </a:lnSpc>
              <a:buNone/>
            </a:pPr>
            <a:r>
              <a:rPr lang="en-US" sz="900" dirty="0">
                <a:solidFill>
                  <a:srgbClr val="22303D"/>
                </a:solidFill>
                <a:latin typeface="Calibri" pitchFamily="34" charset="0"/>
                <a:ea typeface="Calibri" pitchFamily="34" charset="-122"/>
                <a:cs typeface="Calibri" pitchFamily="34" charset="-120"/>
              </a:rPr>
              <a:t>NK-92 细胞作用于抗性乳腺癌细胞时颗粒汇聚正常、MTOC 不极化；补充活化信号后恢复
</a:t>
            </a:r>
            <a:pPr indent="0" marL="0">
              <a:lnSpc>
                <a:spcPct val="112000"/>
              </a:lnSpc>
              <a:buNone/>
            </a:pPr>
            <a:r>
              <a:rPr lang="en-US" sz="900" b="1" dirty="0">
                <a:solidFill>
                  <a:srgbClr val="6B7683"/>
                </a:solidFill>
                <a:latin typeface="Calibri" pitchFamily="34" charset="0"/>
                <a:ea typeface="Calibri" pitchFamily="34" charset="-122"/>
                <a:cs typeface="Calibri" pitchFamily="34" charset="-120"/>
              </a:rPr>
              <a:t>两种情形　</a:t>
            </a:r>
            <a:pPr indent="0" marL="0">
              <a:lnSpc>
                <a:spcPct val="112000"/>
              </a:lnSpc>
              <a:buNone/>
            </a:pPr>
            <a:r>
              <a:rPr lang="en-US" sz="900" b="1" dirty="0">
                <a:solidFill>
                  <a:srgbClr val="4A3A72"/>
                </a:solidFill>
                <a:latin typeface="Calibri" pitchFamily="34" charset="0"/>
                <a:ea typeface="Calibri" pitchFamily="34" charset="-122"/>
                <a:cs typeface="Calibri" pitchFamily="34" charset="-120"/>
              </a:rPr>
              <a:t>① 靶细胞提供的活化信号不足 → 固相强刺激可恢复　② NK 细胞自身受体表达低或近端信号传导减弱 → 固相刺激亦不能恢复</a:t>
            </a:r>
            <a:endParaRPr lang="en-US" sz="900" dirty="0"/>
          </a:p>
        </p:txBody>
      </p:sp>
      <p:sp>
        <p:nvSpPr>
          <p:cNvPr id="26" name="Shape 24"/>
          <p:cNvSpPr/>
          <p:nvPr/>
        </p:nvSpPr>
        <p:spPr>
          <a:xfrm>
            <a:off x="8339328" y="3566160"/>
            <a:ext cx="3099816" cy="0"/>
          </a:xfrm>
          <a:prstGeom prst="line">
            <a:avLst/>
          </a:prstGeom>
          <a:noFill/>
          <a:ln w="12700">
            <a:solidFill>
              <a:srgbClr val="D8DEE4"/>
            </a:solidFill>
            <a:prstDash val="solid"/>
          </a:ln>
        </p:spPr>
      </p:sp>
      <p:sp>
        <p:nvSpPr>
          <p:cNvPr id="27" name="Text 25"/>
          <p:cNvSpPr/>
          <p:nvPr/>
        </p:nvSpPr>
        <p:spPr>
          <a:xfrm>
            <a:off x="8339328" y="3621024"/>
            <a:ext cx="3099816" cy="457200"/>
          </a:xfrm>
          <a:prstGeom prst="rect">
            <a:avLst/>
          </a:prstGeom>
          <a:noFill/>
          <a:ln/>
        </p:spPr>
        <p:txBody>
          <a:bodyPr wrap="square" lIns="0" tIns="0" rIns="0" bIns="0" rtlCol="0" anchor="t"/>
          <a:lstStyle/>
          <a:p>
            <a:pPr indent="0" marL="0">
              <a:lnSpc>
                <a:spcPct val="106000"/>
              </a:lnSpc>
              <a:buNone/>
            </a:pPr>
            <a:r>
              <a:rPr lang="en-US" sz="750" dirty="0">
                <a:solidFill>
                  <a:srgbClr val="6B7683"/>
                </a:solidFill>
                <a:latin typeface="Calibri" pitchFamily="34" charset="0"/>
                <a:ea typeface="Calibri" pitchFamily="34" charset="-122"/>
                <a:cs typeface="Calibri" pitchFamily="34" charset="-120"/>
              </a:rPr>
              <a:t>Eitler J, et al. J Immunother Cancer 2021;9:e001334　·　受体下调 Castriconi R, et al. PNAS 2003;100:4120　·　两步信号需求 Hsu HT, Orange JS. Sci Signal 2014;7:pe24</a:t>
            </a:r>
            <a:endParaRPr lang="en-US" sz="750" dirty="0"/>
          </a:p>
        </p:txBody>
      </p:sp>
      <p:sp>
        <p:nvSpPr>
          <p:cNvPr id="28" name="Text 26"/>
          <p:cNvSpPr/>
          <p:nvPr/>
        </p:nvSpPr>
        <p:spPr>
          <a:xfrm>
            <a:off x="4343400" y="4187952"/>
            <a:ext cx="3502152" cy="201168"/>
          </a:xfrm>
          <a:prstGeom prst="rect">
            <a:avLst/>
          </a:prstGeom>
          <a:noFill/>
          <a:ln/>
        </p:spPr>
        <p:txBody>
          <a:bodyPr wrap="square" lIns="0" tIns="0" rIns="0" bIns="0" rtlCol="0" anchor="ctr"/>
          <a:lstStyle/>
          <a:p>
            <a:pPr algn="ctr" indent="0" marL="0">
              <a:buNone/>
            </a:pPr>
            <a:r>
              <a:rPr lang="en-US" sz="900" i="1" dirty="0">
                <a:solidFill>
                  <a:srgbClr val="B3202C"/>
                </a:solidFill>
                <a:latin typeface="Calibri" pitchFamily="34" charset="0"/>
                <a:ea typeface="Calibri" pitchFamily="34" charset="-122"/>
                <a:cs typeface="Calibri" pitchFamily="34" charset="-120"/>
              </a:rPr>
              <a:t>虚线框表示该类为本研究拟验证的对象</a:t>
            </a:r>
            <a:endParaRPr lang="en-US" sz="900" dirty="0"/>
          </a:p>
        </p:txBody>
      </p:sp>
      <p:sp>
        <p:nvSpPr>
          <p:cNvPr id="29" name="Shape 27"/>
          <p:cNvSpPr/>
          <p:nvPr/>
        </p:nvSpPr>
        <p:spPr>
          <a:xfrm>
            <a:off x="548640" y="4462272"/>
            <a:ext cx="11091672" cy="841248"/>
          </a:xfrm>
          <a:prstGeom prst="roundRect">
            <a:avLst>
              <a:gd name="adj" fmla="val 6522"/>
            </a:avLst>
          </a:prstGeom>
          <a:solidFill>
            <a:srgbClr val="F1F4F6"/>
          </a:solidFill>
          <a:ln w="12700">
            <a:solidFill>
              <a:srgbClr val="D8DEE4"/>
            </a:solidFill>
            <a:prstDash val="solid"/>
          </a:ln>
        </p:spPr>
      </p:sp>
      <p:sp>
        <p:nvSpPr>
          <p:cNvPr id="30" name="Text 28"/>
          <p:cNvSpPr/>
          <p:nvPr/>
        </p:nvSpPr>
        <p:spPr>
          <a:xfrm>
            <a:off x="786384" y="4581144"/>
            <a:ext cx="10616184" cy="219456"/>
          </a:xfrm>
          <a:prstGeom prst="rect">
            <a:avLst/>
          </a:prstGeom>
          <a:noFill/>
          <a:ln/>
        </p:spPr>
        <p:txBody>
          <a:bodyPr wrap="square" lIns="0" tIns="0" rIns="0" bIns="0" rtlCol="0" anchor="ctr"/>
          <a:lstStyle/>
          <a:p>
            <a:pPr indent="0" marL="0">
              <a:buNone/>
            </a:pPr>
            <a:r>
              <a:rPr lang="en-US" sz="1050" b="1" spc="60" kern="0" dirty="0">
                <a:solidFill>
                  <a:srgbClr val="6B7683"/>
                </a:solidFill>
                <a:latin typeface="Calibri" pitchFamily="34" charset="0"/>
                <a:ea typeface="Calibri" pitchFamily="34" charset="-122"/>
                <a:cs typeface="Calibri" pitchFamily="34" charset="-120"/>
              </a:rPr>
              <a:t>三类细胞的现有证据强度均有限</a:t>
            </a:r>
            <a:endParaRPr lang="en-US" sz="1050" dirty="0"/>
          </a:p>
        </p:txBody>
      </p:sp>
      <p:sp>
        <p:nvSpPr>
          <p:cNvPr id="31" name="Text 29"/>
          <p:cNvSpPr/>
          <p:nvPr/>
        </p:nvSpPr>
        <p:spPr>
          <a:xfrm>
            <a:off x="786384" y="4773168"/>
            <a:ext cx="10607040" cy="438912"/>
          </a:xfrm>
          <a:prstGeom prst="rect">
            <a:avLst/>
          </a:prstGeom>
          <a:noFill/>
          <a:ln/>
        </p:spPr>
        <p:txBody>
          <a:bodyPr wrap="square" lIns="0" tIns="0" rIns="0" bIns="0" rtlCol="0" anchor="ctr"/>
          <a:lstStyle/>
          <a:p>
            <a:pPr indent="0" marL="0">
              <a:lnSpc>
                <a:spcPct val="112000"/>
              </a:lnSpc>
              <a:buNone/>
            </a:pPr>
            <a:r>
              <a:rPr lang="en-US" sz="1000" b="1" dirty="0">
                <a:solidFill>
                  <a:srgbClr val="22303D"/>
                </a:solidFill>
                <a:latin typeface="Calibri" pitchFamily="34" charset="0"/>
                <a:ea typeface="Calibri" pitchFamily="34" charset="-122"/>
                <a:cs typeface="Calibri" pitchFamily="34" charset="-120"/>
              </a:rPr>
              <a:t>健康 pbNK 细胞　</a:t>
            </a:r>
            <a:pPr indent="0" marL="0">
              <a:lnSpc>
                <a:spcPct val="112000"/>
              </a:lnSpc>
              <a:buNone/>
            </a:pPr>
            <a:r>
              <a:rPr lang="en-US" sz="1000" dirty="0">
                <a:solidFill>
                  <a:srgbClr val="22303D"/>
                </a:solidFill>
                <a:latin typeface="Calibri" pitchFamily="34" charset="0"/>
                <a:ea typeface="Calibri" pitchFamily="34" charset="-122"/>
                <a:cs typeface="Calibri" pitchFamily="34" charset="-120"/>
              </a:rPr>
              <a:t>「正常」这一结论未经严格验证：PNAS 2025 的跨亚群比较未做统计检验，两亚群系分选后分别扩增。　</a:t>
            </a:r>
            <a:pPr indent="0" marL="0">
              <a:lnSpc>
                <a:spcPct val="112000"/>
              </a:lnSpc>
              <a:buNone/>
            </a:pPr>
            <a:r>
              <a:rPr lang="en-US" sz="1000" b="1" dirty="0">
                <a:solidFill>
                  <a:srgbClr val="22303D"/>
                </a:solidFill>
                <a:latin typeface="Calibri" pitchFamily="34" charset="0"/>
                <a:ea typeface="Calibri" pitchFamily="34" charset="-122"/>
                <a:cs typeface="Calibri" pitchFamily="34" charset="-120"/>
              </a:rPr>
              <a:t>dNK 细胞　</a:t>
            </a:r>
            <a:pPr indent="0" marL="0">
              <a:lnSpc>
                <a:spcPct val="112000"/>
              </a:lnSpc>
              <a:buNone/>
            </a:pPr>
            <a:r>
              <a:rPr lang="en-US" sz="1000" dirty="0">
                <a:solidFill>
                  <a:srgbClr val="22303D"/>
                </a:solidFill>
                <a:latin typeface="Calibri" pitchFamily="34" charset="0"/>
                <a:ea typeface="Calibri" pitchFamily="34" charset="-122"/>
                <a:cs typeface="Calibri" pitchFamily="34" charset="-120"/>
              </a:rPr>
              <a:t>「失败」未排除非经典抑制性配体。　</a:t>
            </a:r>
            <a:pPr indent="0" marL="0">
              <a:lnSpc>
                <a:spcPct val="112000"/>
              </a:lnSpc>
              <a:buNone/>
            </a:pPr>
            <a:r>
              <a:rPr lang="en-US" sz="1000" b="1" dirty="0">
                <a:solidFill>
                  <a:srgbClr val="22303D"/>
                </a:solidFill>
                <a:latin typeface="Calibri" pitchFamily="34" charset="0"/>
                <a:ea typeface="Calibri" pitchFamily="34" charset="-122"/>
                <a:cs typeface="Calibri" pitchFamily="34" charset="-120"/>
              </a:rPr>
              <a:t>肿瘤浸润 NK 细胞　</a:t>
            </a:r>
            <a:pPr indent="0" marL="0">
              <a:lnSpc>
                <a:spcPct val="112000"/>
              </a:lnSpc>
              <a:buNone/>
            </a:pPr>
            <a:r>
              <a:rPr lang="en-US" sz="1000" dirty="0">
                <a:solidFill>
                  <a:srgbClr val="22303D"/>
                </a:solidFill>
                <a:latin typeface="Calibri" pitchFamily="34" charset="0"/>
                <a:ea typeface="Calibri" pitchFamily="34" charset="-122"/>
                <a:cs typeface="Calibri" pitchFamily="34" charset="-120"/>
              </a:rPr>
              <a:t>尚无测定。</a:t>
            </a:r>
            <a:endParaRPr lang="en-US" sz="1000" dirty="0"/>
          </a:p>
        </p:txBody>
      </p:sp>
      <p:sp>
        <p:nvSpPr>
          <p:cNvPr id="32" name="Shape 30"/>
          <p:cNvSpPr/>
          <p:nvPr/>
        </p:nvSpPr>
        <p:spPr>
          <a:xfrm>
            <a:off x="548640" y="5504688"/>
            <a:ext cx="11091672" cy="859536"/>
          </a:xfrm>
          <a:prstGeom prst="roundRect">
            <a:avLst>
              <a:gd name="adj" fmla="val 6383"/>
            </a:avLst>
          </a:prstGeom>
          <a:solidFill>
            <a:srgbClr val="22303D"/>
          </a:solidFill>
          <a:ln w="12700">
            <a:solidFill>
              <a:srgbClr val="22303D"/>
            </a:solidFill>
            <a:prstDash val="solid"/>
          </a:ln>
        </p:spPr>
      </p:sp>
      <p:sp>
        <p:nvSpPr>
          <p:cNvPr id="33" name="Text 31"/>
          <p:cNvSpPr/>
          <p:nvPr/>
        </p:nvSpPr>
        <p:spPr>
          <a:xfrm>
            <a:off x="786384" y="5623560"/>
            <a:ext cx="10616184" cy="219456"/>
          </a:xfrm>
          <a:prstGeom prst="rect">
            <a:avLst/>
          </a:prstGeom>
          <a:noFill/>
          <a:ln/>
        </p:spPr>
        <p:txBody>
          <a:bodyPr wrap="square" lIns="0" tIns="0" rIns="0" bIns="0" rtlCol="0" anchor="ctr"/>
          <a:lstStyle/>
          <a:p>
            <a:pPr indent="0" marL="0">
              <a:buNone/>
            </a:pPr>
            <a:r>
              <a:rPr lang="en-US" sz="1050" b="1" spc="60" kern="0" dirty="0">
                <a:solidFill>
                  <a:srgbClr val="9FB2C4"/>
                </a:solidFill>
                <a:latin typeface="Calibri" pitchFamily="34" charset="0"/>
                <a:ea typeface="Calibri" pitchFamily="34" charset="-122"/>
                <a:cs typeface="Calibri" pitchFamily="34" charset="-120"/>
              </a:rPr>
              <a:t>潜在临床意义</a:t>
            </a:r>
            <a:endParaRPr lang="en-US" sz="1050" dirty="0"/>
          </a:p>
        </p:txBody>
      </p:sp>
      <p:sp>
        <p:nvSpPr>
          <p:cNvPr id="34" name="Text 32"/>
          <p:cNvSpPr/>
          <p:nvPr/>
        </p:nvSpPr>
        <p:spPr>
          <a:xfrm>
            <a:off x="841248" y="5815584"/>
            <a:ext cx="10515600" cy="402336"/>
          </a:xfrm>
          <a:prstGeom prst="rect">
            <a:avLst/>
          </a:prstGeom>
          <a:noFill/>
          <a:ln/>
        </p:spPr>
        <p:txBody>
          <a:bodyPr wrap="square" lIns="0" tIns="0" rIns="0" bIns="0" rtlCol="0" anchor="ctr"/>
          <a:lstStyle/>
          <a:p>
            <a:pPr indent="0" marL="0">
              <a:lnSpc>
                <a:spcPct val="118000"/>
              </a:lnSpc>
              <a:buNone/>
            </a:pPr>
            <a:r>
              <a:rPr lang="en-US" sz="1050" dirty="0">
                <a:solidFill>
                  <a:srgbClr val="FFFFFF"/>
                </a:solidFill>
                <a:latin typeface="Calibri" pitchFamily="34" charset="0"/>
                <a:ea typeface="Calibri" pitchFamily="34" charset="-122"/>
                <a:cs typeface="Calibri" pitchFamily="34" charset="-120"/>
              </a:rPr>
              <a:t>若肿瘤浸润 NK 细胞同时存在 A 类与 B 类抑制，则 NKG2A 抗体（monalizumab）与 KIR 阻断在机制上</a:t>
            </a:r>
            <a:pPr indent="0" marL="0">
              <a:lnSpc>
                <a:spcPct val="118000"/>
              </a:lnSpc>
              <a:buNone/>
            </a:pPr>
            <a:r>
              <a:rPr lang="en-US" sz="1050" b="1" dirty="0">
                <a:solidFill>
                  <a:srgbClr val="F2A0A6"/>
                </a:solidFill>
                <a:latin typeface="Calibri" pitchFamily="34" charset="0"/>
                <a:ea typeface="Calibri" pitchFamily="34" charset="-122"/>
                <a:cs typeface="Calibri" pitchFamily="34" charset="-120"/>
              </a:rPr>
              <a:t>仅解除前者</a:t>
            </a:r>
            <a:pPr indent="0" marL="0">
              <a:lnSpc>
                <a:spcPct val="118000"/>
              </a:lnSpc>
              <a:buNone/>
            </a:pPr>
            <a:r>
              <a:rPr lang="en-US" sz="1050" dirty="0">
                <a:solidFill>
                  <a:srgbClr val="FFFFFF"/>
                </a:solidFill>
                <a:latin typeface="Calibri" pitchFamily="34" charset="0"/>
                <a:ea typeface="Calibri" pitchFamily="34" charset="-122"/>
                <a:cs typeface="Calibri" pitchFamily="34" charset="-120"/>
              </a:rPr>
              <a:t>，可为该类药物在 NK 细胞端疗效受限提供一个可实验验证的解释。</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64240" cy="219456"/>
          </a:xfrm>
          <a:prstGeom prst="rect">
            <a:avLst/>
          </a:prstGeom>
          <a:noFill/>
          <a:ln/>
        </p:spPr>
        <p:txBody>
          <a:bodyPr wrap="square" lIns="0" tIns="0" rIns="0" bIns="0" rtlCol="0" anchor="ctr"/>
          <a:lstStyle/>
          <a:p>
            <a:pPr indent="0" marL="0">
              <a:buNone/>
            </a:pPr>
            <a:r>
              <a:rPr lang="en-US" sz="1050" b="1" spc="100" kern="0" dirty="0">
                <a:solidFill>
                  <a:srgbClr val="B3202C"/>
                </a:solidFill>
                <a:latin typeface="Calibri" pitchFamily="34" charset="0"/>
                <a:ea typeface="Calibri" pitchFamily="34" charset="-122"/>
                <a:cs typeface="Calibri" pitchFamily="34" charset="-120"/>
              </a:rPr>
              <a:t>科学问题</a:t>
            </a:r>
            <a:endParaRPr lang="en-US" sz="1050" dirty="0"/>
          </a:p>
        </p:txBody>
      </p:sp>
      <p:sp>
        <p:nvSpPr>
          <p:cNvPr id="3" name="Text 1"/>
          <p:cNvSpPr/>
          <p:nvPr/>
        </p:nvSpPr>
        <p:spPr>
          <a:xfrm>
            <a:off x="548640" y="475488"/>
            <a:ext cx="11064240" cy="512064"/>
          </a:xfrm>
          <a:prstGeom prst="rect">
            <a:avLst/>
          </a:prstGeom>
          <a:noFill/>
          <a:ln/>
        </p:spPr>
        <p:txBody>
          <a:bodyPr wrap="square" lIns="0" tIns="0" rIns="0" bIns="0" rtlCol="0" anchor="ctr"/>
          <a:lstStyle/>
          <a:p>
            <a:pPr indent="0" marL="0">
              <a:buNone/>
            </a:pPr>
            <a:r>
              <a:rPr lang="en-US" sz="2600" b="1" dirty="0">
                <a:solidFill>
                  <a:srgbClr val="22303D"/>
                </a:solidFill>
                <a:latin typeface="Cambria" pitchFamily="34" charset="0"/>
                <a:ea typeface="Cambria" pitchFamily="34" charset="-122"/>
                <a:cs typeface="Cambria" pitchFamily="34" charset="-120"/>
              </a:rPr>
              <a:t>研究要解决的问题</a:t>
            </a:r>
            <a:endParaRPr lang="en-US" sz="2600" dirty="0"/>
          </a:p>
        </p:txBody>
      </p:sp>
      <p:sp>
        <p:nvSpPr>
          <p:cNvPr id="4" name="Text 2"/>
          <p:cNvSpPr/>
          <p:nvPr/>
        </p:nvSpPr>
        <p:spPr>
          <a:xfrm>
            <a:off x="548640" y="1005840"/>
            <a:ext cx="11064240" cy="292608"/>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自然杀伤细胞（natural killer cell，NK 细胞）的极化制动 B 类机制探索 —— 即上页三类上游中尚无实例的 B 类</a:t>
            </a:r>
            <a:endParaRPr lang="en-US" sz="1200" dirty="0"/>
          </a:p>
        </p:txBody>
      </p:sp>
      <p:sp>
        <p:nvSpPr>
          <p:cNvPr id="5" name="Shape 3"/>
          <p:cNvSpPr/>
          <p:nvPr/>
        </p:nvSpPr>
        <p:spPr>
          <a:xfrm>
            <a:off x="548640" y="1444752"/>
            <a:ext cx="11091672" cy="1316736"/>
          </a:xfrm>
          <a:prstGeom prst="roundRect">
            <a:avLst>
              <a:gd name="adj" fmla="val 4167"/>
            </a:avLst>
          </a:prstGeom>
          <a:solidFill>
            <a:srgbClr val="22303D"/>
          </a:solidFill>
          <a:ln w="12700">
            <a:solidFill>
              <a:srgbClr val="22303D"/>
            </a:solidFill>
            <a:prstDash val="solid"/>
          </a:ln>
        </p:spPr>
      </p:sp>
      <p:sp>
        <p:nvSpPr>
          <p:cNvPr id="6" name="Text 4"/>
          <p:cNvSpPr/>
          <p:nvPr/>
        </p:nvSpPr>
        <p:spPr>
          <a:xfrm>
            <a:off x="877824" y="1609344"/>
            <a:ext cx="10424160" cy="1005840"/>
          </a:xfrm>
          <a:prstGeom prst="rect">
            <a:avLst/>
          </a:prstGeom>
          <a:noFill/>
          <a:ln/>
        </p:spPr>
        <p:txBody>
          <a:bodyPr wrap="square" lIns="0" tIns="0" rIns="0" bIns="0" rtlCol="0" anchor="ctr"/>
          <a:lstStyle/>
          <a:p>
            <a:pPr indent="0" marL="0">
              <a:lnSpc>
                <a:spcPct val="122000"/>
              </a:lnSpc>
              <a:buNone/>
            </a:pPr>
            <a:r>
              <a:rPr lang="en-US" sz="1350" dirty="0">
                <a:solidFill>
                  <a:srgbClr val="FFFFFF"/>
                </a:solidFill>
                <a:latin typeface="Calibri" pitchFamily="34" charset="0"/>
                <a:ea typeface="Calibri" pitchFamily="34" charset="-122"/>
                <a:cs typeface="Calibri" pitchFamily="34" charset="-120"/>
              </a:rPr>
              <a:t>是否存在这样一类抑制：</a:t>
            </a:r>
            <a:pPr indent="0" marL="0">
              <a:lnSpc>
                <a:spcPct val="122000"/>
              </a:lnSpc>
              <a:buNone/>
            </a:pPr>
            <a:r>
              <a:rPr lang="en-US" sz="1350" b="1" dirty="0">
                <a:solidFill>
                  <a:srgbClr val="F2A0A6"/>
                </a:solidFill>
                <a:latin typeface="Calibri" pitchFamily="34" charset="0"/>
                <a:ea typeface="Calibri" pitchFamily="34" charset="-122"/>
                <a:cs typeface="Calibri" pitchFamily="34" charset="-120"/>
              </a:rPr>
              <a:t>不依赖靶细胞表面的抑制性配体，由转化生长因子-β（transforming growth factor-β，TGF-β）、缺氧等微环境因素诱导产生，形成后由细胞自身携带，撤除诱导因素后仍持续存在？</a:t>
            </a:r>
            <a:pPr indent="0" marL="0">
              <a:lnSpc>
                <a:spcPct val="122000"/>
              </a:lnSpc>
              <a:buNone/>
            </a:pPr>
            <a:endParaRPr lang="en-US" sz="1350" dirty="0"/>
          </a:p>
          <a:p>
            <a:pPr indent="0" marL="0">
              <a:lnSpc>
                <a:spcPct val="122000"/>
              </a:lnSpc>
              <a:buNone/>
            </a:pPr>
            <a:r>
              <a:rPr lang="en-US" sz="1350" dirty="0">
                <a:solidFill>
                  <a:srgbClr val="FFFFFF"/>
                </a:solidFill>
                <a:latin typeface="Calibri" pitchFamily="34" charset="0"/>
                <a:ea typeface="Calibri" pitchFamily="34" charset="-122"/>
                <a:cs typeface="Calibri" pitchFamily="34" charset="-120"/>
              </a:rPr>
              <a:t>若该类抑制成立，蜕膜自然杀伤细胞（decidual NK，dNK）的生理性耐受与肿瘤浸润 NK 细胞的功能受抑，可能是同一机制在两种情境下的表现。</a:t>
            </a:r>
            <a:endParaRPr lang="en-US" sz="1350" dirty="0"/>
          </a:p>
        </p:txBody>
      </p:sp>
      <p:sp>
        <p:nvSpPr>
          <p:cNvPr id="7" name="Shape 5"/>
          <p:cNvSpPr/>
          <p:nvPr/>
        </p:nvSpPr>
        <p:spPr>
          <a:xfrm>
            <a:off x="548640" y="2962656"/>
            <a:ext cx="3502152" cy="2231136"/>
          </a:xfrm>
          <a:prstGeom prst="roundRect">
            <a:avLst>
              <a:gd name="adj" fmla="val 2459"/>
            </a:avLst>
          </a:prstGeom>
          <a:solidFill>
            <a:srgbClr val="FFFFFF"/>
          </a:solidFill>
          <a:ln w="17780">
            <a:solidFill>
              <a:srgbClr val="1B6E6D"/>
            </a:solidFill>
            <a:prstDash val="solid"/>
          </a:ln>
        </p:spPr>
      </p:sp>
      <p:sp>
        <p:nvSpPr>
          <p:cNvPr id="8" name="Shape 6"/>
          <p:cNvSpPr/>
          <p:nvPr/>
        </p:nvSpPr>
        <p:spPr>
          <a:xfrm>
            <a:off x="768096" y="3127248"/>
            <a:ext cx="1005840" cy="292608"/>
          </a:xfrm>
          <a:prstGeom prst="roundRect">
            <a:avLst>
              <a:gd name="adj" fmla="val 15625"/>
            </a:avLst>
          </a:prstGeom>
          <a:solidFill>
            <a:srgbClr val="1B6E6D"/>
          </a:solidFill>
          <a:ln w="12700">
            <a:solidFill>
              <a:srgbClr val="1B6E6D"/>
            </a:solidFill>
            <a:prstDash val="solid"/>
          </a:ln>
        </p:spPr>
      </p:sp>
      <p:sp>
        <p:nvSpPr>
          <p:cNvPr id="9" name="Text 7"/>
          <p:cNvSpPr/>
          <p:nvPr/>
        </p:nvSpPr>
        <p:spPr>
          <a:xfrm>
            <a:off x="768096" y="3127248"/>
            <a:ext cx="10058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现有认识</a:t>
            </a:r>
            <a:endParaRPr lang="en-US" sz="1050" dirty="0"/>
          </a:p>
        </p:txBody>
      </p:sp>
      <p:sp>
        <p:nvSpPr>
          <p:cNvPr id="10" name="Text 8"/>
          <p:cNvSpPr/>
          <p:nvPr/>
        </p:nvSpPr>
        <p:spPr>
          <a:xfrm>
            <a:off x="768096" y="3529584"/>
            <a:ext cx="3063240" cy="1572768"/>
          </a:xfrm>
          <a:prstGeom prst="rect">
            <a:avLst/>
          </a:prstGeom>
          <a:noFill/>
          <a:ln/>
        </p:spPr>
        <p:txBody>
          <a:bodyPr wrap="square" lIns="0" tIns="0" rIns="0" bIns="0" rtlCol="0" anchor="t"/>
          <a:lstStyle/>
          <a:p>
            <a:pPr indent="0" marL="0">
              <a:lnSpc>
                <a:spcPct val="118000"/>
              </a:lnSpc>
              <a:buNone/>
            </a:pPr>
            <a:r>
              <a:rPr lang="en-US" sz="1000" dirty="0">
                <a:solidFill>
                  <a:srgbClr val="22303D"/>
                </a:solidFill>
                <a:latin typeface="Calibri" pitchFamily="34" charset="0"/>
                <a:ea typeface="Calibri" pitchFamily="34" charset="-122"/>
                <a:cs typeface="Calibri" pitchFamily="34" charset="-120"/>
              </a:rPr>
              <a:t>· 健康外周血 NK 细胞（peripheral blood NK，pbNK）在无匹配抑制信号时极化正常，但该结论的证据强度有限（见上页）</a:t>
            </a:r>
            <a:endParaRPr lang="en-US" sz="1000" dirty="0"/>
          </a:p>
          <a:p>
            <a:pPr indent="0" marL="0">
              <a:lnSpc>
                <a:spcPct val="118000"/>
              </a:lnSpc>
              <a:buNone/>
            </a:pPr>
            <a:r>
              <a:rPr lang="en-US" sz="1000" dirty="0">
                <a:solidFill>
                  <a:srgbClr val="22303D"/>
                </a:solidFill>
                <a:latin typeface="Calibri" pitchFamily="34" charset="0"/>
                <a:ea typeface="Calibri" pitchFamily="34" charset="-122"/>
                <a:cs typeface="Calibri" pitchFamily="34" charset="-120"/>
              </a:rPr>
              <a:t>· dNK 细胞极化失败，裂解活性约为 pbNK 细胞的 15%（Kopcow 2005）</a:t>
            </a:r>
            <a:endParaRPr lang="en-US" sz="1000" dirty="0"/>
          </a:p>
          <a:p>
            <a:pPr indent="0" marL="0">
              <a:lnSpc>
                <a:spcPct val="118000"/>
              </a:lnSpc>
              <a:buNone/>
            </a:pPr>
            <a:r>
              <a:rPr lang="en-US" sz="1000" dirty="0">
                <a:solidFill>
                  <a:srgbClr val="22303D"/>
                </a:solidFill>
                <a:latin typeface="Calibri" pitchFamily="34" charset="0"/>
                <a:ea typeface="Calibri" pitchFamily="34" charset="-122"/>
                <a:cs typeface="Calibri" pitchFamily="34" charset="-120"/>
              </a:rPr>
              <a:t>· 抑制性受体优先作用于微管组织中心（microtubule-organizing center，MTOC）重定向，而脱颗粒过程保留（Das &amp; Long 2010）</a:t>
            </a:r>
            <a:endParaRPr lang="en-US" sz="1000" dirty="0"/>
          </a:p>
        </p:txBody>
      </p:sp>
      <p:sp>
        <p:nvSpPr>
          <p:cNvPr id="11" name="Shape 9"/>
          <p:cNvSpPr/>
          <p:nvPr/>
        </p:nvSpPr>
        <p:spPr>
          <a:xfrm>
            <a:off x="4343400" y="2962656"/>
            <a:ext cx="3502152" cy="2231136"/>
          </a:xfrm>
          <a:prstGeom prst="roundRect">
            <a:avLst>
              <a:gd name="adj" fmla="val 2459"/>
            </a:avLst>
          </a:prstGeom>
          <a:solidFill>
            <a:srgbClr val="FFFFFF"/>
          </a:solidFill>
          <a:ln w="17780">
            <a:solidFill>
              <a:srgbClr val="B3202C"/>
            </a:solidFill>
            <a:prstDash val="solid"/>
          </a:ln>
        </p:spPr>
      </p:sp>
      <p:sp>
        <p:nvSpPr>
          <p:cNvPr id="12" name="Shape 10"/>
          <p:cNvSpPr/>
          <p:nvPr/>
        </p:nvSpPr>
        <p:spPr>
          <a:xfrm>
            <a:off x="4562856" y="3127248"/>
            <a:ext cx="1005840" cy="292608"/>
          </a:xfrm>
          <a:prstGeom prst="roundRect">
            <a:avLst>
              <a:gd name="adj" fmla="val 15625"/>
            </a:avLst>
          </a:prstGeom>
          <a:solidFill>
            <a:srgbClr val="B3202C"/>
          </a:solidFill>
          <a:ln w="12700">
            <a:solidFill>
              <a:srgbClr val="B3202C"/>
            </a:solidFill>
            <a:prstDash val="solid"/>
          </a:ln>
        </p:spPr>
      </p:sp>
      <p:sp>
        <p:nvSpPr>
          <p:cNvPr id="13" name="Text 11"/>
          <p:cNvSpPr/>
          <p:nvPr/>
        </p:nvSpPr>
        <p:spPr>
          <a:xfrm>
            <a:off x="4562856" y="3127248"/>
            <a:ext cx="10058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尚未阐明</a:t>
            </a:r>
            <a:endParaRPr lang="en-US" sz="1050" dirty="0"/>
          </a:p>
        </p:txBody>
      </p:sp>
      <p:sp>
        <p:nvSpPr>
          <p:cNvPr id="14" name="Text 12"/>
          <p:cNvSpPr/>
          <p:nvPr/>
        </p:nvSpPr>
        <p:spPr>
          <a:xfrm>
            <a:off x="4562856" y="3529584"/>
            <a:ext cx="3063240" cy="1572768"/>
          </a:xfrm>
          <a:prstGeom prst="rect">
            <a:avLst/>
          </a:prstGeom>
          <a:noFill/>
          <a:ln/>
        </p:spPr>
        <p:txBody>
          <a:bodyPr wrap="square" lIns="0" tIns="0" rIns="0" bIns="0" rtlCol="0" anchor="t"/>
          <a:lstStyle/>
          <a:p>
            <a:pPr indent="0" marL="0">
              <a:lnSpc>
                <a:spcPct val="118000"/>
              </a:lnSpc>
              <a:buNone/>
            </a:pPr>
            <a:r>
              <a:rPr lang="en-US" sz="1000" dirty="0">
                <a:solidFill>
                  <a:srgbClr val="22303D"/>
                </a:solidFill>
                <a:latin typeface="Calibri" pitchFamily="34" charset="0"/>
                <a:ea typeface="Calibri" pitchFamily="34" charset="-122"/>
                <a:cs typeface="Calibri" pitchFamily="34" charset="-120"/>
              </a:rPr>
              <a:t>· 肿瘤浸润 NK 细胞的 MTOC 重定向状态，迄今无人测定</a:t>
            </a:r>
            <a:endParaRPr lang="en-US" sz="1000" dirty="0"/>
          </a:p>
          <a:p>
            <a:pPr indent="0" marL="0">
              <a:lnSpc>
                <a:spcPct val="118000"/>
              </a:lnSpc>
              <a:buNone/>
            </a:pPr>
            <a:r>
              <a:rPr lang="en-US" sz="1000" dirty="0">
                <a:solidFill>
                  <a:srgbClr val="22303D"/>
                </a:solidFill>
                <a:latin typeface="Calibri" pitchFamily="34" charset="0"/>
                <a:ea typeface="Calibri" pitchFamily="34" charset="-122"/>
                <a:cs typeface="Calibri" pitchFamily="34" charset="-120"/>
              </a:rPr>
              <a:t>· 现有极化成像研究所用细胞均为健康 pbNK 细胞或 NK-92、YTS 等细胞株</a:t>
            </a:r>
            <a:endParaRPr lang="en-US" sz="1000" dirty="0"/>
          </a:p>
          <a:p>
            <a:pPr indent="0" marL="0">
              <a:lnSpc>
                <a:spcPct val="118000"/>
              </a:lnSpc>
              <a:buNone/>
            </a:pPr>
            <a:r>
              <a:rPr lang="en-US" sz="1000" dirty="0">
                <a:solidFill>
                  <a:srgbClr val="22303D"/>
                </a:solidFill>
                <a:latin typeface="Calibri" pitchFamily="34" charset="0"/>
                <a:ea typeface="Calibri" pitchFamily="34" charset="-122"/>
                <a:cs typeface="Calibri" pitchFamily="34" charset="-120"/>
              </a:rPr>
              <a:t>· 「细胞自身携带的持久性制动」尚无直接证据，未被确立</a:t>
            </a:r>
            <a:endParaRPr lang="en-US" sz="1000" dirty="0"/>
          </a:p>
        </p:txBody>
      </p:sp>
      <p:sp>
        <p:nvSpPr>
          <p:cNvPr id="15" name="Shape 13"/>
          <p:cNvSpPr/>
          <p:nvPr/>
        </p:nvSpPr>
        <p:spPr>
          <a:xfrm>
            <a:off x="8138160" y="2962656"/>
            <a:ext cx="3502152" cy="2231136"/>
          </a:xfrm>
          <a:prstGeom prst="roundRect">
            <a:avLst>
              <a:gd name="adj" fmla="val 2459"/>
            </a:avLst>
          </a:prstGeom>
          <a:solidFill>
            <a:srgbClr val="FFFFFF"/>
          </a:solidFill>
          <a:ln w="17780">
            <a:solidFill>
              <a:srgbClr val="8A5A12"/>
            </a:solidFill>
            <a:prstDash val="solid"/>
          </a:ln>
        </p:spPr>
      </p:sp>
      <p:sp>
        <p:nvSpPr>
          <p:cNvPr id="16" name="Shape 14"/>
          <p:cNvSpPr/>
          <p:nvPr/>
        </p:nvSpPr>
        <p:spPr>
          <a:xfrm>
            <a:off x="8357616" y="3127248"/>
            <a:ext cx="1005840" cy="292608"/>
          </a:xfrm>
          <a:prstGeom prst="roundRect">
            <a:avLst>
              <a:gd name="adj" fmla="val 15625"/>
            </a:avLst>
          </a:prstGeom>
          <a:solidFill>
            <a:srgbClr val="8A5A12"/>
          </a:solidFill>
          <a:ln w="12700">
            <a:solidFill>
              <a:srgbClr val="8A5A12"/>
            </a:solidFill>
            <a:prstDash val="solid"/>
          </a:ln>
        </p:spPr>
      </p:sp>
      <p:sp>
        <p:nvSpPr>
          <p:cNvPr id="17" name="Text 15"/>
          <p:cNvSpPr/>
          <p:nvPr/>
        </p:nvSpPr>
        <p:spPr>
          <a:xfrm>
            <a:off x="8357616" y="3127248"/>
            <a:ext cx="10058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潜在意义</a:t>
            </a:r>
            <a:endParaRPr lang="en-US" sz="1050" dirty="0"/>
          </a:p>
        </p:txBody>
      </p:sp>
      <p:sp>
        <p:nvSpPr>
          <p:cNvPr id="18" name="Text 16"/>
          <p:cNvSpPr/>
          <p:nvPr/>
        </p:nvSpPr>
        <p:spPr>
          <a:xfrm>
            <a:off x="8357616" y="3529584"/>
            <a:ext cx="3063240" cy="1572768"/>
          </a:xfrm>
          <a:prstGeom prst="rect">
            <a:avLst/>
          </a:prstGeom>
          <a:noFill/>
          <a:ln/>
        </p:spPr>
        <p:txBody>
          <a:bodyPr wrap="square" lIns="0" tIns="0" rIns="0" bIns="0" rtlCol="0" anchor="t"/>
          <a:lstStyle/>
          <a:p>
            <a:pPr indent="0" marL="0">
              <a:lnSpc>
                <a:spcPct val="118000"/>
              </a:lnSpc>
              <a:buNone/>
            </a:pPr>
            <a:r>
              <a:rPr lang="en-US" sz="1000" dirty="0">
                <a:solidFill>
                  <a:srgbClr val="22303D"/>
                </a:solidFill>
                <a:latin typeface="Calibri" pitchFamily="34" charset="0"/>
                <a:ea typeface="Calibri" pitchFamily="34" charset="-122"/>
                <a:cs typeface="Calibri" pitchFamily="34" charset="-120"/>
              </a:rPr>
              <a:t>· 若肿瘤浸润 NK 细胞同时存在配体依赖性与细胞携带性两类抑制，则 NKG2A 抗体（monalizumab）与杀伤细胞免疫球蛋白样受体（killer cell immunoglobulin-like receptor，KIR）阻断仅解除前者</a:t>
            </a:r>
            <a:endParaRPr lang="en-US" sz="1000" dirty="0"/>
          </a:p>
          <a:p>
            <a:pPr indent="0" marL="0">
              <a:lnSpc>
                <a:spcPct val="118000"/>
              </a:lnSpc>
              <a:buNone/>
            </a:pPr>
            <a:r>
              <a:rPr lang="en-US" sz="1000" dirty="0">
                <a:solidFill>
                  <a:srgbClr val="22303D"/>
                </a:solidFill>
                <a:latin typeface="Calibri" pitchFamily="34" charset="0"/>
                <a:ea typeface="Calibri" pitchFamily="34" charset="-122"/>
                <a:cs typeface="Calibri" pitchFamily="34" charset="-120"/>
              </a:rPr>
              <a:t>· 可为该类药物在 NK 细胞端疗效受限提供一个可实验验证的解释</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64240" cy="219456"/>
          </a:xfrm>
          <a:prstGeom prst="rect">
            <a:avLst/>
          </a:prstGeom>
          <a:noFill/>
          <a:ln/>
        </p:spPr>
        <p:txBody>
          <a:bodyPr wrap="square" lIns="0" tIns="0" rIns="0" bIns="0" rtlCol="0" anchor="ctr"/>
          <a:lstStyle/>
          <a:p>
            <a:pPr indent="0" marL="0">
              <a:buNone/>
            </a:pPr>
            <a:r>
              <a:rPr lang="en-US" sz="1050" b="1" spc="100" kern="0" dirty="0">
                <a:solidFill>
                  <a:srgbClr val="B3202C"/>
                </a:solidFill>
                <a:latin typeface="Calibri" pitchFamily="34" charset="0"/>
                <a:ea typeface="Calibri" pitchFamily="34" charset="-122"/>
                <a:cs typeface="Calibri" pitchFamily="34" charset="-120"/>
              </a:rPr>
              <a:t>研究策略</a:t>
            </a:r>
            <a:endParaRPr lang="en-US" sz="1050" dirty="0"/>
          </a:p>
        </p:txBody>
      </p:sp>
      <p:sp>
        <p:nvSpPr>
          <p:cNvPr id="3" name="Text 1"/>
          <p:cNvSpPr/>
          <p:nvPr/>
        </p:nvSpPr>
        <p:spPr>
          <a:xfrm>
            <a:off x="548640" y="475488"/>
            <a:ext cx="11064240" cy="512064"/>
          </a:xfrm>
          <a:prstGeom prst="rect">
            <a:avLst/>
          </a:prstGeom>
          <a:noFill/>
          <a:ln/>
        </p:spPr>
        <p:txBody>
          <a:bodyPr wrap="square" lIns="0" tIns="0" rIns="0" bIns="0" rtlCol="0" anchor="ctr"/>
          <a:lstStyle/>
          <a:p>
            <a:pPr indent="0" marL="0">
              <a:buNone/>
            </a:pPr>
            <a:r>
              <a:rPr lang="en-US" sz="2600" b="1" dirty="0">
                <a:solidFill>
                  <a:srgbClr val="22303D"/>
                </a:solidFill>
                <a:latin typeface="Cambria" pitchFamily="34" charset="0"/>
                <a:ea typeface="Cambria" pitchFamily="34" charset="-122"/>
                <a:cs typeface="Cambria" pitchFamily="34" charset="-120"/>
              </a:rPr>
              <a:t>以实验条件逐层排除其他机制</a:t>
            </a:r>
            <a:endParaRPr lang="en-US" sz="2600" dirty="0"/>
          </a:p>
        </p:txBody>
      </p:sp>
      <p:sp>
        <p:nvSpPr>
          <p:cNvPr id="4" name="Text 2"/>
          <p:cNvSpPr/>
          <p:nvPr/>
        </p:nvSpPr>
        <p:spPr>
          <a:xfrm>
            <a:off x="548640" y="1005840"/>
            <a:ext cx="11064240" cy="292608"/>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每增加一项条件，排除一类上游机制</a:t>
            </a:r>
            <a:endParaRPr lang="en-US" sz="1200" dirty="0"/>
          </a:p>
        </p:txBody>
      </p:sp>
      <p:sp>
        <p:nvSpPr>
          <p:cNvPr id="5" name="Shape 3"/>
          <p:cNvSpPr/>
          <p:nvPr/>
        </p:nvSpPr>
        <p:spPr>
          <a:xfrm>
            <a:off x="548640" y="1426464"/>
            <a:ext cx="5577840" cy="841248"/>
          </a:xfrm>
          <a:prstGeom prst="roundRect">
            <a:avLst>
              <a:gd name="adj" fmla="val 6522"/>
            </a:avLst>
          </a:prstGeom>
          <a:solidFill>
            <a:srgbClr val="FFFFFF"/>
          </a:solidFill>
          <a:ln w="16510">
            <a:solidFill>
              <a:srgbClr val="6B7683"/>
            </a:solidFill>
            <a:prstDash val="solid"/>
          </a:ln>
        </p:spPr>
      </p:sp>
      <p:sp>
        <p:nvSpPr>
          <p:cNvPr id="6" name="Shape 4"/>
          <p:cNvSpPr/>
          <p:nvPr/>
        </p:nvSpPr>
        <p:spPr>
          <a:xfrm>
            <a:off x="749808" y="1691640"/>
            <a:ext cx="310896" cy="310896"/>
          </a:xfrm>
          <a:prstGeom prst="ellipse">
            <a:avLst/>
          </a:prstGeom>
          <a:solidFill>
            <a:srgbClr val="6B7683"/>
          </a:solidFill>
          <a:ln w="12700">
            <a:solidFill>
              <a:srgbClr val="6B7683"/>
            </a:solidFill>
            <a:prstDash val="solid"/>
          </a:ln>
        </p:spPr>
      </p:sp>
      <p:sp>
        <p:nvSpPr>
          <p:cNvPr id="7" name="Text 5"/>
          <p:cNvSpPr/>
          <p:nvPr/>
        </p:nvSpPr>
        <p:spPr>
          <a:xfrm>
            <a:off x="749808" y="1691640"/>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8" name="Text 6"/>
          <p:cNvSpPr/>
          <p:nvPr/>
        </p:nvSpPr>
        <p:spPr>
          <a:xfrm>
            <a:off x="1170432" y="1517904"/>
            <a:ext cx="3017520" cy="310896"/>
          </a:xfrm>
          <a:prstGeom prst="rect">
            <a:avLst/>
          </a:prstGeom>
          <a:noFill/>
          <a:ln/>
        </p:spPr>
        <p:txBody>
          <a:bodyPr wrap="square" lIns="0" tIns="0" rIns="0" bIns="0" rtlCol="0" anchor="ctr"/>
          <a:lstStyle/>
          <a:p>
            <a:pPr indent="0" marL="0">
              <a:buNone/>
            </a:pPr>
            <a:r>
              <a:rPr lang="en-US" sz="1100" b="1" dirty="0">
                <a:solidFill>
                  <a:srgbClr val="22303D"/>
                </a:solidFill>
                <a:latin typeface="Calibri" pitchFamily="34" charset="0"/>
                <a:ea typeface="Calibri" pitchFamily="34" charset="-122"/>
                <a:cs typeface="Calibri" pitchFamily="34" charset="-120"/>
              </a:rPr>
              <a:t>常规杀伤实验（含靶细胞）</a:t>
            </a:r>
            <a:endParaRPr lang="en-US" sz="1100" dirty="0"/>
          </a:p>
        </p:txBody>
      </p:sp>
      <p:sp>
        <p:nvSpPr>
          <p:cNvPr id="9" name="Text 7"/>
          <p:cNvSpPr/>
          <p:nvPr/>
        </p:nvSpPr>
        <p:spPr>
          <a:xfrm>
            <a:off x="1170432" y="1828800"/>
            <a:ext cx="3017520" cy="402336"/>
          </a:xfrm>
          <a:prstGeom prst="rect">
            <a:avLst/>
          </a:prstGeom>
          <a:noFill/>
          <a:ln/>
        </p:spPr>
        <p:txBody>
          <a:bodyPr wrap="square" lIns="0" tIns="0" rIns="0" bIns="0" rtlCol="0" anchor="t"/>
          <a:lstStyle/>
          <a:p>
            <a:pPr indent="0" marL="0">
              <a:lnSpc>
                <a:spcPct val="108000"/>
              </a:lnSpc>
              <a:buNone/>
            </a:pPr>
            <a:r>
              <a:rPr lang="en-US" sz="900" dirty="0">
                <a:solidFill>
                  <a:srgbClr val="6B7683"/>
                </a:solidFill>
                <a:latin typeface="Calibri" pitchFamily="34" charset="0"/>
                <a:ea typeface="Calibri" pitchFamily="34" charset="-122"/>
                <a:cs typeface="Calibri" pitchFamily="34" charset="-120"/>
              </a:rPr>
              <a:t>A、B、C 三类均可能参与</a:t>
            </a:r>
            <a:endParaRPr lang="en-US" sz="900" dirty="0"/>
          </a:p>
        </p:txBody>
      </p:sp>
      <p:sp>
        <p:nvSpPr>
          <p:cNvPr id="10" name="Text 8"/>
          <p:cNvSpPr/>
          <p:nvPr/>
        </p:nvSpPr>
        <p:spPr>
          <a:xfrm>
            <a:off x="4261104" y="1517904"/>
            <a:ext cx="1664208" cy="694944"/>
          </a:xfrm>
          <a:prstGeom prst="rect">
            <a:avLst/>
          </a:prstGeom>
          <a:noFill/>
          <a:ln/>
        </p:spPr>
        <p:txBody>
          <a:bodyPr wrap="square" lIns="0" tIns="0" rIns="0" bIns="0" rtlCol="0" anchor="ctr"/>
          <a:lstStyle/>
          <a:p>
            <a:pPr indent="0" marL="0">
              <a:lnSpc>
                <a:spcPct val="110000"/>
              </a:lnSpc>
              <a:buNone/>
            </a:pPr>
            <a:r>
              <a:rPr lang="en-US" sz="1050" b="1" dirty="0">
                <a:solidFill>
                  <a:srgbClr val="6B7683"/>
                </a:solidFill>
                <a:latin typeface="Cambria" pitchFamily="34" charset="0"/>
                <a:ea typeface="Cambria" pitchFamily="34" charset="-122"/>
                <a:cs typeface="Cambria" pitchFamily="34" charset="-120"/>
              </a:rPr>
              <a:t>无法区分</a:t>
            </a:r>
            <a:endParaRPr lang="en-US" sz="1050" dirty="0"/>
          </a:p>
        </p:txBody>
      </p:sp>
      <p:sp>
        <p:nvSpPr>
          <p:cNvPr id="11" name="Shape 9"/>
          <p:cNvSpPr/>
          <p:nvPr/>
        </p:nvSpPr>
        <p:spPr>
          <a:xfrm>
            <a:off x="548640" y="2340864"/>
            <a:ext cx="5577840" cy="841248"/>
          </a:xfrm>
          <a:prstGeom prst="roundRect">
            <a:avLst>
              <a:gd name="adj" fmla="val 6522"/>
            </a:avLst>
          </a:prstGeom>
          <a:solidFill>
            <a:srgbClr val="FFFFFF"/>
          </a:solidFill>
          <a:ln w="16510">
            <a:solidFill>
              <a:srgbClr val="4A3A72"/>
            </a:solidFill>
            <a:prstDash val="solid"/>
          </a:ln>
        </p:spPr>
      </p:sp>
      <p:sp>
        <p:nvSpPr>
          <p:cNvPr id="12" name="Shape 10"/>
          <p:cNvSpPr/>
          <p:nvPr/>
        </p:nvSpPr>
        <p:spPr>
          <a:xfrm>
            <a:off x="749808" y="2606040"/>
            <a:ext cx="310896" cy="310896"/>
          </a:xfrm>
          <a:prstGeom prst="ellipse">
            <a:avLst/>
          </a:prstGeom>
          <a:solidFill>
            <a:srgbClr val="4A3A72"/>
          </a:solidFill>
          <a:ln w="12700">
            <a:solidFill>
              <a:srgbClr val="4A3A72"/>
            </a:solidFill>
            <a:prstDash val="solid"/>
          </a:ln>
        </p:spPr>
      </p:sp>
      <p:sp>
        <p:nvSpPr>
          <p:cNvPr id="13" name="Text 11"/>
          <p:cNvSpPr/>
          <p:nvPr/>
        </p:nvSpPr>
        <p:spPr>
          <a:xfrm>
            <a:off x="749808" y="2606040"/>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4" name="Text 12"/>
          <p:cNvSpPr/>
          <p:nvPr/>
        </p:nvSpPr>
        <p:spPr>
          <a:xfrm>
            <a:off x="1170432" y="2432304"/>
            <a:ext cx="3017520" cy="310896"/>
          </a:xfrm>
          <a:prstGeom prst="rect">
            <a:avLst/>
          </a:prstGeom>
          <a:noFill/>
          <a:ln/>
        </p:spPr>
        <p:txBody>
          <a:bodyPr wrap="square" lIns="0" tIns="0" rIns="0" bIns="0" rtlCol="0" anchor="ctr"/>
          <a:lstStyle/>
          <a:p>
            <a:pPr indent="0" marL="0">
              <a:buNone/>
            </a:pPr>
            <a:r>
              <a:rPr lang="en-US" sz="1100" b="1" dirty="0">
                <a:solidFill>
                  <a:srgbClr val="22303D"/>
                </a:solidFill>
                <a:latin typeface="Calibri" pitchFamily="34" charset="0"/>
                <a:ea typeface="Calibri" pitchFamily="34" charset="-122"/>
                <a:cs typeface="Calibri" pitchFamily="34" charset="-120"/>
              </a:rPr>
              <a:t>固相包被抗体刺激，不使用靶细胞</a:t>
            </a:r>
            <a:endParaRPr lang="en-US" sz="1100" dirty="0"/>
          </a:p>
        </p:txBody>
      </p:sp>
      <p:sp>
        <p:nvSpPr>
          <p:cNvPr id="15" name="Text 13"/>
          <p:cNvSpPr/>
          <p:nvPr/>
        </p:nvSpPr>
        <p:spPr>
          <a:xfrm>
            <a:off x="1170432" y="2743200"/>
            <a:ext cx="3017520" cy="402336"/>
          </a:xfrm>
          <a:prstGeom prst="rect">
            <a:avLst/>
          </a:prstGeom>
          <a:noFill/>
          <a:ln/>
        </p:spPr>
        <p:txBody>
          <a:bodyPr wrap="square" lIns="0" tIns="0" rIns="0" bIns="0" rtlCol="0" anchor="t"/>
          <a:lstStyle/>
          <a:p>
            <a:pPr indent="0" marL="0">
              <a:lnSpc>
                <a:spcPct val="108000"/>
              </a:lnSpc>
              <a:buNone/>
            </a:pPr>
            <a:r>
              <a:rPr lang="en-US" sz="900" dirty="0">
                <a:solidFill>
                  <a:srgbClr val="6B7683"/>
                </a:solidFill>
                <a:latin typeface="Calibri" pitchFamily="34" charset="0"/>
                <a:ea typeface="Calibri" pitchFamily="34" charset="-122"/>
                <a:cs typeface="Calibri" pitchFamily="34" charset="-120"/>
              </a:rPr>
              <a:t>排除 A 类；排除「靶细胞活化信号不足」</a:t>
            </a:r>
            <a:endParaRPr lang="en-US" sz="900" dirty="0"/>
          </a:p>
        </p:txBody>
      </p:sp>
      <p:sp>
        <p:nvSpPr>
          <p:cNvPr id="16" name="Text 14"/>
          <p:cNvSpPr/>
          <p:nvPr/>
        </p:nvSpPr>
        <p:spPr>
          <a:xfrm>
            <a:off x="4261104" y="2432304"/>
            <a:ext cx="1664208" cy="694944"/>
          </a:xfrm>
          <a:prstGeom prst="rect">
            <a:avLst/>
          </a:prstGeom>
          <a:noFill/>
          <a:ln/>
        </p:spPr>
        <p:txBody>
          <a:bodyPr wrap="square" lIns="0" tIns="0" rIns="0" bIns="0" rtlCol="0" anchor="ctr"/>
          <a:lstStyle/>
          <a:p>
            <a:pPr indent="0" marL="0">
              <a:lnSpc>
                <a:spcPct val="110000"/>
              </a:lnSpc>
              <a:buNone/>
            </a:pPr>
            <a:r>
              <a:rPr lang="en-US" sz="1050" b="1" dirty="0">
                <a:solidFill>
                  <a:srgbClr val="4A3A72"/>
                </a:solidFill>
                <a:latin typeface="Cambria" pitchFamily="34" charset="0"/>
                <a:ea typeface="Cambria" pitchFamily="34" charset="-122"/>
                <a:cs typeface="Cambria" pitchFamily="34" charset="-120"/>
              </a:rPr>
              <a:t>剩余 B 类与 C 类第二种情形</a:t>
            </a:r>
            <a:endParaRPr lang="en-US" sz="1050" dirty="0"/>
          </a:p>
        </p:txBody>
      </p:sp>
      <p:sp>
        <p:nvSpPr>
          <p:cNvPr id="17" name="Shape 15"/>
          <p:cNvSpPr/>
          <p:nvPr/>
        </p:nvSpPr>
        <p:spPr>
          <a:xfrm>
            <a:off x="548640" y="3255264"/>
            <a:ext cx="5577840" cy="841248"/>
          </a:xfrm>
          <a:prstGeom prst="roundRect">
            <a:avLst>
              <a:gd name="adj" fmla="val 6522"/>
            </a:avLst>
          </a:prstGeom>
          <a:solidFill>
            <a:srgbClr val="FFFFFF"/>
          </a:solidFill>
          <a:ln w="16510">
            <a:solidFill>
              <a:srgbClr val="B3202C"/>
            </a:solidFill>
            <a:prstDash val="solid"/>
          </a:ln>
        </p:spPr>
      </p:sp>
      <p:sp>
        <p:nvSpPr>
          <p:cNvPr id="18" name="Shape 16"/>
          <p:cNvSpPr/>
          <p:nvPr/>
        </p:nvSpPr>
        <p:spPr>
          <a:xfrm>
            <a:off x="749808" y="3520440"/>
            <a:ext cx="310896" cy="310896"/>
          </a:xfrm>
          <a:prstGeom prst="ellipse">
            <a:avLst/>
          </a:prstGeom>
          <a:solidFill>
            <a:srgbClr val="B3202C"/>
          </a:solidFill>
          <a:ln w="12700">
            <a:solidFill>
              <a:srgbClr val="B3202C"/>
            </a:solidFill>
            <a:prstDash val="solid"/>
          </a:ln>
        </p:spPr>
      </p:sp>
      <p:sp>
        <p:nvSpPr>
          <p:cNvPr id="19" name="Text 17"/>
          <p:cNvSpPr/>
          <p:nvPr/>
        </p:nvSpPr>
        <p:spPr>
          <a:xfrm>
            <a:off x="749808" y="3520440"/>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0" name="Text 18"/>
          <p:cNvSpPr/>
          <p:nvPr/>
        </p:nvSpPr>
        <p:spPr>
          <a:xfrm>
            <a:off x="1170432" y="3346704"/>
            <a:ext cx="3017520" cy="310896"/>
          </a:xfrm>
          <a:prstGeom prst="rect">
            <a:avLst/>
          </a:prstGeom>
          <a:noFill/>
          <a:ln/>
        </p:spPr>
        <p:txBody>
          <a:bodyPr wrap="square" lIns="0" tIns="0" rIns="0" bIns="0" rtlCol="0" anchor="ctr"/>
          <a:lstStyle/>
          <a:p>
            <a:pPr indent="0" marL="0">
              <a:buNone/>
            </a:pPr>
            <a:r>
              <a:rPr lang="en-US" sz="1100" b="1" dirty="0">
                <a:solidFill>
                  <a:srgbClr val="22303D"/>
                </a:solidFill>
                <a:latin typeface="Calibri" pitchFamily="34" charset="0"/>
                <a:ea typeface="Calibri" pitchFamily="34" charset="-122"/>
                <a:cs typeface="Calibri" pitchFamily="34" charset="-120"/>
              </a:rPr>
              <a:t>各组近端信号强度匹配</a:t>
            </a:r>
            <a:endParaRPr lang="en-US" sz="1100" dirty="0"/>
          </a:p>
        </p:txBody>
      </p:sp>
      <p:sp>
        <p:nvSpPr>
          <p:cNvPr id="21" name="Text 19"/>
          <p:cNvSpPr/>
          <p:nvPr/>
        </p:nvSpPr>
        <p:spPr>
          <a:xfrm>
            <a:off x="1170432" y="3657600"/>
            <a:ext cx="3017520" cy="402336"/>
          </a:xfrm>
          <a:prstGeom prst="rect">
            <a:avLst/>
          </a:prstGeom>
          <a:noFill/>
          <a:ln/>
        </p:spPr>
        <p:txBody>
          <a:bodyPr wrap="square" lIns="0" tIns="0" rIns="0" bIns="0" rtlCol="0" anchor="t"/>
          <a:lstStyle/>
          <a:p>
            <a:pPr indent="0" marL="0">
              <a:lnSpc>
                <a:spcPct val="108000"/>
              </a:lnSpc>
              <a:buNone/>
            </a:pPr>
            <a:r>
              <a:rPr lang="en-US" sz="900" dirty="0">
                <a:solidFill>
                  <a:srgbClr val="6B7683"/>
                </a:solidFill>
                <a:latin typeface="Calibri" pitchFamily="34" charset="0"/>
                <a:ea typeface="Calibri" pitchFamily="34" charset="-122"/>
                <a:cs typeface="Calibri" pitchFamily="34" charset="-120"/>
              </a:rPr>
              <a:t>排除「受体表达低导致信号不足」</a:t>
            </a:r>
            <a:endParaRPr lang="en-US" sz="900" dirty="0"/>
          </a:p>
        </p:txBody>
      </p:sp>
      <p:sp>
        <p:nvSpPr>
          <p:cNvPr id="22" name="Text 20"/>
          <p:cNvSpPr/>
          <p:nvPr/>
        </p:nvSpPr>
        <p:spPr>
          <a:xfrm>
            <a:off x="4261104" y="3346704"/>
            <a:ext cx="1664208" cy="694944"/>
          </a:xfrm>
          <a:prstGeom prst="rect">
            <a:avLst/>
          </a:prstGeom>
          <a:noFill/>
          <a:ln/>
        </p:spPr>
        <p:txBody>
          <a:bodyPr wrap="square" lIns="0" tIns="0" rIns="0" bIns="0" rtlCol="0" anchor="ctr"/>
          <a:lstStyle/>
          <a:p>
            <a:pPr indent="0" marL="0">
              <a:lnSpc>
                <a:spcPct val="110000"/>
              </a:lnSpc>
              <a:buNone/>
            </a:pPr>
            <a:r>
              <a:rPr lang="en-US" sz="1050" b="1" dirty="0">
                <a:solidFill>
                  <a:srgbClr val="B3202C"/>
                </a:solidFill>
                <a:latin typeface="Cambria" pitchFamily="34" charset="0"/>
                <a:ea typeface="Cambria" pitchFamily="34" charset="-122"/>
                <a:cs typeface="Cambria" pitchFamily="34" charset="-120"/>
              </a:rPr>
              <a:t>剩余 B 类</a:t>
            </a:r>
            <a:endParaRPr lang="en-US" sz="1050" dirty="0"/>
          </a:p>
        </p:txBody>
      </p:sp>
      <p:sp>
        <p:nvSpPr>
          <p:cNvPr id="23" name="Shape 21"/>
          <p:cNvSpPr/>
          <p:nvPr/>
        </p:nvSpPr>
        <p:spPr>
          <a:xfrm>
            <a:off x="548640" y="4169664"/>
            <a:ext cx="5577840" cy="841248"/>
          </a:xfrm>
          <a:prstGeom prst="roundRect">
            <a:avLst>
              <a:gd name="adj" fmla="val 6522"/>
            </a:avLst>
          </a:prstGeom>
          <a:solidFill>
            <a:srgbClr val="FFFFFF"/>
          </a:solidFill>
          <a:ln w="16510">
            <a:solidFill>
              <a:srgbClr val="B3202C"/>
            </a:solidFill>
            <a:prstDash val="solid"/>
          </a:ln>
        </p:spPr>
      </p:sp>
      <p:sp>
        <p:nvSpPr>
          <p:cNvPr id="24" name="Shape 22"/>
          <p:cNvSpPr/>
          <p:nvPr/>
        </p:nvSpPr>
        <p:spPr>
          <a:xfrm>
            <a:off x="749808" y="4434840"/>
            <a:ext cx="310896" cy="310896"/>
          </a:xfrm>
          <a:prstGeom prst="ellipse">
            <a:avLst/>
          </a:prstGeom>
          <a:solidFill>
            <a:srgbClr val="B3202C"/>
          </a:solidFill>
          <a:ln w="12700">
            <a:solidFill>
              <a:srgbClr val="B3202C"/>
            </a:solidFill>
            <a:prstDash val="solid"/>
          </a:ln>
        </p:spPr>
      </p:sp>
      <p:sp>
        <p:nvSpPr>
          <p:cNvPr id="25" name="Text 23"/>
          <p:cNvSpPr/>
          <p:nvPr/>
        </p:nvSpPr>
        <p:spPr>
          <a:xfrm>
            <a:off x="749808" y="4434840"/>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p:nvPr/>
        </p:nvSpPr>
        <p:spPr>
          <a:xfrm>
            <a:off x="1170432" y="4261104"/>
            <a:ext cx="3017520" cy="310896"/>
          </a:xfrm>
          <a:prstGeom prst="rect">
            <a:avLst/>
          </a:prstGeom>
          <a:noFill/>
          <a:ln/>
        </p:spPr>
        <p:txBody>
          <a:bodyPr wrap="square" lIns="0" tIns="0" rIns="0" bIns="0" rtlCol="0" anchor="ctr"/>
          <a:lstStyle/>
          <a:p>
            <a:pPr indent="0" marL="0">
              <a:buNone/>
            </a:pPr>
            <a:r>
              <a:rPr lang="en-US" sz="1100" b="1" dirty="0">
                <a:solidFill>
                  <a:srgbClr val="22303D"/>
                </a:solidFill>
                <a:latin typeface="Calibri" pitchFamily="34" charset="0"/>
                <a:ea typeface="Calibri" pitchFamily="34" charset="-122"/>
                <a:cs typeface="Calibri" pitchFamily="34" charset="-120"/>
              </a:rPr>
              <a:t>撤除 TGF-β 与缺氧后洗脱培养</a:t>
            </a:r>
            <a:endParaRPr lang="en-US" sz="1100" dirty="0"/>
          </a:p>
        </p:txBody>
      </p:sp>
      <p:sp>
        <p:nvSpPr>
          <p:cNvPr id="27" name="Text 25"/>
          <p:cNvSpPr/>
          <p:nvPr/>
        </p:nvSpPr>
        <p:spPr>
          <a:xfrm>
            <a:off x="1170432" y="4572000"/>
            <a:ext cx="3017520" cy="402336"/>
          </a:xfrm>
          <a:prstGeom prst="rect">
            <a:avLst/>
          </a:prstGeom>
          <a:noFill/>
          <a:ln/>
        </p:spPr>
        <p:txBody>
          <a:bodyPr wrap="square" lIns="0" tIns="0" rIns="0" bIns="0" rtlCol="0" anchor="t"/>
          <a:lstStyle/>
          <a:p>
            <a:pPr indent="0" marL="0">
              <a:lnSpc>
                <a:spcPct val="108000"/>
              </a:lnSpc>
              <a:buNone/>
            </a:pPr>
            <a:r>
              <a:rPr lang="en-US" sz="900" dirty="0">
                <a:solidFill>
                  <a:srgbClr val="6B7683"/>
                </a:solidFill>
                <a:latin typeface="Calibri" pitchFamily="34" charset="0"/>
                <a:ea typeface="Calibri" pitchFamily="34" charset="-122"/>
                <a:cs typeface="Calibri" pitchFamily="34" charset="-120"/>
              </a:rPr>
              <a:t>缺陷持续存在即为细胞自身携带</a:t>
            </a:r>
            <a:endParaRPr lang="en-US" sz="900" dirty="0"/>
          </a:p>
        </p:txBody>
      </p:sp>
      <p:sp>
        <p:nvSpPr>
          <p:cNvPr id="28" name="Text 26"/>
          <p:cNvSpPr/>
          <p:nvPr/>
        </p:nvSpPr>
        <p:spPr>
          <a:xfrm>
            <a:off x="4261104" y="4261104"/>
            <a:ext cx="1664208" cy="694944"/>
          </a:xfrm>
          <a:prstGeom prst="rect">
            <a:avLst/>
          </a:prstGeom>
          <a:noFill/>
          <a:ln/>
        </p:spPr>
        <p:txBody>
          <a:bodyPr wrap="square" lIns="0" tIns="0" rIns="0" bIns="0" rtlCol="0" anchor="ctr"/>
          <a:lstStyle/>
          <a:p>
            <a:pPr indent="0" marL="0">
              <a:lnSpc>
                <a:spcPct val="110000"/>
              </a:lnSpc>
              <a:buNone/>
            </a:pPr>
            <a:r>
              <a:rPr lang="en-US" sz="1050" b="1" dirty="0">
                <a:solidFill>
                  <a:srgbClr val="B3202C"/>
                </a:solidFill>
                <a:latin typeface="Cambria" pitchFamily="34" charset="0"/>
                <a:ea typeface="Cambria" pitchFamily="34" charset="-122"/>
                <a:cs typeface="Cambria" pitchFamily="34" charset="-120"/>
              </a:rPr>
              <a:t>B 类成立</a:t>
            </a:r>
            <a:endParaRPr lang="en-US" sz="1050" dirty="0"/>
          </a:p>
        </p:txBody>
      </p:sp>
      <p:pic>
        <p:nvPicPr>
          <p:cNvPr id="29" name="Image 0" descr="fig/f2_plate_c.png">    </p:cNvPr>
          <p:cNvPicPr>
            <a:picLocks noChangeAspect="1"/>
          </p:cNvPicPr>
          <p:nvPr/>
        </p:nvPicPr>
        <p:blipFill>
          <a:blip r:embed="rId1"/>
          <a:stretch>
            <a:fillRect/>
          </a:stretch>
        </p:blipFill>
        <p:spPr>
          <a:xfrm>
            <a:off x="6446520" y="1371600"/>
            <a:ext cx="5193792" cy="3227832"/>
          </a:xfrm>
          <a:prstGeom prst="rect">
            <a:avLst/>
          </a:prstGeom>
        </p:spPr>
      </p:pic>
      <p:sp>
        <p:nvSpPr>
          <p:cNvPr id="30" name="Text 27"/>
          <p:cNvSpPr/>
          <p:nvPr/>
        </p:nvSpPr>
        <p:spPr>
          <a:xfrm>
            <a:off x="6446520" y="4663440"/>
            <a:ext cx="5193792" cy="237744"/>
          </a:xfrm>
          <a:prstGeom prst="rect">
            <a:avLst/>
          </a:prstGeom>
          <a:noFill/>
          <a:ln/>
        </p:spPr>
        <p:txBody>
          <a:bodyPr wrap="square" lIns="0" tIns="0" rIns="0" bIns="0" rtlCol="0" anchor="ctr"/>
          <a:lstStyle/>
          <a:p>
            <a:pPr algn="ctr" indent="0" marL="0">
              <a:buNone/>
            </a:pPr>
            <a:r>
              <a:rPr lang="en-US" sz="1050" b="1" dirty="0">
                <a:solidFill>
                  <a:srgbClr val="6B7683"/>
                </a:solidFill>
                <a:latin typeface="Calibri" pitchFamily="34" charset="0"/>
                <a:ea typeface="Calibri" pitchFamily="34" charset="-122"/>
                <a:cs typeface="Calibri" pitchFamily="34" charset="-120"/>
              </a:rPr>
              <a:t>第 2 层：不使用靶细胞即不存在任何抑制性配体</a:t>
            </a:r>
            <a:endParaRPr lang="en-US" sz="1050" dirty="0"/>
          </a:p>
        </p:txBody>
      </p:sp>
      <p:sp>
        <p:nvSpPr>
          <p:cNvPr id="31" name="Text 28"/>
          <p:cNvSpPr/>
          <p:nvPr/>
        </p:nvSpPr>
        <p:spPr>
          <a:xfrm>
            <a:off x="548640" y="5248656"/>
            <a:ext cx="11091672" cy="256032"/>
          </a:xfrm>
          <a:prstGeom prst="rect">
            <a:avLst/>
          </a:prstGeom>
          <a:noFill/>
          <a:ln/>
        </p:spPr>
        <p:txBody>
          <a:bodyPr wrap="square" lIns="0" tIns="0" rIns="0" bIns="0" rtlCol="0" anchor="ctr"/>
          <a:lstStyle/>
          <a:p>
            <a:pPr indent="0" marL="0">
              <a:lnSpc>
                <a:spcPct val="118000"/>
              </a:lnSpc>
              <a:buNone/>
            </a:pPr>
            <a:r>
              <a:rPr lang="en-US" sz="1150" b="1" dirty="0">
                <a:solidFill>
                  <a:srgbClr val="B3202C"/>
                </a:solidFill>
                <a:latin typeface="Calibri" pitchFamily="34" charset="0"/>
                <a:ea typeface="Calibri" pitchFamily="34" charset="-122"/>
                <a:cs typeface="Calibri" pitchFamily="34" charset="-120"/>
              </a:rPr>
              <a:t>单向判定：极化存在缺陷可判为 B 类；极化正常仅能说明「非 B 类」，不能区分 A 类与 C 类。</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64240" cy="219456"/>
          </a:xfrm>
          <a:prstGeom prst="rect">
            <a:avLst/>
          </a:prstGeom>
          <a:noFill/>
          <a:ln/>
        </p:spPr>
        <p:txBody>
          <a:bodyPr wrap="square" lIns="0" tIns="0" rIns="0" bIns="0" rtlCol="0" anchor="ctr"/>
          <a:lstStyle/>
          <a:p>
            <a:pPr indent="0" marL="0">
              <a:buNone/>
            </a:pPr>
            <a:r>
              <a:rPr lang="en-US" sz="1050" b="1" spc="100" kern="0" dirty="0">
                <a:solidFill>
                  <a:srgbClr val="B3202C"/>
                </a:solidFill>
                <a:latin typeface="Calibri" pitchFamily="34" charset="0"/>
                <a:ea typeface="Calibri" pitchFamily="34" charset="-122"/>
                <a:cs typeface="Calibri" pitchFamily="34" charset="-120"/>
              </a:rPr>
              <a:t>第一阶段</a:t>
            </a:r>
            <a:endParaRPr lang="en-US" sz="1050" dirty="0"/>
          </a:p>
        </p:txBody>
      </p:sp>
      <p:sp>
        <p:nvSpPr>
          <p:cNvPr id="3" name="Text 1"/>
          <p:cNvSpPr/>
          <p:nvPr/>
        </p:nvSpPr>
        <p:spPr>
          <a:xfrm>
            <a:off x="548640" y="475488"/>
            <a:ext cx="11064240" cy="512064"/>
          </a:xfrm>
          <a:prstGeom prst="rect">
            <a:avLst/>
          </a:prstGeom>
          <a:noFill/>
          <a:ln/>
        </p:spPr>
        <p:txBody>
          <a:bodyPr wrap="square" lIns="0" tIns="0" rIns="0" bIns="0" rtlCol="0" anchor="ctr"/>
          <a:lstStyle/>
          <a:p>
            <a:pPr indent="0" marL="0">
              <a:buNone/>
            </a:pPr>
            <a:r>
              <a:rPr lang="en-US" sz="2600" b="1" dirty="0">
                <a:solidFill>
                  <a:srgbClr val="22303D"/>
                </a:solidFill>
                <a:latin typeface="Cambria" pitchFamily="34" charset="0"/>
                <a:ea typeface="Cambria" pitchFamily="34" charset="-122"/>
                <a:cs typeface="Cambria" pitchFamily="34" charset="-120"/>
              </a:rPr>
              <a:t>在 NK-92 细胞株上建立成像检测方法</a:t>
            </a:r>
            <a:endParaRPr lang="en-US" sz="2600" dirty="0"/>
          </a:p>
        </p:txBody>
      </p:sp>
      <p:sp>
        <p:nvSpPr>
          <p:cNvPr id="4" name="Text 2"/>
          <p:cNvSpPr/>
          <p:nvPr/>
        </p:nvSpPr>
        <p:spPr>
          <a:xfrm>
            <a:off x="548640" y="1005840"/>
            <a:ext cx="11064240" cy="292608"/>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以已发表结果作为方法学验收标准，不另立标准</a:t>
            </a:r>
            <a:endParaRPr lang="en-US" sz="1200" dirty="0"/>
          </a:p>
        </p:txBody>
      </p:sp>
      <p:sp>
        <p:nvSpPr>
          <p:cNvPr id="5" name="Shape 3"/>
          <p:cNvSpPr/>
          <p:nvPr/>
        </p:nvSpPr>
        <p:spPr>
          <a:xfrm>
            <a:off x="548640" y="1463040"/>
            <a:ext cx="5394960" cy="1920240"/>
          </a:xfrm>
          <a:prstGeom prst="roundRect">
            <a:avLst>
              <a:gd name="adj" fmla="val 2857"/>
            </a:avLst>
          </a:prstGeom>
          <a:solidFill>
            <a:srgbClr val="F1F4F6"/>
          </a:solidFill>
          <a:ln w="12700">
            <a:solidFill>
              <a:srgbClr val="D8DEE4"/>
            </a:solidFill>
            <a:prstDash val="solid"/>
          </a:ln>
        </p:spPr>
      </p:sp>
      <p:sp>
        <p:nvSpPr>
          <p:cNvPr id="6" name="Text 4"/>
          <p:cNvSpPr/>
          <p:nvPr/>
        </p:nvSpPr>
        <p:spPr>
          <a:xfrm>
            <a:off x="786384" y="1581912"/>
            <a:ext cx="4919472" cy="219456"/>
          </a:xfrm>
          <a:prstGeom prst="rect">
            <a:avLst/>
          </a:prstGeom>
          <a:noFill/>
          <a:ln/>
        </p:spPr>
        <p:txBody>
          <a:bodyPr wrap="square" lIns="0" tIns="0" rIns="0" bIns="0" rtlCol="0" anchor="ctr"/>
          <a:lstStyle/>
          <a:p>
            <a:pPr indent="0" marL="0">
              <a:buNone/>
            </a:pPr>
            <a:r>
              <a:rPr lang="en-US" sz="1050" b="1" spc="60" kern="0" dirty="0">
                <a:solidFill>
                  <a:srgbClr val="6B7683"/>
                </a:solidFill>
                <a:latin typeface="Calibri" pitchFamily="34" charset="0"/>
                <a:ea typeface="Calibri" pitchFamily="34" charset="-122"/>
                <a:cs typeface="Calibri" pitchFamily="34" charset="-120"/>
              </a:rPr>
              <a:t>复现目标（Eitler 2021, J Immunother Cancer 9:e001334）</a:t>
            </a:r>
            <a:endParaRPr lang="en-US" sz="1050" dirty="0"/>
          </a:p>
        </p:txBody>
      </p:sp>
      <p:sp>
        <p:nvSpPr>
          <p:cNvPr id="7" name="Text 5"/>
          <p:cNvSpPr/>
          <p:nvPr/>
        </p:nvSpPr>
        <p:spPr>
          <a:xfrm>
            <a:off x="786384" y="1810512"/>
            <a:ext cx="4919472" cy="1481328"/>
          </a:xfrm>
          <a:prstGeom prst="rect">
            <a:avLst/>
          </a:prstGeom>
          <a:noFill/>
          <a:ln/>
        </p:spPr>
        <p:txBody>
          <a:bodyPr wrap="square" lIns="0" tIns="0" rIns="0" bIns="0" rtlCol="0" anchor="t"/>
          <a:lstStyle/>
          <a:p>
            <a:pPr indent="0" marL="0">
              <a:lnSpc>
                <a:spcPct val="122000"/>
              </a:lnSpc>
              <a:buNone/>
            </a:pPr>
            <a:r>
              <a:rPr lang="en-US" sz="1050" b="1" dirty="0">
                <a:solidFill>
                  <a:srgbClr val="1B6E6D"/>
                </a:solidFill>
                <a:latin typeface="Calibri" pitchFamily="34" charset="0"/>
                <a:ea typeface="Calibri" pitchFamily="34" charset="-122"/>
                <a:cs typeface="Calibri" pitchFamily="34" charset="-120"/>
              </a:rPr>
              <a:t>K562 敏感靶细胞　</a:t>
            </a:r>
            <a:pPr indent="0" marL="0">
              <a:lnSpc>
                <a:spcPct val="122000"/>
              </a:lnSpc>
              <a:buNone/>
            </a:pPr>
            <a:r>
              <a:rPr lang="en-US" sz="1050" dirty="0">
                <a:solidFill>
                  <a:srgbClr val="22303D"/>
                </a:solidFill>
                <a:latin typeface="Calibri" pitchFamily="34" charset="0"/>
                <a:ea typeface="Calibri" pitchFamily="34" charset="-122"/>
                <a:cs typeface="Calibri" pitchFamily="34" charset="-120"/>
              </a:rPr>
              <a:t>MTOC 极化正常
</a:t>
            </a:r>
            <a:pPr indent="0" marL="0">
              <a:lnSpc>
                <a:spcPct val="122000"/>
              </a:lnSpc>
              <a:buNone/>
            </a:pPr>
            <a:r>
              <a:rPr lang="en-US" sz="1050" b="1" dirty="0">
                <a:solidFill>
                  <a:srgbClr val="B3202C"/>
                </a:solidFill>
                <a:latin typeface="Calibri" pitchFamily="34" charset="0"/>
                <a:ea typeface="Calibri" pitchFamily="34" charset="-122"/>
                <a:cs typeface="Calibri" pitchFamily="34" charset="-120"/>
              </a:rPr>
              <a:t>MDA-MB-453 抗性靶细胞　</a:t>
            </a:r>
            <a:pPr indent="0" marL="0">
              <a:lnSpc>
                <a:spcPct val="122000"/>
              </a:lnSpc>
              <a:buNone/>
            </a:pPr>
            <a:r>
              <a:rPr lang="en-US" sz="1050" dirty="0">
                <a:solidFill>
                  <a:srgbClr val="22303D"/>
                </a:solidFill>
                <a:latin typeface="Calibri" pitchFamily="34" charset="0"/>
                <a:ea typeface="Calibri" pitchFamily="34" charset="-122"/>
                <a:cs typeface="Calibri" pitchFamily="34" charset="-120"/>
              </a:rPr>
              <a:t>颗粒汇聚正常，MTOC 不极化
</a:t>
            </a:r>
            <a:pPr indent="0" marL="0">
              <a:lnSpc>
                <a:spcPct val="122000"/>
              </a:lnSpc>
              <a:buNone/>
            </a:pPr>
            <a:r>
              <a:rPr lang="en-US" sz="1050" b="1" dirty="0">
                <a:solidFill>
                  <a:srgbClr val="1B6E6D"/>
                </a:solidFill>
                <a:latin typeface="Calibri" pitchFamily="34" charset="0"/>
                <a:ea typeface="Calibri" pitchFamily="34" charset="-122"/>
                <a:cs typeface="Calibri" pitchFamily="34" charset="-120"/>
              </a:rPr>
              <a:t>补充活化信号（嵌合抗原受体或曲妥珠单抗）　</a:t>
            </a:r>
            <a:pPr indent="0" marL="0">
              <a:lnSpc>
                <a:spcPct val="122000"/>
              </a:lnSpc>
              <a:buNone/>
            </a:pPr>
            <a:r>
              <a:rPr lang="en-US" sz="1050" dirty="0">
                <a:solidFill>
                  <a:srgbClr val="22303D"/>
                </a:solidFill>
                <a:latin typeface="Calibri" pitchFamily="34" charset="0"/>
                <a:ea typeface="Calibri" pitchFamily="34" charset="-122"/>
                <a:cs typeface="Calibri" pitchFamily="34" charset="-120"/>
              </a:rPr>
              <a:t>极化与杀伤同步恢复
</a:t>
            </a:r>
            <a:pPr indent="0" marL="0">
              <a:lnSpc>
                <a:spcPct val="122000"/>
              </a:lnSpc>
              <a:buNone/>
            </a:pPr>
            <a:r>
              <a:rPr lang="en-US" sz="1050" dirty="0">
                <a:solidFill>
                  <a:srgbClr val="6B7683"/>
                </a:solidFill>
                <a:latin typeface="Calibri" pitchFamily="34" charset="0"/>
                <a:ea typeface="Calibri" pitchFamily="34" charset="-122"/>
                <a:cs typeface="Calibri" pitchFamily="34" charset="-120"/>
              </a:rPr>
              <a:t>主要指标为 MTOC 至免疫突触中心的距离；MTOC 以 γ-微管蛋白或中心粒周蛋白直接标记。</a:t>
            </a:r>
            <a:endParaRPr lang="en-US" sz="1050" dirty="0"/>
          </a:p>
        </p:txBody>
      </p:sp>
      <p:sp>
        <p:nvSpPr>
          <p:cNvPr id="8" name="Shape 6"/>
          <p:cNvSpPr/>
          <p:nvPr/>
        </p:nvSpPr>
        <p:spPr>
          <a:xfrm>
            <a:off x="548640" y="3529584"/>
            <a:ext cx="5394960" cy="1700784"/>
          </a:xfrm>
          <a:prstGeom prst="roundRect">
            <a:avLst>
              <a:gd name="adj" fmla="val 3226"/>
            </a:avLst>
          </a:prstGeom>
          <a:solidFill>
            <a:srgbClr val="FFFFFF"/>
          </a:solidFill>
          <a:ln w="17780">
            <a:solidFill>
              <a:srgbClr val="B3202C"/>
            </a:solidFill>
            <a:prstDash val="solid"/>
          </a:ln>
        </p:spPr>
      </p:sp>
      <p:sp>
        <p:nvSpPr>
          <p:cNvPr id="9" name="Text 7"/>
          <p:cNvSpPr/>
          <p:nvPr/>
        </p:nvSpPr>
        <p:spPr>
          <a:xfrm>
            <a:off x="786384" y="3648456"/>
            <a:ext cx="4919472" cy="219456"/>
          </a:xfrm>
          <a:prstGeom prst="rect">
            <a:avLst/>
          </a:prstGeom>
          <a:noFill/>
          <a:ln/>
        </p:spPr>
        <p:txBody>
          <a:bodyPr wrap="square" lIns="0" tIns="0" rIns="0" bIns="0" rtlCol="0" anchor="ctr"/>
          <a:lstStyle/>
          <a:p>
            <a:pPr indent="0" marL="0">
              <a:buNone/>
            </a:pPr>
            <a:r>
              <a:rPr lang="en-US" sz="1050" b="1" spc="60" kern="0" dirty="0">
                <a:solidFill>
                  <a:srgbClr val="B3202C"/>
                </a:solidFill>
                <a:latin typeface="Calibri" pitchFamily="34" charset="0"/>
                <a:ea typeface="Calibri" pitchFamily="34" charset="-122"/>
                <a:cs typeface="Calibri" pitchFamily="34" charset="-120"/>
              </a:rPr>
              <a:t>方法学验收标准（两项均需满足）</a:t>
            </a:r>
            <a:endParaRPr lang="en-US" sz="1050" dirty="0"/>
          </a:p>
        </p:txBody>
      </p:sp>
      <p:sp>
        <p:nvSpPr>
          <p:cNvPr id="10" name="Text 8"/>
          <p:cNvSpPr/>
          <p:nvPr/>
        </p:nvSpPr>
        <p:spPr>
          <a:xfrm>
            <a:off x="786384" y="3858768"/>
            <a:ext cx="4919472" cy="1298448"/>
          </a:xfrm>
          <a:prstGeom prst="rect">
            <a:avLst/>
          </a:prstGeom>
          <a:noFill/>
          <a:ln/>
        </p:spPr>
        <p:txBody>
          <a:bodyPr wrap="square" lIns="0" tIns="0" rIns="0" bIns="0" rtlCol="0" anchor="t"/>
          <a:lstStyle/>
          <a:p>
            <a:pPr indent="0" marL="0">
              <a:lnSpc>
                <a:spcPct val="120000"/>
              </a:lnSpc>
              <a:buNone/>
            </a:pPr>
            <a:r>
              <a:rPr lang="en-US" sz="1050" b="1" dirty="0">
                <a:solidFill>
                  <a:srgbClr val="B3202C"/>
                </a:solidFill>
                <a:latin typeface="Calibri" pitchFamily="34" charset="0"/>
                <a:ea typeface="Calibri" pitchFamily="34" charset="-122"/>
                <a:cs typeface="Calibri" pitchFamily="34" charset="-120"/>
              </a:rPr>
              <a:t>① 方向性差异　</a:t>
            </a:r>
            <a:pPr indent="0" marL="0">
              <a:lnSpc>
                <a:spcPct val="120000"/>
              </a:lnSpc>
              <a:buNone/>
            </a:pPr>
            <a:r>
              <a:rPr lang="en-US" sz="1050" dirty="0">
                <a:solidFill>
                  <a:srgbClr val="22303D"/>
                </a:solidFill>
                <a:latin typeface="Calibri" pitchFamily="34" charset="0"/>
                <a:ea typeface="Calibri" pitchFamily="34" charset="-122"/>
                <a:cs typeface="Calibri" pitchFamily="34" charset="-120"/>
              </a:rPr>
              <a:t>K562 与 MDA-MB-453 之间的差异必须复现。
</a:t>
            </a:r>
            <a:pPr indent="0" marL="0">
              <a:lnSpc>
                <a:spcPct val="120000"/>
              </a:lnSpc>
              <a:buNone/>
            </a:pPr>
            <a:r>
              <a:rPr lang="en-US" sz="1050" b="1" dirty="0">
                <a:solidFill>
                  <a:srgbClr val="B3202C"/>
                </a:solidFill>
                <a:latin typeface="Calibri" pitchFamily="34" charset="0"/>
                <a:ea typeface="Calibri" pitchFamily="34" charset="-122"/>
                <a:cs typeface="Calibri" pitchFamily="34" charset="-120"/>
              </a:rPr>
              <a:t>② 绝对数值　</a:t>
            </a:r>
            <a:pPr indent="0" marL="0">
              <a:lnSpc>
                <a:spcPct val="120000"/>
              </a:lnSpc>
              <a:buNone/>
            </a:pPr>
            <a:r>
              <a:rPr lang="en-US" sz="1050" dirty="0">
                <a:solidFill>
                  <a:srgbClr val="22303D"/>
                </a:solidFill>
                <a:latin typeface="Calibri" pitchFamily="34" charset="0"/>
                <a:ea typeface="Calibri" pitchFamily="34" charset="-122"/>
                <a:cs typeface="Calibri" pitchFamily="34" charset="-120"/>
              </a:rPr>
              <a:t>K562 条件下的 MTOC–免疫突触距离须落于 Eitler 报告的数值范围内。
</a:t>
            </a:r>
            <a:pPr indent="0" marL="0">
              <a:lnSpc>
                <a:spcPct val="120000"/>
              </a:lnSpc>
              <a:buNone/>
            </a:pPr>
            <a:r>
              <a:rPr lang="en-US" sz="1050" dirty="0">
                <a:solidFill>
                  <a:srgbClr val="6B7683"/>
                </a:solidFill>
                <a:latin typeface="Calibri" pitchFamily="34" charset="0"/>
                <a:ea typeface="Calibri" pitchFamily="34" charset="-122"/>
                <a:cs typeface="Calibri" pitchFamily="34" charset="-120"/>
              </a:rPr>
              <a:t>第二阶段判定批次可靠性所依据的即为此处的绝对数值。</a:t>
            </a:r>
            <a:endParaRPr lang="en-US" sz="1050" dirty="0"/>
          </a:p>
        </p:txBody>
      </p:sp>
      <p:pic>
        <p:nvPicPr>
          <p:cNvPr id="11" name="Image 0" descr="fig/f3_synapse_c.png">    </p:cNvPr>
          <p:cNvPicPr>
            <a:picLocks noChangeAspect="1"/>
          </p:cNvPicPr>
          <p:nvPr/>
        </p:nvPicPr>
        <p:blipFill>
          <a:blip r:embed="rId1"/>
          <a:stretch>
            <a:fillRect/>
          </a:stretch>
        </p:blipFill>
        <p:spPr>
          <a:xfrm>
            <a:off x="6053328" y="1572768"/>
            <a:ext cx="5586984" cy="2359152"/>
          </a:xfrm>
          <a:prstGeom prst="rect">
            <a:avLst/>
          </a:prstGeom>
        </p:spPr>
      </p:pic>
      <p:sp>
        <p:nvSpPr>
          <p:cNvPr id="12" name="Text 9"/>
          <p:cNvSpPr/>
          <p:nvPr/>
        </p:nvSpPr>
        <p:spPr>
          <a:xfrm>
            <a:off x="6053328" y="4059936"/>
            <a:ext cx="5586984" cy="402336"/>
          </a:xfrm>
          <a:prstGeom prst="rect">
            <a:avLst/>
          </a:prstGeom>
          <a:noFill/>
          <a:ln/>
        </p:spPr>
        <p:txBody>
          <a:bodyPr wrap="square" lIns="0" tIns="0" rIns="0" bIns="0" rtlCol="0" anchor="t"/>
          <a:lstStyle/>
          <a:p>
            <a:pPr indent="0" marL="0">
              <a:lnSpc>
                <a:spcPct val="114000"/>
              </a:lnSpc>
              <a:buNone/>
            </a:pPr>
            <a:r>
              <a:rPr lang="en-US" sz="1000" dirty="0">
                <a:solidFill>
                  <a:srgbClr val="6B7683"/>
                </a:solidFill>
                <a:latin typeface="Calibri" pitchFamily="34" charset="0"/>
                <a:ea typeface="Calibri" pitchFamily="34" charset="-122"/>
                <a:cs typeface="Calibri" pitchFamily="34" charset="-120"/>
              </a:rPr>
              <a:t>主要指标 d₁ 在两侧明显不同，对照指标 d₂ 相同 —— 即第 4 步颗粒汇聚正常而第 5 步失败。</a:t>
            </a:r>
            <a:endParaRPr lang="en-US" sz="1000" dirty="0"/>
          </a:p>
        </p:txBody>
      </p:sp>
      <p:sp>
        <p:nvSpPr>
          <p:cNvPr id="13" name="Text 10"/>
          <p:cNvSpPr/>
          <p:nvPr/>
        </p:nvSpPr>
        <p:spPr>
          <a:xfrm>
            <a:off x="548640" y="5577840"/>
            <a:ext cx="11091672" cy="256032"/>
          </a:xfrm>
          <a:prstGeom prst="rect">
            <a:avLst/>
          </a:prstGeom>
          <a:noFill/>
          <a:ln/>
        </p:spPr>
        <p:txBody>
          <a:bodyPr wrap="square" lIns="0" tIns="0" rIns="0" bIns="0" rtlCol="0" anchor="ctr"/>
          <a:lstStyle/>
          <a:p>
            <a:pPr indent="0" marL="0">
              <a:lnSpc>
                <a:spcPct val="118000"/>
              </a:lnSpc>
              <a:buNone/>
            </a:pPr>
            <a:r>
              <a:rPr lang="en-US" sz="1100" b="1" dirty="0">
                <a:solidFill>
                  <a:srgbClr val="22303D"/>
                </a:solidFill>
                <a:latin typeface="Calibri" pitchFamily="34" charset="0"/>
                <a:ea typeface="Calibri" pitchFamily="34" charset="-122"/>
                <a:cs typeface="Calibri" pitchFamily="34" charset="-120"/>
              </a:rPr>
              <a:t>NK-92 细胞株仅用于本阶段，自第二阶段起全部改用健康供者外周血原代 NK 细胞。成像指标定义、归一化方法与操作参数列于标准操作规程。</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64240" cy="219456"/>
          </a:xfrm>
          <a:prstGeom prst="rect">
            <a:avLst/>
          </a:prstGeom>
          <a:noFill/>
          <a:ln/>
        </p:spPr>
        <p:txBody>
          <a:bodyPr wrap="square" lIns="0" tIns="0" rIns="0" bIns="0" rtlCol="0" anchor="ctr"/>
          <a:lstStyle/>
          <a:p>
            <a:pPr indent="0" marL="0">
              <a:buNone/>
            </a:pPr>
            <a:r>
              <a:rPr lang="en-US" sz="1050" b="1" spc="100" kern="0" dirty="0">
                <a:solidFill>
                  <a:srgbClr val="B3202C"/>
                </a:solidFill>
                <a:latin typeface="Calibri" pitchFamily="34" charset="0"/>
                <a:ea typeface="Calibri" pitchFamily="34" charset="-122"/>
                <a:cs typeface="Calibri" pitchFamily="34" charset="-120"/>
              </a:rPr>
              <a:t>第二阶段 · 实验设计</a:t>
            </a:r>
            <a:endParaRPr lang="en-US" sz="1050" dirty="0"/>
          </a:p>
        </p:txBody>
      </p:sp>
      <p:sp>
        <p:nvSpPr>
          <p:cNvPr id="3" name="Text 1"/>
          <p:cNvSpPr/>
          <p:nvPr/>
        </p:nvSpPr>
        <p:spPr>
          <a:xfrm>
            <a:off x="548640" y="475488"/>
            <a:ext cx="11064240" cy="512064"/>
          </a:xfrm>
          <a:prstGeom prst="rect">
            <a:avLst/>
          </a:prstGeom>
          <a:noFill/>
          <a:ln/>
        </p:spPr>
        <p:txBody>
          <a:bodyPr wrap="square" lIns="0" tIns="0" rIns="0" bIns="0" rtlCol="0" anchor="ctr"/>
          <a:lstStyle/>
          <a:p>
            <a:pPr indent="0" marL="0">
              <a:buNone/>
            </a:pPr>
            <a:r>
              <a:rPr lang="en-US" sz="2600" b="1" dirty="0">
                <a:solidFill>
                  <a:srgbClr val="22303D"/>
                </a:solidFill>
                <a:latin typeface="Cambria" pitchFamily="34" charset="0"/>
                <a:ea typeface="Cambria" pitchFamily="34" charset="-122"/>
                <a:cs typeface="Cambria" pitchFamily="34" charset="-120"/>
              </a:rPr>
              <a:t>TGF-β 联合缺氧能否诱导出持久性制动</a:t>
            </a:r>
            <a:endParaRPr lang="en-US" sz="2600" dirty="0"/>
          </a:p>
        </p:txBody>
      </p:sp>
      <p:sp>
        <p:nvSpPr>
          <p:cNvPr id="4" name="Text 2"/>
          <p:cNvSpPr/>
          <p:nvPr/>
        </p:nvSpPr>
        <p:spPr>
          <a:xfrm>
            <a:off x="548640" y="1005840"/>
            <a:ext cx="11064240" cy="292608"/>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先在体外诱导出该表型，再于肿瘤中检测。所需材料为健康供者外周血，不依赖临床标本</a:t>
            </a:r>
            <a:endParaRPr lang="en-US" sz="1200" dirty="0"/>
          </a:p>
        </p:txBody>
      </p:sp>
      <p:pic>
        <p:nvPicPr>
          <p:cNvPr id="5" name="Image 0" descr="fig/f1_flow_c.png">    </p:cNvPr>
          <p:cNvPicPr>
            <a:picLocks noChangeAspect="1"/>
          </p:cNvPicPr>
          <p:nvPr/>
        </p:nvPicPr>
        <p:blipFill>
          <a:blip r:embed="rId1"/>
          <a:stretch>
            <a:fillRect/>
          </a:stretch>
        </p:blipFill>
        <p:spPr>
          <a:xfrm>
            <a:off x="548640" y="1335024"/>
            <a:ext cx="6272784" cy="4160520"/>
          </a:xfrm>
          <a:prstGeom prst="rect">
            <a:avLst/>
          </a:prstGeom>
        </p:spPr>
      </p:pic>
      <p:sp>
        <p:nvSpPr>
          <p:cNvPr id="6" name="Shape 3"/>
          <p:cNvSpPr/>
          <p:nvPr/>
        </p:nvSpPr>
        <p:spPr>
          <a:xfrm>
            <a:off x="7059168" y="1335024"/>
            <a:ext cx="4581144" cy="2615184"/>
          </a:xfrm>
          <a:prstGeom prst="roundRect">
            <a:avLst>
              <a:gd name="adj" fmla="val 2098"/>
            </a:avLst>
          </a:prstGeom>
          <a:solidFill>
            <a:srgbClr val="F1F4F6"/>
          </a:solidFill>
          <a:ln w="12700">
            <a:solidFill>
              <a:srgbClr val="D8DEE4"/>
            </a:solidFill>
            <a:prstDash val="solid"/>
          </a:ln>
        </p:spPr>
      </p:sp>
      <p:sp>
        <p:nvSpPr>
          <p:cNvPr id="7" name="Text 4"/>
          <p:cNvSpPr/>
          <p:nvPr/>
        </p:nvSpPr>
        <p:spPr>
          <a:xfrm>
            <a:off x="7296912" y="1453896"/>
            <a:ext cx="4105656" cy="219456"/>
          </a:xfrm>
          <a:prstGeom prst="rect">
            <a:avLst/>
          </a:prstGeom>
          <a:noFill/>
          <a:ln/>
        </p:spPr>
        <p:txBody>
          <a:bodyPr wrap="square" lIns="0" tIns="0" rIns="0" bIns="0" rtlCol="0" anchor="ctr"/>
          <a:lstStyle/>
          <a:p>
            <a:pPr indent="0" marL="0">
              <a:buNone/>
            </a:pPr>
            <a:r>
              <a:rPr lang="en-US" sz="1050" b="1" spc="60" kern="0" dirty="0">
                <a:solidFill>
                  <a:srgbClr val="6B7683"/>
                </a:solidFill>
                <a:latin typeface="Calibri" pitchFamily="34" charset="0"/>
                <a:ea typeface="Calibri" pitchFamily="34" charset="-122"/>
                <a:cs typeface="Calibri" pitchFamily="34" charset="-120"/>
              </a:rPr>
              <a:t>刺激方式与配套检测</a:t>
            </a:r>
            <a:endParaRPr lang="en-US" sz="1050" dirty="0"/>
          </a:p>
        </p:txBody>
      </p:sp>
      <p:sp>
        <p:nvSpPr>
          <p:cNvPr id="8" name="Text 5"/>
          <p:cNvSpPr/>
          <p:nvPr/>
        </p:nvSpPr>
        <p:spPr>
          <a:xfrm>
            <a:off x="7296912" y="1664208"/>
            <a:ext cx="4105656" cy="2212848"/>
          </a:xfrm>
          <a:prstGeom prst="rect">
            <a:avLst/>
          </a:prstGeom>
          <a:noFill/>
          <a:ln/>
        </p:spPr>
        <p:txBody>
          <a:bodyPr wrap="square" lIns="0" tIns="0" rIns="0" bIns="0" rtlCol="0" anchor="t"/>
          <a:lstStyle/>
          <a:p>
            <a:pPr indent="0" marL="0">
              <a:lnSpc>
                <a:spcPct val="118000"/>
              </a:lnSpc>
              <a:buNone/>
            </a:pPr>
            <a:r>
              <a:rPr lang="en-US" sz="950" b="1" dirty="0">
                <a:solidFill>
                  <a:srgbClr val="6B7683"/>
                </a:solidFill>
                <a:latin typeface="Calibri" pitchFamily="34" charset="0"/>
                <a:ea typeface="Calibri" pitchFamily="34" charset="-122"/>
                <a:cs typeface="Calibri" pitchFamily="34" charset="-120"/>
              </a:rPr>
              <a:t>刺激　</a:t>
            </a:r>
            <a:pPr indent="0" marL="0">
              <a:lnSpc>
                <a:spcPct val="118000"/>
              </a:lnSpc>
              <a:buNone/>
            </a:pPr>
            <a:r>
              <a:rPr lang="en-US" sz="950" dirty="0">
                <a:solidFill>
                  <a:srgbClr val="22303D"/>
                </a:solidFill>
                <a:latin typeface="Calibri" pitchFamily="34" charset="0"/>
                <a:ea typeface="Calibri" pitchFamily="34" charset="-122"/>
                <a:cs typeface="Calibri" pitchFamily="34" charset="-120"/>
              </a:rPr>
              <a:t>固相包被 ICAM-1 + 抗 NKp30 + 抗 NKG2D 抗体。不使用靶细胞，故无任何抑制性配体，同时保留整合素信号输入。
</a:t>
            </a:r>
            <a:pPr indent="0" marL="0">
              <a:lnSpc>
                <a:spcPct val="118000"/>
              </a:lnSpc>
              <a:buNone/>
            </a:pPr>
            <a:r>
              <a:rPr lang="en-US" sz="950" b="1" dirty="0">
                <a:solidFill>
                  <a:srgbClr val="6B7683"/>
                </a:solidFill>
                <a:latin typeface="Calibri" pitchFamily="34" charset="0"/>
                <a:ea typeface="Calibri" pitchFamily="34" charset="-122"/>
                <a:cs typeface="Calibri" pitchFamily="34" charset="-120"/>
              </a:rPr>
              <a:t>成像　</a:t>
            </a:r>
            <a:pPr indent="0" marL="0">
              <a:lnSpc>
                <a:spcPct val="118000"/>
              </a:lnSpc>
              <a:buNone/>
            </a:pPr>
            <a:r>
              <a:rPr lang="en-US" sz="950" dirty="0">
                <a:solidFill>
                  <a:srgbClr val="22303D"/>
                </a:solidFill>
                <a:latin typeface="Calibri" pitchFamily="34" charset="0"/>
                <a:ea typeface="Calibri" pitchFamily="34" charset="-122"/>
                <a:cs typeface="Calibri" pitchFamily="34" charset="-120"/>
              </a:rPr>
              <a:t>同第一阶段的三项指标。
</a:t>
            </a:r>
            <a:pPr indent="0" marL="0">
              <a:lnSpc>
                <a:spcPct val="118000"/>
              </a:lnSpc>
              <a:buNone/>
            </a:pPr>
            <a:r>
              <a:rPr lang="en-US" sz="950" b="1" dirty="0">
                <a:solidFill>
                  <a:srgbClr val="B3202C"/>
                </a:solidFill>
                <a:latin typeface="Calibri" pitchFamily="34" charset="0"/>
                <a:ea typeface="Calibri" pitchFamily="34" charset="-122"/>
                <a:cs typeface="Calibri" pitchFamily="34" charset="-120"/>
              </a:rPr>
              <a:t>配套检测　</a:t>
            </a:r>
            <a:pPr indent="0" marL="0">
              <a:lnSpc>
                <a:spcPct val="118000"/>
              </a:lnSpc>
              <a:buNone/>
            </a:pPr>
            <a:r>
              <a:rPr lang="en-US" sz="950" dirty="0">
                <a:solidFill>
                  <a:srgbClr val="22303D"/>
                </a:solidFill>
                <a:latin typeface="Calibri" pitchFamily="34" charset="0"/>
                <a:ea typeface="Calibri" pitchFamily="34" charset="-122"/>
                <a:cs typeface="Calibri" pitchFamily="34" charset="-120"/>
              </a:rPr>
              <a:t>各组测定 NKp30 / NKG2D 表面表达，以及刺激后的 pERK / pPLCγ / p-S6 / p-Akt —— 确认活化信号传入，并同步评估 mTOR 通路（先验概率最高的候选机制）。
</a:t>
            </a:r>
            <a:pPr indent="0" marL="0">
              <a:lnSpc>
                <a:spcPct val="118000"/>
              </a:lnSpc>
              <a:buNone/>
            </a:pPr>
            <a:r>
              <a:rPr lang="en-US" sz="950" b="1" dirty="0">
                <a:solidFill>
                  <a:srgbClr val="6B7683"/>
                </a:solidFill>
                <a:latin typeface="Calibri" pitchFamily="34" charset="0"/>
                <a:ea typeface="Calibri" pitchFamily="34" charset="-122"/>
                <a:cs typeface="Calibri" pitchFamily="34" charset="-120"/>
              </a:rPr>
              <a:t>归一化　</a:t>
            </a:r>
            <a:pPr indent="0" marL="0">
              <a:lnSpc>
                <a:spcPct val="118000"/>
              </a:lnSpc>
              <a:buNone/>
            </a:pPr>
            <a:r>
              <a:rPr lang="en-US" sz="950" dirty="0">
                <a:solidFill>
                  <a:srgbClr val="22303D"/>
                </a:solidFill>
                <a:latin typeface="Calibri" pitchFamily="34" charset="0"/>
                <a:ea typeface="Calibri" pitchFamily="34" charset="-122"/>
                <a:cs typeface="Calibri" pitchFamily="34" charset="-120"/>
              </a:rPr>
              <a:t>按颗粒数与胞体半径校正，方法预先设定。</a:t>
            </a:r>
            <a:endParaRPr lang="en-US" sz="950" dirty="0"/>
          </a:p>
        </p:txBody>
      </p:sp>
      <p:sp>
        <p:nvSpPr>
          <p:cNvPr id="9" name="Text 6"/>
          <p:cNvSpPr/>
          <p:nvPr/>
        </p:nvSpPr>
        <p:spPr>
          <a:xfrm>
            <a:off x="548640" y="5614416"/>
            <a:ext cx="11091672" cy="219456"/>
          </a:xfrm>
          <a:prstGeom prst="rect">
            <a:avLst/>
          </a:prstGeom>
          <a:noFill/>
          <a:ln/>
        </p:spPr>
        <p:txBody>
          <a:bodyPr wrap="square" lIns="0" tIns="0" rIns="0" bIns="0" rtlCol="0" anchor="ctr"/>
          <a:lstStyle/>
          <a:p>
            <a:pPr indent="0" marL="0">
              <a:buNone/>
            </a:pPr>
            <a:r>
              <a:rPr lang="en-US" sz="1050" b="1" spc="50" kern="0" dirty="0">
                <a:solidFill>
                  <a:srgbClr val="6B7683"/>
                </a:solidFill>
                <a:latin typeface="Calibri" pitchFamily="34" charset="0"/>
                <a:ea typeface="Calibri" pitchFamily="34" charset="-122"/>
                <a:cs typeface="Calibri" pitchFamily="34" charset="-120"/>
              </a:rPr>
              <a:t>分组依据 —— 每一组排除一种替代解释；第 1 至 3 组取自同一供者，以控制供者间差异</a:t>
            </a:r>
            <a:endParaRPr lang="en-US" sz="1050" dirty="0"/>
          </a:p>
        </p:txBody>
      </p:sp>
      <p:sp>
        <p:nvSpPr>
          <p:cNvPr id="10" name="Shape 7"/>
          <p:cNvSpPr/>
          <p:nvPr/>
        </p:nvSpPr>
        <p:spPr>
          <a:xfrm>
            <a:off x="548640" y="5888736"/>
            <a:ext cx="2651760" cy="786384"/>
          </a:xfrm>
          <a:prstGeom prst="roundRect">
            <a:avLst>
              <a:gd name="adj" fmla="val 6977"/>
            </a:avLst>
          </a:prstGeom>
          <a:solidFill>
            <a:srgbClr val="FFFFFF"/>
          </a:solidFill>
          <a:ln w="16510">
            <a:solidFill>
              <a:srgbClr val="8A5A12"/>
            </a:solidFill>
            <a:prstDash val="solid"/>
          </a:ln>
        </p:spPr>
      </p:sp>
      <p:sp>
        <p:nvSpPr>
          <p:cNvPr id="11" name="Text 8"/>
          <p:cNvSpPr/>
          <p:nvPr/>
        </p:nvSpPr>
        <p:spPr>
          <a:xfrm>
            <a:off x="731520" y="5980176"/>
            <a:ext cx="2286000" cy="219456"/>
          </a:xfrm>
          <a:prstGeom prst="rect">
            <a:avLst/>
          </a:prstGeom>
          <a:noFill/>
          <a:ln/>
        </p:spPr>
        <p:txBody>
          <a:bodyPr wrap="square" lIns="0" tIns="0" rIns="0" bIns="0" rtlCol="0" anchor="ctr"/>
          <a:lstStyle/>
          <a:p>
            <a:pPr indent="0" marL="0">
              <a:lnSpc>
                <a:spcPct val="118000"/>
              </a:lnSpc>
              <a:buNone/>
            </a:pPr>
            <a:r>
              <a:rPr lang="en-US" sz="1000" b="1" dirty="0">
                <a:solidFill>
                  <a:srgbClr val="8A5A12"/>
                </a:solidFill>
                <a:latin typeface="Calibri" pitchFamily="34" charset="0"/>
                <a:ea typeface="Calibri" pitchFamily="34" charset="-122"/>
                <a:cs typeface="Calibri" pitchFamily="34" charset="-120"/>
              </a:rPr>
              <a:t>第 1 组　</a:t>
            </a:r>
            <a:pPr indent="0" marL="0">
              <a:lnSpc>
                <a:spcPct val="118000"/>
              </a:lnSpc>
              <a:buNone/>
            </a:pPr>
            <a:r>
              <a:rPr lang="en-US" sz="1000" b="1" dirty="0">
                <a:solidFill>
                  <a:srgbClr val="22303D"/>
                </a:solidFill>
                <a:latin typeface="Calibri" pitchFamily="34" charset="0"/>
                <a:ea typeface="Calibri" pitchFamily="34" charset="-122"/>
                <a:cs typeface="Calibri" pitchFamily="34" charset="-120"/>
              </a:rPr>
              <a:t>CD56 强阳性</a:t>
            </a:r>
            <a:endParaRPr lang="en-US" sz="1000" dirty="0"/>
          </a:p>
        </p:txBody>
      </p:sp>
      <p:sp>
        <p:nvSpPr>
          <p:cNvPr id="12" name="Text 9"/>
          <p:cNvSpPr/>
          <p:nvPr/>
        </p:nvSpPr>
        <p:spPr>
          <a:xfrm>
            <a:off x="731520" y="6217920"/>
            <a:ext cx="2286000" cy="402336"/>
          </a:xfrm>
          <a:prstGeom prst="rect">
            <a:avLst/>
          </a:prstGeom>
          <a:noFill/>
          <a:ln/>
        </p:spPr>
        <p:txBody>
          <a:bodyPr wrap="square" lIns="0" tIns="0" rIns="0" bIns="0" rtlCol="0" anchor="t"/>
          <a:lstStyle/>
          <a:p>
            <a:pPr indent="0" marL="0">
              <a:lnSpc>
                <a:spcPct val="110000"/>
              </a:lnSpc>
              <a:buNone/>
            </a:pPr>
            <a:r>
              <a:rPr lang="en-US" sz="900" dirty="0">
                <a:solidFill>
                  <a:srgbClr val="22303D"/>
                </a:solidFill>
                <a:latin typeface="Calibri" pitchFamily="34" charset="0"/>
                <a:ea typeface="Calibri" pitchFamily="34" charset="-122"/>
                <a:cs typeface="Calibri" pitchFamily="34" charset="-120"/>
              </a:rPr>
              <a:t>排除「所观察到的差异仅为 CD56 强阳性亚群的固有属性」</a:t>
            </a:r>
            <a:endParaRPr lang="en-US" sz="900" dirty="0"/>
          </a:p>
        </p:txBody>
      </p:sp>
      <p:sp>
        <p:nvSpPr>
          <p:cNvPr id="13" name="Shape 10"/>
          <p:cNvSpPr/>
          <p:nvPr/>
        </p:nvSpPr>
        <p:spPr>
          <a:xfrm>
            <a:off x="3364992" y="5888736"/>
            <a:ext cx="2651760" cy="786384"/>
          </a:xfrm>
          <a:prstGeom prst="roundRect">
            <a:avLst>
              <a:gd name="adj" fmla="val 6977"/>
            </a:avLst>
          </a:prstGeom>
          <a:solidFill>
            <a:srgbClr val="FFFFFF"/>
          </a:solidFill>
          <a:ln w="16510">
            <a:solidFill>
              <a:srgbClr val="1B6E6D"/>
            </a:solidFill>
            <a:prstDash val="solid"/>
          </a:ln>
        </p:spPr>
      </p:sp>
      <p:sp>
        <p:nvSpPr>
          <p:cNvPr id="14" name="Text 11"/>
          <p:cNvSpPr/>
          <p:nvPr/>
        </p:nvSpPr>
        <p:spPr>
          <a:xfrm>
            <a:off x="3547872" y="5980176"/>
            <a:ext cx="2286000" cy="219456"/>
          </a:xfrm>
          <a:prstGeom prst="rect">
            <a:avLst/>
          </a:prstGeom>
          <a:noFill/>
          <a:ln/>
        </p:spPr>
        <p:txBody>
          <a:bodyPr wrap="square" lIns="0" tIns="0" rIns="0" bIns="0" rtlCol="0" anchor="ctr"/>
          <a:lstStyle/>
          <a:p>
            <a:pPr indent="0" marL="0">
              <a:lnSpc>
                <a:spcPct val="118000"/>
              </a:lnSpc>
              <a:buNone/>
            </a:pPr>
            <a:r>
              <a:rPr lang="en-US" sz="1000" b="1" dirty="0">
                <a:solidFill>
                  <a:srgbClr val="1B6E6D"/>
                </a:solidFill>
                <a:latin typeface="Calibri" pitchFamily="34" charset="0"/>
                <a:ea typeface="Calibri" pitchFamily="34" charset="-122"/>
                <a:cs typeface="Calibri" pitchFamily="34" charset="-120"/>
              </a:rPr>
              <a:t>第 2 组　</a:t>
            </a:r>
            <a:pPr indent="0" marL="0">
              <a:lnSpc>
                <a:spcPct val="118000"/>
              </a:lnSpc>
              <a:buNone/>
            </a:pPr>
            <a:r>
              <a:rPr lang="en-US" sz="1000" b="1" dirty="0">
                <a:solidFill>
                  <a:srgbClr val="22303D"/>
                </a:solidFill>
                <a:latin typeface="Calibri" pitchFamily="34" charset="0"/>
                <a:ea typeface="Calibri" pitchFamily="34" charset="-122"/>
                <a:cs typeface="Calibri" pitchFamily="34" charset="-120"/>
              </a:rPr>
              <a:t>CD56 弱阳性</a:t>
            </a:r>
            <a:endParaRPr lang="en-US" sz="1000" dirty="0"/>
          </a:p>
        </p:txBody>
      </p:sp>
      <p:sp>
        <p:nvSpPr>
          <p:cNvPr id="15" name="Text 12"/>
          <p:cNvSpPr/>
          <p:nvPr/>
        </p:nvSpPr>
        <p:spPr>
          <a:xfrm>
            <a:off x="3547872" y="6217920"/>
            <a:ext cx="2286000" cy="402336"/>
          </a:xfrm>
          <a:prstGeom prst="rect">
            <a:avLst/>
          </a:prstGeom>
          <a:noFill/>
          <a:ln/>
        </p:spPr>
        <p:txBody>
          <a:bodyPr wrap="square" lIns="0" tIns="0" rIns="0" bIns="0" rtlCol="0" anchor="t"/>
          <a:lstStyle/>
          <a:p>
            <a:pPr indent="0" marL="0">
              <a:lnSpc>
                <a:spcPct val="110000"/>
              </a:lnSpc>
              <a:buNone/>
            </a:pPr>
            <a:r>
              <a:rPr lang="en-US" sz="900" dirty="0">
                <a:solidFill>
                  <a:srgbClr val="22303D"/>
                </a:solidFill>
                <a:latin typeface="Calibri" pitchFamily="34" charset="0"/>
                <a:ea typeface="Calibri" pitchFamily="34" charset="-122"/>
                <a:cs typeface="Calibri" pitchFamily="34" charset="-120"/>
              </a:rPr>
              <a:t>确认检测体系有效，并提供判定其余各组所需的绝对基准</a:t>
            </a:r>
            <a:endParaRPr lang="en-US" sz="900" dirty="0"/>
          </a:p>
        </p:txBody>
      </p:sp>
      <p:sp>
        <p:nvSpPr>
          <p:cNvPr id="16" name="Shape 13"/>
          <p:cNvSpPr/>
          <p:nvPr/>
        </p:nvSpPr>
        <p:spPr>
          <a:xfrm>
            <a:off x="6181344" y="5888736"/>
            <a:ext cx="2651760" cy="786384"/>
          </a:xfrm>
          <a:prstGeom prst="roundRect">
            <a:avLst>
              <a:gd name="adj" fmla="val 6977"/>
            </a:avLst>
          </a:prstGeom>
          <a:solidFill>
            <a:srgbClr val="FFFFFF"/>
          </a:solidFill>
          <a:ln w="16510">
            <a:solidFill>
              <a:srgbClr val="B3202C"/>
            </a:solidFill>
            <a:prstDash val="solid"/>
          </a:ln>
        </p:spPr>
      </p:sp>
      <p:sp>
        <p:nvSpPr>
          <p:cNvPr id="17" name="Text 14"/>
          <p:cNvSpPr/>
          <p:nvPr/>
        </p:nvSpPr>
        <p:spPr>
          <a:xfrm>
            <a:off x="6364224" y="5980176"/>
            <a:ext cx="2286000" cy="219456"/>
          </a:xfrm>
          <a:prstGeom prst="rect">
            <a:avLst/>
          </a:prstGeom>
          <a:noFill/>
          <a:ln/>
        </p:spPr>
        <p:txBody>
          <a:bodyPr wrap="square" lIns="0" tIns="0" rIns="0" bIns="0" rtlCol="0" anchor="ctr"/>
          <a:lstStyle/>
          <a:p>
            <a:pPr indent="0" marL="0">
              <a:lnSpc>
                <a:spcPct val="118000"/>
              </a:lnSpc>
              <a:buNone/>
            </a:pPr>
            <a:r>
              <a:rPr lang="en-US" sz="1000" b="1" dirty="0">
                <a:solidFill>
                  <a:srgbClr val="B3202C"/>
                </a:solidFill>
                <a:latin typeface="Calibri" pitchFamily="34" charset="0"/>
                <a:ea typeface="Calibri" pitchFamily="34" charset="-122"/>
                <a:cs typeface="Calibri" pitchFamily="34" charset="-120"/>
              </a:rPr>
              <a:t>第 3 组　</a:t>
            </a:r>
            <a:pPr indent="0" marL="0">
              <a:lnSpc>
                <a:spcPct val="118000"/>
              </a:lnSpc>
              <a:buNone/>
            </a:pPr>
            <a:r>
              <a:rPr lang="en-US" sz="1000" b="1" dirty="0">
                <a:solidFill>
                  <a:srgbClr val="22303D"/>
                </a:solidFill>
                <a:latin typeface="Calibri" pitchFamily="34" charset="0"/>
                <a:ea typeface="Calibri" pitchFamily="34" charset="-122"/>
                <a:cs typeface="Calibri" pitchFamily="34" charset="-120"/>
              </a:rPr>
              <a:t>TGF-β1 + 缺氧</a:t>
            </a:r>
            <a:endParaRPr lang="en-US" sz="1000" dirty="0"/>
          </a:p>
        </p:txBody>
      </p:sp>
      <p:sp>
        <p:nvSpPr>
          <p:cNvPr id="18" name="Text 15"/>
          <p:cNvSpPr/>
          <p:nvPr/>
        </p:nvSpPr>
        <p:spPr>
          <a:xfrm>
            <a:off x="6364224" y="6217920"/>
            <a:ext cx="2286000" cy="402336"/>
          </a:xfrm>
          <a:prstGeom prst="rect">
            <a:avLst/>
          </a:prstGeom>
          <a:noFill/>
          <a:ln/>
        </p:spPr>
        <p:txBody>
          <a:bodyPr wrap="square" lIns="0" tIns="0" rIns="0" bIns="0" rtlCol="0" anchor="t"/>
          <a:lstStyle/>
          <a:p>
            <a:pPr indent="0" marL="0">
              <a:lnSpc>
                <a:spcPct val="110000"/>
              </a:lnSpc>
              <a:buNone/>
            </a:pPr>
            <a:r>
              <a:rPr lang="en-US" sz="900" dirty="0">
                <a:solidFill>
                  <a:srgbClr val="22303D"/>
                </a:solidFill>
                <a:latin typeface="Calibri" pitchFamily="34" charset="0"/>
                <a:ea typeface="Calibri" pitchFamily="34" charset="-122"/>
                <a:cs typeface="Calibri" pitchFamily="34" charset="-120"/>
              </a:rPr>
              <a:t>检验该条件能否诱导出极化制动 —— 本阶段的主要问题</a:t>
            </a:r>
            <a:endParaRPr lang="en-US" sz="900" dirty="0"/>
          </a:p>
        </p:txBody>
      </p:sp>
      <p:sp>
        <p:nvSpPr>
          <p:cNvPr id="19" name="Shape 16"/>
          <p:cNvSpPr/>
          <p:nvPr/>
        </p:nvSpPr>
        <p:spPr>
          <a:xfrm>
            <a:off x="8997696" y="5888736"/>
            <a:ext cx="2651760" cy="786384"/>
          </a:xfrm>
          <a:prstGeom prst="roundRect">
            <a:avLst>
              <a:gd name="adj" fmla="val 6977"/>
            </a:avLst>
          </a:prstGeom>
          <a:solidFill>
            <a:srgbClr val="FFFFFF"/>
          </a:solidFill>
          <a:ln w="16510">
            <a:solidFill>
              <a:srgbClr val="B3202C"/>
            </a:solidFill>
            <a:prstDash val="solid"/>
          </a:ln>
        </p:spPr>
      </p:sp>
      <p:sp>
        <p:nvSpPr>
          <p:cNvPr id="20" name="Text 17"/>
          <p:cNvSpPr/>
          <p:nvPr/>
        </p:nvSpPr>
        <p:spPr>
          <a:xfrm>
            <a:off x="9180576" y="5980176"/>
            <a:ext cx="2286000" cy="219456"/>
          </a:xfrm>
          <a:prstGeom prst="rect">
            <a:avLst/>
          </a:prstGeom>
          <a:noFill/>
          <a:ln/>
        </p:spPr>
        <p:txBody>
          <a:bodyPr wrap="square" lIns="0" tIns="0" rIns="0" bIns="0" rtlCol="0" anchor="ctr"/>
          <a:lstStyle/>
          <a:p>
            <a:pPr indent="0" marL="0">
              <a:lnSpc>
                <a:spcPct val="118000"/>
              </a:lnSpc>
              <a:buNone/>
            </a:pPr>
            <a:r>
              <a:rPr lang="en-US" sz="1000" b="1" dirty="0">
                <a:solidFill>
                  <a:srgbClr val="B3202C"/>
                </a:solidFill>
                <a:latin typeface="Calibri" pitchFamily="34" charset="0"/>
                <a:ea typeface="Calibri" pitchFamily="34" charset="-122"/>
                <a:cs typeface="Calibri" pitchFamily="34" charset="-120"/>
              </a:rPr>
              <a:t>第 4 组　</a:t>
            </a:r>
            <a:pPr indent="0" marL="0">
              <a:lnSpc>
                <a:spcPct val="118000"/>
              </a:lnSpc>
              <a:buNone/>
            </a:pPr>
            <a:r>
              <a:rPr lang="en-US" sz="1000" b="1" dirty="0">
                <a:solidFill>
                  <a:srgbClr val="22303D"/>
                </a:solidFill>
                <a:latin typeface="Calibri" pitchFamily="34" charset="0"/>
                <a:ea typeface="Calibri" pitchFamily="34" charset="-122"/>
                <a:cs typeface="Calibri" pitchFamily="34" charset="-120"/>
              </a:rPr>
              <a:t>诱导后洗脱</a:t>
            </a:r>
            <a:endParaRPr lang="en-US" sz="1000" dirty="0"/>
          </a:p>
        </p:txBody>
      </p:sp>
      <p:sp>
        <p:nvSpPr>
          <p:cNvPr id="21" name="Text 18"/>
          <p:cNvSpPr/>
          <p:nvPr/>
        </p:nvSpPr>
        <p:spPr>
          <a:xfrm>
            <a:off x="9180576" y="6217920"/>
            <a:ext cx="2286000" cy="402336"/>
          </a:xfrm>
          <a:prstGeom prst="rect">
            <a:avLst/>
          </a:prstGeom>
          <a:noFill/>
          <a:ln/>
        </p:spPr>
        <p:txBody>
          <a:bodyPr wrap="square" lIns="0" tIns="0" rIns="0" bIns="0" rtlCol="0" anchor="t"/>
          <a:lstStyle/>
          <a:p>
            <a:pPr indent="0" marL="0">
              <a:lnSpc>
                <a:spcPct val="110000"/>
              </a:lnSpc>
              <a:buNone/>
            </a:pPr>
            <a:r>
              <a:rPr lang="en-US" sz="900" dirty="0">
                <a:solidFill>
                  <a:srgbClr val="22303D"/>
                </a:solidFill>
                <a:latin typeface="Calibri" pitchFamily="34" charset="0"/>
                <a:ea typeface="Calibri" pitchFamily="34" charset="-122"/>
                <a:cs typeface="Calibri" pitchFamily="34" charset="-120"/>
              </a:rPr>
              <a:t>区分「需持续信号维持」与「由细胞自身携带」两种情形</a:t>
            </a:r>
            <a:endParaRPr lang="en-US" sz="900" dirty="0"/>
          </a:p>
        </p:txBody>
      </p:sp>
      <p:sp>
        <p:nvSpPr>
          <p:cNvPr id="22" name="Shape 19"/>
          <p:cNvSpPr/>
          <p:nvPr/>
        </p:nvSpPr>
        <p:spPr>
          <a:xfrm>
            <a:off x="7059168" y="4078224"/>
            <a:ext cx="4581144" cy="1417320"/>
          </a:xfrm>
          <a:prstGeom prst="roundRect">
            <a:avLst>
              <a:gd name="adj" fmla="val 3871"/>
            </a:avLst>
          </a:prstGeom>
          <a:solidFill>
            <a:srgbClr val="FFFFFF"/>
          </a:solidFill>
          <a:ln w="17780">
            <a:solidFill>
              <a:srgbClr val="B3202C"/>
            </a:solidFill>
            <a:prstDash val="solid"/>
          </a:ln>
        </p:spPr>
      </p:sp>
      <p:sp>
        <p:nvSpPr>
          <p:cNvPr id="23" name="Text 20"/>
          <p:cNvSpPr/>
          <p:nvPr/>
        </p:nvSpPr>
        <p:spPr>
          <a:xfrm>
            <a:off x="7296912" y="4197096"/>
            <a:ext cx="4105656" cy="219456"/>
          </a:xfrm>
          <a:prstGeom prst="rect">
            <a:avLst/>
          </a:prstGeom>
          <a:noFill/>
          <a:ln/>
        </p:spPr>
        <p:txBody>
          <a:bodyPr wrap="square" lIns="0" tIns="0" rIns="0" bIns="0" rtlCol="0" anchor="ctr"/>
          <a:lstStyle/>
          <a:p>
            <a:pPr indent="0" marL="0">
              <a:buNone/>
            </a:pPr>
            <a:r>
              <a:rPr lang="en-US" sz="1050" b="1" spc="60" kern="0" dirty="0">
                <a:solidFill>
                  <a:srgbClr val="B3202C"/>
                </a:solidFill>
                <a:latin typeface="Calibri" pitchFamily="34" charset="0"/>
                <a:ea typeface="Calibri" pitchFamily="34" charset="-122"/>
                <a:cs typeface="Calibri" pitchFamily="34" charset="-120"/>
              </a:rPr>
              <a:t>统计学设计</a:t>
            </a:r>
            <a:endParaRPr lang="en-US" sz="1050" dirty="0"/>
          </a:p>
        </p:txBody>
      </p:sp>
      <p:sp>
        <p:nvSpPr>
          <p:cNvPr id="24" name="Text 21"/>
          <p:cNvSpPr/>
          <p:nvPr/>
        </p:nvSpPr>
        <p:spPr>
          <a:xfrm>
            <a:off x="7296912" y="4389120"/>
            <a:ext cx="4105656" cy="1042416"/>
          </a:xfrm>
          <a:prstGeom prst="rect">
            <a:avLst/>
          </a:prstGeom>
          <a:noFill/>
          <a:ln/>
        </p:spPr>
        <p:txBody>
          <a:bodyPr wrap="square" lIns="0" tIns="0" rIns="0" bIns="0" rtlCol="0" anchor="t"/>
          <a:lstStyle/>
          <a:p>
            <a:pPr indent="0" marL="0">
              <a:lnSpc>
                <a:spcPct val="116000"/>
              </a:lnSpc>
              <a:buNone/>
            </a:pPr>
            <a:r>
              <a:rPr lang="en-US" sz="950" b="1" dirty="0">
                <a:solidFill>
                  <a:srgbClr val="B3202C"/>
                </a:solidFill>
                <a:latin typeface="Calibri" pitchFamily="34" charset="0"/>
                <a:ea typeface="Calibri" pitchFamily="34" charset="-122"/>
                <a:cs typeface="Calibri" pitchFamily="34" charset="-120"/>
              </a:rPr>
              <a:t>样本量以供者为单位计算，而非以细胞为单位。</a:t>
            </a:r>
            <a:pPr indent="0" marL="0">
              <a:lnSpc>
                <a:spcPct val="116000"/>
              </a:lnSpc>
              <a:buNone/>
            </a:pPr>
            <a:r>
              <a:rPr lang="en-US" sz="950" dirty="0">
                <a:solidFill>
                  <a:srgbClr val="22303D"/>
                </a:solidFill>
                <a:latin typeface="Calibri" pitchFamily="34" charset="0"/>
                <a:ea typeface="Calibri" pitchFamily="34" charset="-122"/>
                <a:cs typeface="Calibri" pitchFamily="34" charset="-120"/>
              </a:rPr>
              <a:t>PNAS 2025 以 2–3 名供者的细胞层面数据进行统计，属重复单位设定错误。本研究分两步实施：先以 3 名供者进行预实验，估计该指标的供者间变异，据此确定正式实验所需的供者例数。</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64240" cy="219456"/>
          </a:xfrm>
          <a:prstGeom prst="rect">
            <a:avLst/>
          </a:prstGeom>
          <a:noFill/>
          <a:ln/>
        </p:spPr>
        <p:txBody>
          <a:bodyPr wrap="square" lIns="0" tIns="0" rIns="0" bIns="0" rtlCol="0" anchor="ctr"/>
          <a:lstStyle/>
          <a:p>
            <a:pPr indent="0" marL="0">
              <a:buNone/>
            </a:pPr>
            <a:r>
              <a:rPr lang="en-US" sz="1050" b="1" spc="100" kern="0" dirty="0">
                <a:solidFill>
                  <a:srgbClr val="B3202C"/>
                </a:solidFill>
                <a:latin typeface="Calibri" pitchFamily="34" charset="0"/>
                <a:ea typeface="Calibri" pitchFamily="34" charset="-122"/>
                <a:cs typeface="Calibri" pitchFamily="34" charset="-120"/>
              </a:rPr>
              <a:t>第二阶段 · 结果判读</a:t>
            </a:r>
            <a:endParaRPr lang="en-US" sz="1050" dirty="0"/>
          </a:p>
        </p:txBody>
      </p:sp>
      <p:sp>
        <p:nvSpPr>
          <p:cNvPr id="3" name="Text 1"/>
          <p:cNvSpPr/>
          <p:nvPr/>
        </p:nvSpPr>
        <p:spPr>
          <a:xfrm>
            <a:off x="548640" y="475488"/>
            <a:ext cx="11064240" cy="512064"/>
          </a:xfrm>
          <a:prstGeom prst="rect">
            <a:avLst/>
          </a:prstGeom>
          <a:noFill/>
          <a:ln/>
        </p:spPr>
        <p:txBody>
          <a:bodyPr wrap="square" lIns="0" tIns="0" rIns="0" bIns="0" rtlCol="0" anchor="ctr"/>
          <a:lstStyle/>
          <a:p>
            <a:pPr indent="0" marL="0">
              <a:buNone/>
            </a:pPr>
            <a:r>
              <a:rPr lang="en-US" sz="2600" b="1" dirty="0">
                <a:solidFill>
                  <a:srgbClr val="22303D"/>
                </a:solidFill>
                <a:latin typeface="Cambria" pitchFamily="34" charset="0"/>
                <a:ea typeface="Cambria" pitchFamily="34" charset="-122"/>
                <a:cs typeface="Cambria" pitchFamily="34" charset="-120"/>
              </a:rPr>
              <a:t>预先设定的结果判读标准</a:t>
            </a:r>
            <a:endParaRPr lang="en-US" sz="2600" dirty="0"/>
          </a:p>
        </p:txBody>
      </p:sp>
      <p:sp>
        <p:nvSpPr>
          <p:cNvPr id="4" name="Text 2"/>
          <p:cNvSpPr/>
          <p:nvPr/>
        </p:nvSpPr>
        <p:spPr>
          <a:xfrm>
            <a:off x="548640" y="1005840"/>
            <a:ext cx="11064240" cy="292608"/>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判读标准于实验实施前确定 —— 使每一种结果均有对应结论，避免事后解释</a:t>
            </a:r>
            <a:endParaRPr lang="en-US" sz="1200" dirty="0"/>
          </a:p>
        </p:txBody>
      </p:sp>
      <p:sp>
        <p:nvSpPr>
          <p:cNvPr id="5" name="Shape 3"/>
          <p:cNvSpPr/>
          <p:nvPr/>
        </p:nvSpPr>
        <p:spPr>
          <a:xfrm>
            <a:off x="548640" y="1481328"/>
            <a:ext cx="5376672" cy="1481328"/>
          </a:xfrm>
          <a:prstGeom prst="roundRect">
            <a:avLst>
              <a:gd name="adj" fmla="val 3704"/>
            </a:avLst>
          </a:prstGeom>
          <a:solidFill>
            <a:srgbClr val="FBEDEE"/>
          </a:solidFill>
          <a:ln w="17780">
            <a:solidFill>
              <a:srgbClr val="B3202C"/>
            </a:solidFill>
            <a:prstDash val="solid"/>
          </a:ln>
        </p:spPr>
      </p:sp>
      <p:sp>
        <p:nvSpPr>
          <p:cNvPr id="6" name="Text 4"/>
          <p:cNvSpPr/>
          <p:nvPr/>
        </p:nvSpPr>
        <p:spPr>
          <a:xfrm>
            <a:off x="786384" y="1600200"/>
            <a:ext cx="4901184" cy="219456"/>
          </a:xfrm>
          <a:prstGeom prst="rect">
            <a:avLst/>
          </a:prstGeom>
          <a:noFill/>
          <a:ln/>
        </p:spPr>
        <p:txBody>
          <a:bodyPr wrap="square" lIns="0" tIns="0" rIns="0" bIns="0" rtlCol="0" anchor="ctr"/>
          <a:lstStyle/>
          <a:p>
            <a:pPr indent="0" marL="0">
              <a:buNone/>
            </a:pPr>
            <a:r>
              <a:rPr lang="en-US" sz="1050" b="1" spc="60" kern="0" dirty="0">
                <a:solidFill>
                  <a:srgbClr val="B3202C"/>
                </a:solidFill>
                <a:latin typeface="Calibri" pitchFamily="34" charset="0"/>
                <a:ea typeface="Calibri" pitchFamily="34" charset="-122"/>
                <a:cs typeface="Calibri" pitchFamily="34" charset="-120"/>
              </a:rPr>
              <a:t>首先判定批次可靠性</a:t>
            </a:r>
            <a:endParaRPr lang="en-US" sz="1050" dirty="0"/>
          </a:p>
        </p:txBody>
      </p:sp>
      <p:sp>
        <p:nvSpPr>
          <p:cNvPr id="7" name="Text 5"/>
          <p:cNvSpPr/>
          <p:nvPr/>
        </p:nvSpPr>
        <p:spPr>
          <a:xfrm>
            <a:off x="786384" y="1810512"/>
            <a:ext cx="4901184" cy="1097280"/>
          </a:xfrm>
          <a:prstGeom prst="rect">
            <a:avLst/>
          </a:prstGeom>
          <a:noFill/>
          <a:ln/>
        </p:spPr>
        <p:txBody>
          <a:bodyPr wrap="square" lIns="0" tIns="0" rIns="0" bIns="0" rtlCol="0" anchor="t"/>
          <a:lstStyle/>
          <a:p>
            <a:pPr indent="0" marL="0">
              <a:lnSpc>
                <a:spcPct val="116000"/>
              </a:lnSpc>
              <a:buNone/>
            </a:pPr>
            <a:r>
              <a:rPr lang="en-US" sz="950" dirty="0">
                <a:solidFill>
                  <a:srgbClr val="22303D"/>
                </a:solidFill>
                <a:latin typeface="Calibri" pitchFamily="34" charset="0"/>
                <a:ea typeface="Calibri" pitchFamily="34" charset="-122"/>
                <a:cs typeface="Calibri" pitchFamily="34" charset="-120"/>
              </a:rPr>
              <a:t>第 2 组（阳性对照）的极化距离与近端信号，须达到第一阶段在 NK-92 细胞上建立的绝对标准。未达到者，说明该批次刺激或成像存在问题，数据不予采用，重复实验。
</a:t>
            </a:r>
            <a:pPr indent="0" marL="0">
              <a:lnSpc>
                <a:spcPct val="116000"/>
              </a:lnSpc>
              <a:buNone/>
            </a:pPr>
            <a:r>
              <a:rPr lang="en-US" sz="950" b="1" dirty="0">
                <a:solidFill>
                  <a:srgbClr val="22303D"/>
                </a:solidFill>
                <a:latin typeface="Calibri" pitchFamily="34" charset="0"/>
                <a:ea typeface="Calibri" pitchFamily="34" charset="-122"/>
                <a:cs typeface="Calibri" pitchFamily="34" charset="-120"/>
              </a:rPr>
              <a:t>若第 3 组近端信号低于第 2 组，先提高抗体包被浓度使信号匹配后复测，再进入下列判读。
</a:t>
            </a:r>
            <a:endParaRPr lang="en-US" sz="950" dirty="0"/>
          </a:p>
        </p:txBody>
      </p:sp>
      <p:sp>
        <p:nvSpPr>
          <p:cNvPr id="8" name="Shape 6"/>
          <p:cNvSpPr/>
          <p:nvPr/>
        </p:nvSpPr>
        <p:spPr>
          <a:xfrm>
            <a:off x="6263640" y="1481328"/>
            <a:ext cx="5376672" cy="1481328"/>
          </a:xfrm>
          <a:prstGeom prst="roundRect">
            <a:avLst>
              <a:gd name="adj" fmla="val 3704"/>
            </a:avLst>
          </a:prstGeom>
          <a:solidFill>
            <a:srgbClr val="FFFFFF"/>
          </a:solidFill>
          <a:ln w="16510">
            <a:solidFill>
              <a:srgbClr val="6B7683"/>
            </a:solidFill>
            <a:prstDash val="solid"/>
          </a:ln>
        </p:spPr>
      </p:sp>
      <p:sp>
        <p:nvSpPr>
          <p:cNvPr id="9" name="Text 7"/>
          <p:cNvSpPr/>
          <p:nvPr/>
        </p:nvSpPr>
        <p:spPr>
          <a:xfrm>
            <a:off x="6501384" y="1600200"/>
            <a:ext cx="4901184" cy="219456"/>
          </a:xfrm>
          <a:prstGeom prst="rect">
            <a:avLst/>
          </a:prstGeom>
          <a:noFill/>
          <a:ln/>
        </p:spPr>
        <p:txBody>
          <a:bodyPr wrap="square" lIns="0" tIns="0" rIns="0" bIns="0" rtlCol="0" anchor="ctr"/>
          <a:lstStyle/>
          <a:p>
            <a:pPr indent="0" marL="0">
              <a:buNone/>
            </a:pPr>
            <a:r>
              <a:rPr lang="en-US" sz="1050" b="1" spc="60" kern="0" dirty="0">
                <a:solidFill>
                  <a:srgbClr val="6B7683"/>
                </a:solidFill>
                <a:latin typeface="Calibri" pitchFamily="34" charset="0"/>
                <a:ea typeface="Calibri" pitchFamily="34" charset="-122"/>
                <a:cs typeface="Calibri" pitchFamily="34" charset="-120"/>
              </a:rPr>
              <a:t>「极化失败」的判定定义</a:t>
            </a:r>
            <a:endParaRPr lang="en-US" sz="1050" dirty="0"/>
          </a:p>
        </p:txBody>
      </p:sp>
      <p:sp>
        <p:nvSpPr>
          <p:cNvPr id="10" name="Text 8"/>
          <p:cNvSpPr/>
          <p:nvPr/>
        </p:nvSpPr>
        <p:spPr>
          <a:xfrm>
            <a:off x="6501384" y="1810512"/>
            <a:ext cx="4901184" cy="1097280"/>
          </a:xfrm>
          <a:prstGeom prst="rect">
            <a:avLst/>
          </a:prstGeom>
          <a:noFill/>
          <a:ln/>
        </p:spPr>
        <p:txBody>
          <a:bodyPr wrap="square" lIns="0" tIns="0" rIns="0" bIns="0" rtlCol="0" anchor="t"/>
          <a:lstStyle/>
          <a:p>
            <a:pPr indent="0" marL="0">
              <a:lnSpc>
                <a:spcPct val="118000"/>
              </a:lnSpc>
              <a:buNone/>
            </a:pPr>
            <a:r>
              <a:rPr lang="en-US" sz="1000" b="1" dirty="0">
                <a:solidFill>
                  <a:srgbClr val="22303D"/>
                </a:solidFill>
                <a:latin typeface="Calibri" pitchFamily="34" charset="0"/>
                <a:ea typeface="Calibri" pitchFamily="34" charset="-122"/>
                <a:cs typeface="Calibri" pitchFamily="34" charset="-120"/>
              </a:rPr>
              <a:t>MTOC 距离为 0–15 µm 的连续变量，非二分类指标。</a:t>
            </a:r>
            <a:pPr indent="0" marL="0">
              <a:lnSpc>
                <a:spcPct val="118000"/>
              </a:lnSpc>
              <a:buNone/>
            </a:pPr>
            <a:r>
              <a:rPr lang="en-US" sz="1000" dirty="0">
                <a:solidFill>
                  <a:srgbClr val="22303D"/>
                </a:solidFill>
                <a:latin typeface="Calibri" pitchFamily="34" charset="0"/>
                <a:ea typeface="Calibri" pitchFamily="34" charset="-122"/>
                <a:cs typeface="Calibri" pitchFamily="34" charset="-120"/>
              </a:rPr>
              <a:t>判为失败须满足：位移差达到预先设定的最小可检测效应量（参照 PNAS 2025 报告的约 1.3 µm 中位位移），且在供者层面具有统计学意义。</a:t>
            </a:r>
            <a:endParaRPr lang="en-US" sz="1000" dirty="0"/>
          </a:p>
        </p:txBody>
      </p:sp>
      <p:sp>
        <p:nvSpPr>
          <p:cNvPr id="11" name="Shape 9"/>
          <p:cNvSpPr/>
          <p:nvPr/>
        </p:nvSpPr>
        <p:spPr>
          <a:xfrm>
            <a:off x="548640" y="3273552"/>
            <a:ext cx="11091672" cy="566928"/>
          </a:xfrm>
          <a:prstGeom prst="roundRect">
            <a:avLst>
              <a:gd name="adj" fmla="val 9677"/>
            </a:avLst>
          </a:prstGeom>
          <a:solidFill>
            <a:srgbClr val="FFFFFF"/>
          </a:solidFill>
          <a:ln w="13970">
            <a:solidFill>
              <a:srgbClr val="8A5A12"/>
            </a:solidFill>
            <a:prstDash val="solid"/>
          </a:ln>
        </p:spPr>
      </p:sp>
      <p:sp>
        <p:nvSpPr>
          <p:cNvPr id="12" name="Text 10"/>
          <p:cNvSpPr/>
          <p:nvPr/>
        </p:nvSpPr>
        <p:spPr>
          <a:xfrm>
            <a:off x="786384" y="3328416"/>
            <a:ext cx="5029200" cy="457200"/>
          </a:xfrm>
          <a:prstGeom prst="rect">
            <a:avLst/>
          </a:prstGeom>
          <a:noFill/>
          <a:ln/>
        </p:spPr>
        <p:txBody>
          <a:bodyPr wrap="square" lIns="0" tIns="0" rIns="0" bIns="0" rtlCol="0" anchor="ctr"/>
          <a:lstStyle/>
          <a:p>
            <a:pPr indent="0" marL="0">
              <a:buNone/>
            </a:pPr>
            <a:r>
              <a:rPr lang="en-US" sz="1100" b="1" dirty="0">
                <a:solidFill>
                  <a:srgbClr val="8A5A12"/>
                </a:solidFill>
                <a:latin typeface="Calibri" pitchFamily="34" charset="0"/>
                <a:ea typeface="Calibri" pitchFamily="34" charset="-122"/>
                <a:cs typeface="Calibri" pitchFamily="34" charset="-120"/>
              </a:rPr>
              <a:t>第 1 组（CD56 强阳性）与第 3 组（诱导组）同时失败</a:t>
            </a:r>
            <a:endParaRPr lang="en-US" sz="1100" dirty="0"/>
          </a:p>
        </p:txBody>
      </p:sp>
      <p:sp>
        <p:nvSpPr>
          <p:cNvPr id="13" name="Text 11"/>
          <p:cNvSpPr/>
          <p:nvPr/>
        </p:nvSpPr>
        <p:spPr>
          <a:xfrm>
            <a:off x="5888736" y="3328416"/>
            <a:ext cx="274320" cy="457200"/>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a:t>
            </a:r>
            <a:endParaRPr lang="en-US" sz="1200" dirty="0"/>
          </a:p>
        </p:txBody>
      </p:sp>
      <p:sp>
        <p:nvSpPr>
          <p:cNvPr id="14" name="Text 12"/>
          <p:cNvSpPr/>
          <p:nvPr/>
        </p:nvSpPr>
        <p:spPr>
          <a:xfrm>
            <a:off x="6236208" y="3328416"/>
            <a:ext cx="5212080" cy="457200"/>
          </a:xfrm>
          <a:prstGeom prst="rect">
            <a:avLst/>
          </a:prstGeom>
          <a:noFill/>
          <a:ln/>
        </p:spPr>
        <p:txBody>
          <a:bodyPr wrap="square" lIns="0" tIns="0" rIns="0" bIns="0" rtlCol="0" anchor="ctr"/>
          <a:lstStyle/>
          <a:p>
            <a:pPr indent="0" marL="0">
              <a:buNone/>
            </a:pPr>
            <a:r>
              <a:rPr lang="en-US" sz="1100" dirty="0">
                <a:solidFill>
                  <a:srgbClr val="22303D"/>
                </a:solidFill>
                <a:latin typeface="Calibri" pitchFamily="34" charset="0"/>
                <a:ea typeface="Calibri" pitchFamily="34" charset="-122"/>
                <a:cs typeface="Calibri" pitchFamily="34" charset="-120"/>
              </a:rPr>
              <a:t>所观察到的差异可能仅为 CD56 强阳性亚群固有属性，课题终止</a:t>
            </a:r>
            <a:endParaRPr lang="en-US" sz="1100" dirty="0"/>
          </a:p>
        </p:txBody>
      </p:sp>
      <p:sp>
        <p:nvSpPr>
          <p:cNvPr id="15" name="Shape 13"/>
          <p:cNvSpPr/>
          <p:nvPr/>
        </p:nvSpPr>
        <p:spPr>
          <a:xfrm>
            <a:off x="548640" y="3950208"/>
            <a:ext cx="11091672" cy="566928"/>
          </a:xfrm>
          <a:prstGeom prst="roundRect">
            <a:avLst>
              <a:gd name="adj" fmla="val 9677"/>
            </a:avLst>
          </a:prstGeom>
          <a:solidFill>
            <a:srgbClr val="FFFFFF"/>
          </a:solidFill>
          <a:ln w="13970">
            <a:solidFill>
              <a:srgbClr val="1B6E6D"/>
            </a:solidFill>
            <a:prstDash val="solid"/>
          </a:ln>
        </p:spPr>
      </p:sp>
      <p:sp>
        <p:nvSpPr>
          <p:cNvPr id="16" name="Text 14"/>
          <p:cNvSpPr/>
          <p:nvPr/>
        </p:nvSpPr>
        <p:spPr>
          <a:xfrm>
            <a:off x="786384" y="4005072"/>
            <a:ext cx="5029200" cy="457200"/>
          </a:xfrm>
          <a:prstGeom prst="rect">
            <a:avLst/>
          </a:prstGeom>
          <a:noFill/>
          <a:ln/>
        </p:spPr>
        <p:txBody>
          <a:bodyPr wrap="square" lIns="0" tIns="0" rIns="0" bIns="0" rtlCol="0" anchor="ctr"/>
          <a:lstStyle/>
          <a:p>
            <a:pPr indent="0" marL="0">
              <a:buNone/>
            </a:pPr>
            <a:r>
              <a:rPr lang="en-US" sz="1100" b="1" dirty="0">
                <a:solidFill>
                  <a:srgbClr val="1B6E6D"/>
                </a:solidFill>
                <a:latin typeface="Calibri" pitchFamily="34" charset="0"/>
                <a:ea typeface="Calibri" pitchFamily="34" charset="-122"/>
                <a:cs typeface="Calibri" pitchFamily="34" charset="-120"/>
              </a:rPr>
              <a:t>第 3 组极化正常</a:t>
            </a:r>
            <a:endParaRPr lang="en-US" sz="1100" dirty="0"/>
          </a:p>
        </p:txBody>
      </p:sp>
      <p:sp>
        <p:nvSpPr>
          <p:cNvPr id="17" name="Text 15"/>
          <p:cNvSpPr/>
          <p:nvPr/>
        </p:nvSpPr>
        <p:spPr>
          <a:xfrm>
            <a:off x="5888736" y="4005072"/>
            <a:ext cx="274320" cy="457200"/>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a:t>
            </a:r>
            <a:endParaRPr lang="en-US" sz="1200" dirty="0"/>
          </a:p>
        </p:txBody>
      </p:sp>
      <p:sp>
        <p:nvSpPr>
          <p:cNvPr id="18" name="Text 16"/>
          <p:cNvSpPr/>
          <p:nvPr/>
        </p:nvSpPr>
        <p:spPr>
          <a:xfrm>
            <a:off x="6236208" y="4005072"/>
            <a:ext cx="5212080" cy="457200"/>
          </a:xfrm>
          <a:prstGeom prst="rect">
            <a:avLst/>
          </a:prstGeom>
          <a:noFill/>
          <a:ln/>
        </p:spPr>
        <p:txBody>
          <a:bodyPr wrap="square" lIns="0" tIns="0" rIns="0" bIns="0" rtlCol="0" anchor="ctr"/>
          <a:lstStyle/>
          <a:p>
            <a:pPr indent="0" marL="0">
              <a:buNone/>
            </a:pPr>
            <a:r>
              <a:rPr lang="en-US" sz="1100" dirty="0">
                <a:solidFill>
                  <a:srgbClr val="22303D"/>
                </a:solidFill>
                <a:latin typeface="Calibri" pitchFamily="34" charset="0"/>
                <a:ea typeface="Calibri" pitchFamily="34" charset="-122"/>
                <a:cs typeface="Calibri" pitchFamily="34" charset="-120"/>
              </a:rPr>
              <a:t>该条件不能诱导出持久性制动，得到明确的阴性结论，课题终止</a:t>
            </a:r>
            <a:endParaRPr lang="en-US" sz="1100" dirty="0"/>
          </a:p>
        </p:txBody>
      </p:sp>
      <p:sp>
        <p:nvSpPr>
          <p:cNvPr id="19" name="Shape 17"/>
          <p:cNvSpPr/>
          <p:nvPr/>
        </p:nvSpPr>
        <p:spPr>
          <a:xfrm>
            <a:off x="548640" y="4626864"/>
            <a:ext cx="11091672" cy="566928"/>
          </a:xfrm>
          <a:prstGeom prst="roundRect">
            <a:avLst>
              <a:gd name="adj" fmla="val 9677"/>
            </a:avLst>
          </a:prstGeom>
          <a:solidFill>
            <a:srgbClr val="FFFFFF"/>
          </a:solidFill>
          <a:ln w="13970">
            <a:solidFill>
              <a:srgbClr val="1B6E6D"/>
            </a:solidFill>
            <a:prstDash val="solid"/>
          </a:ln>
        </p:spPr>
      </p:sp>
      <p:sp>
        <p:nvSpPr>
          <p:cNvPr id="20" name="Text 18"/>
          <p:cNvSpPr/>
          <p:nvPr/>
        </p:nvSpPr>
        <p:spPr>
          <a:xfrm>
            <a:off x="786384" y="4681728"/>
            <a:ext cx="5029200" cy="457200"/>
          </a:xfrm>
          <a:prstGeom prst="rect">
            <a:avLst/>
          </a:prstGeom>
          <a:noFill/>
          <a:ln/>
        </p:spPr>
        <p:txBody>
          <a:bodyPr wrap="square" lIns="0" tIns="0" rIns="0" bIns="0" rtlCol="0" anchor="ctr"/>
          <a:lstStyle/>
          <a:p>
            <a:pPr indent="0" marL="0">
              <a:buNone/>
            </a:pPr>
            <a:r>
              <a:rPr lang="en-US" sz="1100" b="1" dirty="0">
                <a:solidFill>
                  <a:srgbClr val="1B6E6D"/>
                </a:solidFill>
                <a:latin typeface="Calibri" pitchFamily="34" charset="0"/>
                <a:ea typeface="Calibri" pitchFamily="34" charset="-122"/>
                <a:cs typeface="Calibri" pitchFamily="34" charset="-120"/>
              </a:rPr>
              <a:t>第 3 组失败，第 4 组（洗脱组）恢复</a:t>
            </a:r>
            <a:endParaRPr lang="en-US" sz="1100" dirty="0"/>
          </a:p>
        </p:txBody>
      </p:sp>
      <p:sp>
        <p:nvSpPr>
          <p:cNvPr id="21" name="Text 19"/>
          <p:cNvSpPr/>
          <p:nvPr/>
        </p:nvSpPr>
        <p:spPr>
          <a:xfrm>
            <a:off x="5888736" y="4681728"/>
            <a:ext cx="274320" cy="457200"/>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a:t>
            </a:r>
            <a:endParaRPr lang="en-US" sz="1200" dirty="0"/>
          </a:p>
        </p:txBody>
      </p:sp>
      <p:sp>
        <p:nvSpPr>
          <p:cNvPr id="22" name="Text 20"/>
          <p:cNvSpPr/>
          <p:nvPr/>
        </p:nvSpPr>
        <p:spPr>
          <a:xfrm>
            <a:off x="6236208" y="4681728"/>
            <a:ext cx="5212080" cy="457200"/>
          </a:xfrm>
          <a:prstGeom prst="rect">
            <a:avLst/>
          </a:prstGeom>
          <a:noFill/>
          <a:ln/>
        </p:spPr>
        <p:txBody>
          <a:bodyPr wrap="square" lIns="0" tIns="0" rIns="0" bIns="0" rtlCol="0" anchor="ctr"/>
          <a:lstStyle/>
          <a:p>
            <a:pPr indent="0" marL="0">
              <a:buNone/>
            </a:pPr>
            <a:r>
              <a:rPr lang="en-US" sz="1100" dirty="0">
                <a:solidFill>
                  <a:srgbClr val="22303D"/>
                </a:solidFill>
                <a:latin typeface="Calibri" pitchFamily="34" charset="0"/>
                <a:ea typeface="Calibri" pitchFamily="34" charset="-122"/>
                <a:cs typeface="Calibri" pitchFamily="34" charset="-120"/>
              </a:rPr>
              <a:t>该抑制需持续信号维持，非细胞自身携带，转为其他研究方向</a:t>
            </a:r>
            <a:endParaRPr lang="en-US" sz="1100" dirty="0"/>
          </a:p>
        </p:txBody>
      </p:sp>
      <p:sp>
        <p:nvSpPr>
          <p:cNvPr id="23" name="Shape 21"/>
          <p:cNvSpPr/>
          <p:nvPr/>
        </p:nvSpPr>
        <p:spPr>
          <a:xfrm>
            <a:off x="548640" y="5303520"/>
            <a:ext cx="11091672" cy="566928"/>
          </a:xfrm>
          <a:prstGeom prst="roundRect">
            <a:avLst>
              <a:gd name="adj" fmla="val 9677"/>
            </a:avLst>
          </a:prstGeom>
          <a:solidFill>
            <a:srgbClr val="FBEDEE"/>
          </a:solidFill>
          <a:ln w="19050">
            <a:solidFill>
              <a:srgbClr val="B3202C"/>
            </a:solidFill>
            <a:prstDash val="solid"/>
          </a:ln>
        </p:spPr>
      </p:sp>
      <p:sp>
        <p:nvSpPr>
          <p:cNvPr id="24" name="Text 22"/>
          <p:cNvSpPr/>
          <p:nvPr/>
        </p:nvSpPr>
        <p:spPr>
          <a:xfrm>
            <a:off x="786384" y="5358384"/>
            <a:ext cx="5029200" cy="457200"/>
          </a:xfrm>
          <a:prstGeom prst="rect">
            <a:avLst/>
          </a:prstGeom>
          <a:noFill/>
          <a:ln/>
        </p:spPr>
        <p:txBody>
          <a:bodyPr wrap="square" lIns="0" tIns="0" rIns="0" bIns="0" rtlCol="0" anchor="ctr"/>
          <a:lstStyle/>
          <a:p>
            <a:pPr indent="0" marL="0">
              <a:buNone/>
            </a:pPr>
            <a:r>
              <a:rPr lang="en-US" sz="1100" b="1" dirty="0">
                <a:solidFill>
                  <a:srgbClr val="B3202C"/>
                </a:solidFill>
                <a:latin typeface="Calibri" pitchFamily="34" charset="0"/>
                <a:ea typeface="Calibri" pitchFamily="34" charset="-122"/>
                <a:cs typeface="Calibri" pitchFamily="34" charset="-120"/>
              </a:rPr>
              <a:t>第 3、4 组均失败，第 1 组正常，且近端信号已匹配</a:t>
            </a:r>
            <a:endParaRPr lang="en-US" sz="1100" dirty="0"/>
          </a:p>
        </p:txBody>
      </p:sp>
      <p:sp>
        <p:nvSpPr>
          <p:cNvPr id="25" name="Text 23"/>
          <p:cNvSpPr/>
          <p:nvPr/>
        </p:nvSpPr>
        <p:spPr>
          <a:xfrm>
            <a:off x="5888736" y="5358384"/>
            <a:ext cx="274320" cy="457200"/>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6236208" y="5358384"/>
            <a:ext cx="5212080" cy="457200"/>
          </a:xfrm>
          <a:prstGeom prst="rect">
            <a:avLst/>
          </a:prstGeom>
          <a:noFill/>
          <a:ln/>
        </p:spPr>
        <p:txBody>
          <a:bodyPr wrap="square" lIns="0" tIns="0" rIns="0" bIns="0" rtlCol="0" anchor="ctr"/>
          <a:lstStyle/>
          <a:p>
            <a:pPr indent="0" marL="0">
              <a:buNone/>
            </a:pPr>
            <a:r>
              <a:rPr lang="en-US" sz="1100" b="1" dirty="0">
                <a:solidFill>
                  <a:srgbClr val="22303D"/>
                </a:solidFill>
                <a:latin typeface="Calibri" pitchFamily="34" charset="0"/>
                <a:ea typeface="Calibri" pitchFamily="34" charset="-122"/>
                <a:cs typeface="Calibri" pitchFamily="34" charset="-120"/>
              </a:rPr>
              <a:t>持久性制动首次确立，进入第三阶段</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64240" cy="219456"/>
          </a:xfrm>
          <a:prstGeom prst="rect">
            <a:avLst/>
          </a:prstGeom>
          <a:noFill/>
          <a:ln/>
        </p:spPr>
        <p:txBody>
          <a:bodyPr wrap="square" lIns="0" tIns="0" rIns="0" bIns="0" rtlCol="0" anchor="ctr"/>
          <a:lstStyle/>
          <a:p>
            <a:pPr indent="0" marL="0">
              <a:buNone/>
            </a:pPr>
            <a:r>
              <a:rPr lang="en-US" sz="1050" b="1" spc="100" kern="0" dirty="0">
                <a:solidFill>
                  <a:srgbClr val="B3202C"/>
                </a:solidFill>
                <a:latin typeface="Calibri" pitchFamily="34" charset="0"/>
                <a:ea typeface="Calibri" pitchFamily="34" charset="-122"/>
                <a:cs typeface="Calibri" pitchFamily="34" charset="-120"/>
              </a:rPr>
              <a:t>第三阶段</a:t>
            </a:r>
            <a:endParaRPr lang="en-US" sz="1050" dirty="0"/>
          </a:p>
        </p:txBody>
      </p:sp>
      <p:sp>
        <p:nvSpPr>
          <p:cNvPr id="3" name="Text 1"/>
          <p:cNvSpPr/>
          <p:nvPr/>
        </p:nvSpPr>
        <p:spPr>
          <a:xfrm>
            <a:off x="548640" y="475488"/>
            <a:ext cx="11064240" cy="512064"/>
          </a:xfrm>
          <a:prstGeom prst="rect">
            <a:avLst/>
          </a:prstGeom>
          <a:noFill/>
          <a:ln/>
        </p:spPr>
        <p:txBody>
          <a:bodyPr wrap="square" lIns="0" tIns="0" rIns="0" bIns="0" rtlCol="0" anchor="ctr"/>
          <a:lstStyle/>
          <a:p>
            <a:pPr indent="0" marL="0">
              <a:buNone/>
            </a:pPr>
            <a:r>
              <a:rPr lang="en-US" sz="2600" b="1" dirty="0">
                <a:solidFill>
                  <a:srgbClr val="22303D"/>
                </a:solidFill>
                <a:latin typeface="Cambria" pitchFamily="34" charset="0"/>
                <a:ea typeface="Cambria" pitchFamily="34" charset="-122"/>
                <a:cs typeface="Cambria" pitchFamily="34" charset="-120"/>
              </a:rPr>
              <a:t>分子机制定位：先排除已知节点，再检索未知机制</a:t>
            </a:r>
            <a:endParaRPr lang="en-US" sz="2600" dirty="0"/>
          </a:p>
        </p:txBody>
      </p:sp>
      <p:sp>
        <p:nvSpPr>
          <p:cNvPr id="4" name="Text 2"/>
          <p:cNvSpPr/>
          <p:nvPr/>
        </p:nvSpPr>
        <p:spPr>
          <a:xfrm>
            <a:off x="548640" y="1005840"/>
            <a:ext cx="11064240" cy="292608"/>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已知调控节点排除后，余下者方可能为新机制；药理学筛选成本最低，故置于首位</a:t>
            </a:r>
            <a:endParaRPr lang="en-US" sz="1200" dirty="0"/>
          </a:p>
        </p:txBody>
      </p:sp>
      <p:sp>
        <p:nvSpPr>
          <p:cNvPr id="5" name="Shape 3"/>
          <p:cNvSpPr/>
          <p:nvPr/>
        </p:nvSpPr>
        <p:spPr>
          <a:xfrm>
            <a:off x="548640" y="1444752"/>
            <a:ext cx="11091672" cy="768096"/>
          </a:xfrm>
          <a:prstGeom prst="roundRect">
            <a:avLst>
              <a:gd name="adj" fmla="val 7143"/>
            </a:avLst>
          </a:prstGeom>
          <a:solidFill>
            <a:srgbClr val="22303D"/>
          </a:solidFill>
          <a:ln w="12700">
            <a:solidFill>
              <a:srgbClr val="22303D"/>
            </a:solidFill>
            <a:prstDash val="solid"/>
          </a:ln>
        </p:spPr>
      </p:sp>
      <p:sp>
        <p:nvSpPr>
          <p:cNvPr id="6" name="Text 4"/>
          <p:cNvSpPr/>
          <p:nvPr/>
        </p:nvSpPr>
        <p:spPr>
          <a:xfrm>
            <a:off x="786384" y="1563624"/>
            <a:ext cx="10616184" cy="219456"/>
          </a:xfrm>
          <a:prstGeom prst="rect">
            <a:avLst/>
          </a:prstGeom>
          <a:noFill/>
          <a:ln/>
        </p:spPr>
        <p:txBody>
          <a:bodyPr wrap="square" lIns="0" tIns="0" rIns="0" bIns="0" rtlCol="0" anchor="ctr"/>
          <a:lstStyle/>
          <a:p>
            <a:pPr indent="0" marL="0">
              <a:buNone/>
            </a:pPr>
            <a:r>
              <a:rPr lang="en-US" sz="1050" b="1" spc="60" kern="0" dirty="0">
                <a:solidFill>
                  <a:srgbClr val="9FB2C4"/>
                </a:solidFill>
                <a:latin typeface="Calibri" pitchFamily="34" charset="0"/>
                <a:ea typeface="Calibri" pitchFamily="34" charset="-122"/>
                <a:cs typeface="Calibri" pitchFamily="34" charset="-120"/>
              </a:rPr>
              <a:t>本阶段的统一前提</a:t>
            </a:r>
            <a:endParaRPr lang="en-US" sz="1050" dirty="0"/>
          </a:p>
        </p:txBody>
      </p:sp>
      <p:sp>
        <p:nvSpPr>
          <p:cNvPr id="7" name="Text 5"/>
          <p:cNvSpPr/>
          <p:nvPr/>
        </p:nvSpPr>
        <p:spPr>
          <a:xfrm>
            <a:off x="841248" y="1755648"/>
            <a:ext cx="10515600" cy="384048"/>
          </a:xfrm>
          <a:prstGeom prst="rect">
            <a:avLst/>
          </a:prstGeom>
          <a:noFill/>
          <a:ln/>
        </p:spPr>
        <p:txBody>
          <a:bodyPr wrap="square" lIns="0" tIns="0" rIns="0" bIns="0" rtlCol="0" anchor="ctr"/>
          <a:lstStyle/>
          <a:p>
            <a:pPr indent="0" marL="0">
              <a:lnSpc>
                <a:spcPct val="118000"/>
              </a:lnSpc>
              <a:buNone/>
            </a:pPr>
            <a:r>
              <a:rPr lang="en-US" sz="1100" b="1" dirty="0">
                <a:solidFill>
                  <a:srgbClr val="F2A0A6"/>
                </a:solidFill>
                <a:latin typeface="Calibri" pitchFamily="34" charset="0"/>
                <a:ea typeface="Calibri" pitchFamily="34" charset="-122"/>
                <a:cs typeface="Calibri" pitchFamily="34" charset="-120"/>
              </a:rPr>
              <a:t>全部分子层面检测均在洗脱后进行。</a:t>
            </a:r>
            <a:pPr indent="0" marL="0">
              <a:lnSpc>
                <a:spcPct val="118000"/>
              </a:lnSpc>
              <a:buNone/>
            </a:pPr>
            <a:r>
              <a:rPr lang="en-US" sz="1100" dirty="0">
                <a:solidFill>
                  <a:srgbClr val="FFFFFF"/>
                </a:solidFill>
                <a:latin typeface="Calibri" pitchFamily="34" charset="0"/>
                <a:ea typeface="Calibri" pitchFamily="34" charset="-122"/>
                <a:cs typeface="Calibri" pitchFamily="34" charset="-120"/>
              </a:rPr>
              <a:t>此时 TGF-β 经典信号已终止（p-SMAD2/3 消失），所余差异方为持久性改变。若在 TGF-β 存在期间检测，所得结果必然指向 TGF-β 通路本身。</a:t>
            </a:r>
            <a:endParaRPr lang="en-US" sz="1100" dirty="0"/>
          </a:p>
        </p:txBody>
      </p:sp>
      <p:sp>
        <p:nvSpPr>
          <p:cNvPr id="8" name="Shape 6"/>
          <p:cNvSpPr/>
          <p:nvPr/>
        </p:nvSpPr>
        <p:spPr>
          <a:xfrm>
            <a:off x="548640" y="2395728"/>
            <a:ext cx="3502152" cy="2487168"/>
          </a:xfrm>
          <a:prstGeom prst="roundRect">
            <a:avLst>
              <a:gd name="adj" fmla="val 2206"/>
            </a:avLst>
          </a:prstGeom>
          <a:solidFill>
            <a:srgbClr val="FFFFFF"/>
          </a:solidFill>
          <a:ln w="17780">
            <a:solidFill>
              <a:srgbClr val="B3202C"/>
            </a:solidFill>
            <a:prstDash val="solid"/>
          </a:ln>
        </p:spPr>
      </p:sp>
      <p:sp>
        <p:nvSpPr>
          <p:cNvPr id="9" name="Text 7"/>
          <p:cNvSpPr/>
          <p:nvPr/>
        </p:nvSpPr>
        <p:spPr>
          <a:xfrm>
            <a:off x="768096" y="2523744"/>
            <a:ext cx="3063240" cy="256032"/>
          </a:xfrm>
          <a:prstGeom prst="rect">
            <a:avLst/>
          </a:prstGeom>
          <a:noFill/>
          <a:ln/>
        </p:spPr>
        <p:txBody>
          <a:bodyPr wrap="square" lIns="0" tIns="0" rIns="0" bIns="0" rtlCol="0" anchor="ctr"/>
          <a:lstStyle/>
          <a:p>
            <a:pPr indent="0" marL="0">
              <a:buNone/>
            </a:pPr>
            <a:r>
              <a:rPr lang="en-US" sz="1250" b="1" dirty="0">
                <a:solidFill>
                  <a:srgbClr val="B3202C"/>
                </a:solidFill>
                <a:latin typeface="Cambria" pitchFamily="34" charset="0"/>
                <a:ea typeface="Cambria" pitchFamily="34" charset="-122"/>
                <a:cs typeface="Cambria" pitchFamily="34" charset="-120"/>
              </a:rPr>
              <a:t>第一层 · 药理学恢复筛选</a:t>
            </a:r>
            <a:endParaRPr lang="en-US" sz="1250" dirty="0"/>
          </a:p>
        </p:txBody>
      </p:sp>
      <p:sp>
        <p:nvSpPr>
          <p:cNvPr id="10" name="Text 8"/>
          <p:cNvSpPr/>
          <p:nvPr/>
        </p:nvSpPr>
        <p:spPr>
          <a:xfrm>
            <a:off x="768096" y="2779776"/>
            <a:ext cx="3063240" cy="201168"/>
          </a:xfrm>
          <a:prstGeom prst="rect">
            <a:avLst/>
          </a:prstGeom>
          <a:noFill/>
          <a:ln/>
        </p:spPr>
        <p:txBody>
          <a:bodyPr wrap="square" lIns="0" tIns="0" rIns="0" bIns="0" rtlCol="0" anchor="ctr"/>
          <a:lstStyle/>
          <a:p>
            <a:pPr indent="0" marL="0">
              <a:buNone/>
            </a:pPr>
            <a:r>
              <a:rPr lang="en-US" sz="950" dirty="0">
                <a:solidFill>
                  <a:srgbClr val="6B7683"/>
                </a:solidFill>
                <a:latin typeface="Calibri" pitchFamily="34" charset="0"/>
                <a:ea typeface="Calibri" pitchFamily="34" charset="-122"/>
                <a:cs typeface="Calibri" pitchFamily="34" charset="-120"/>
              </a:rPr>
              <a:t>洗脱后细胞 · 成本最低</a:t>
            </a:r>
            <a:endParaRPr lang="en-US" sz="950" dirty="0"/>
          </a:p>
        </p:txBody>
      </p:sp>
      <p:sp>
        <p:nvSpPr>
          <p:cNvPr id="11" name="Text 9"/>
          <p:cNvSpPr/>
          <p:nvPr/>
        </p:nvSpPr>
        <p:spPr>
          <a:xfrm>
            <a:off x="768096" y="3017520"/>
            <a:ext cx="3063240" cy="1755648"/>
          </a:xfrm>
          <a:prstGeom prst="rect">
            <a:avLst/>
          </a:prstGeom>
          <a:noFill/>
          <a:ln/>
        </p:spPr>
        <p:txBody>
          <a:bodyPr wrap="square" lIns="0" tIns="0" rIns="0" bIns="0" rtlCol="0" anchor="t"/>
          <a:lstStyle/>
          <a:p>
            <a:pPr indent="0" marL="0">
              <a:lnSpc>
                <a:spcPct val="114000"/>
              </a:lnSpc>
              <a:buNone/>
            </a:pPr>
            <a:r>
              <a:rPr lang="en-US" sz="950" dirty="0">
                <a:solidFill>
                  <a:srgbClr val="22303D"/>
                </a:solidFill>
                <a:latin typeface="Calibri" pitchFamily="34" charset="0"/>
                <a:ea typeface="Calibri" pitchFamily="34" charset="-122"/>
                <a:cs typeface="Calibri" pitchFamily="34" charset="-120"/>
              </a:rPr>
              <a:t>以一组化合物覆盖已知的 MTOC 极化调控节点：二酰甘油激酶 α（DGKα）、Cbl-b、哺乳动物雷帕霉素靶蛋白（mTOR）、Rho 相关卷曲螺旋激酶（ROCK）、蛋白激酶 Cθ（PKCθ）、Cdc42–Par6 极性复合物、formin、动力蛋白招募、整合素连接激酶（ILK）–Pyk2；以 TGFBR1 抑制剂作为对照，洗脱后应无效。化合物清单与浓度列于标准操作规程。</a:t>
            </a:r>
            <a:endParaRPr lang="en-US" sz="950" dirty="0"/>
          </a:p>
          <a:p>
            <a:pPr indent="0" marL="0">
              <a:lnSpc>
                <a:spcPct val="114000"/>
              </a:lnSpc>
              <a:buNone/>
            </a:pPr>
            <a:endParaRPr lang="en-US" sz="950" dirty="0"/>
          </a:p>
          <a:p>
            <a:pPr indent="0" marL="0">
              <a:lnSpc>
                <a:spcPct val="114000"/>
              </a:lnSpc>
              <a:buNone/>
            </a:pPr>
            <a:r>
              <a:rPr lang="en-US" sz="950" dirty="0">
                <a:solidFill>
                  <a:srgbClr val="22303D"/>
                </a:solidFill>
                <a:latin typeface="Calibri" pitchFamily="34" charset="0"/>
                <a:ea typeface="Calibri" pitchFamily="34" charset="-122"/>
                <a:cs typeface="Calibri" pitchFamily="34" charset="-120"/>
              </a:rPr>
              <a:t>这是唯一能够真正排除通路的手段，组学方法无法替代。若筛出阳性化合物，可同时获得机制线索与可用药物工具。</a:t>
            </a:r>
            <a:endParaRPr lang="en-US" sz="950" dirty="0"/>
          </a:p>
        </p:txBody>
      </p:sp>
      <p:sp>
        <p:nvSpPr>
          <p:cNvPr id="12" name="Shape 10"/>
          <p:cNvSpPr/>
          <p:nvPr/>
        </p:nvSpPr>
        <p:spPr>
          <a:xfrm>
            <a:off x="4343400" y="2395728"/>
            <a:ext cx="3502152" cy="2487168"/>
          </a:xfrm>
          <a:prstGeom prst="roundRect">
            <a:avLst>
              <a:gd name="adj" fmla="val 2206"/>
            </a:avLst>
          </a:prstGeom>
          <a:solidFill>
            <a:srgbClr val="FFFFFF"/>
          </a:solidFill>
          <a:ln w="17780">
            <a:solidFill>
              <a:srgbClr val="4A3A72"/>
            </a:solidFill>
            <a:prstDash val="solid"/>
          </a:ln>
        </p:spPr>
      </p:sp>
      <p:sp>
        <p:nvSpPr>
          <p:cNvPr id="13" name="Text 11"/>
          <p:cNvSpPr/>
          <p:nvPr/>
        </p:nvSpPr>
        <p:spPr>
          <a:xfrm>
            <a:off x="4562856" y="2523744"/>
            <a:ext cx="3063240" cy="256032"/>
          </a:xfrm>
          <a:prstGeom prst="rect">
            <a:avLst/>
          </a:prstGeom>
          <a:noFill/>
          <a:ln/>
        </p:spPr>
        <p:txBody>
          <a:bodyPr wrap="square" lIns="0" tIns="0" rIns="0" bIns="0" rtlCol="0" anchor="ctr"/>
          <a:lstStyle/>
          <a:p>
            <a:pPr indent="0" marL="0">
              <a:buNone/>
            </a:pPr>
            <a:r>
              <a:rPr lang="en-US" sz="1250" b="1" dirty="0">
                <a:solidFill>
                  <a:srgbClr val="4A3A72"/>
                </a:solidFill>
                <a:latin typeface="Cambria" pitchFamily="34" charset="0"/>
                <a:ea typeface="Cambria" pitchFamily="34" charset="-122"/>
                <a:cs typeface="Cambria" pitchFamily="34" charset="-120"/>
              </a:rPr>
              <a:t>第二层 · 无偏差组学比较</a:t>
            </a:r>
            <a:endParaRPr lang="en-US" sz="1250" dirty="0"/>
          </a:p>
        </p:txBody>
      </p:sp>
      <p:sp>
        <p:nvSpPr>
          <p:cNvPr id="14" name="Text 12"/>
          <p:cNvSpPr/>
          <p:nvPr/>
        </p:nvSpPr>
        <p:spPr>
          <a:xfrm>
            <a:off x="4562856" y="2779776"/>
            <a:ext cx="3063240" cy="201168"/>
          </a:xfrm>
          <a:prstGeom prst="rect">
            <a:avLst/>
          </a:prstGeom>
          <a:noFill/>
          <a:ln/>
        </p:spPr>
        <p:txBody>
          <a:bodyPr wrap="square" lIns="0" tIns="0" rIns="0" bIns="0" rtlCol="0" anchor="ctr"/>
          <a:lstStyle/>
          <a:p>
            <a:pPr indent="0" marL="0">
              <a:buNone/>
            </a:pPr>
            <a:r>
              <a:rPr lang="en-US" sz="950" dirty="0">
                <a:solidFill>
                  <a:srgbClr val="6B7683"/>
                </a:solidFill>
                <a:latin typeface="Calibri" pitchFamily="34" charset="0"/>
                <a:ea typeface="Calibri" pitchFamily="34" charset="-122"/>
                <a:cs typeface="Calibri" pitchFamily="34" charset="-120"/>
              </a:rPr>
              <a:t>洗脱后细胞 vs 未处理细胞</a:t>
            </a:r>
            <a:endParaRPr lang="en-US" sz="950" dirty="0"/>
          </a:p>
        </p:txBody>
      </p:sp>
      <p:sp>
        <p:nvSpPr>
          <p:cNvPr id="15" name="Text 13"/>
          <p:cNvSpPr/>
          <p:nvPr/>
        </p:nvSpPr>
        <p:spPr>
          <a:xfrm>
            <a:off x="4562856" y="3017520"/>
            <a:ext cx="3063240" cy="1755648"/>
          </a:xfrm>
          <a:prstGeom prst="rect">
            <a:avLst/>
          </a:prstGeom>
          <a:noFill/>
          <a:ln/>
        </p:spPr>
        <p:txBody>
          <a:bodyPr wrap="square" lIns="0" tIns="0" rIns="0" bIns="0" rtlCol="0" anchor="t"/>
          <a:lstStyle/>
          <a:p>
            <a:pPr indent="0" marL="0">
              <a:lnSpc>
                <a:spcPct val="114000"/>
              </a:lnSpc>
              <a:buNone/>
            </a:pPr>
            <a:r>
              <a:rPr lang="en-US" sz="950" dirty="0">
                <a:solidFill>
                  <a:srgbClr val="22303D"/>
                </a:solidFill>
                <a:latin typeface="Calibri" pitchFamily="34" charset="0"/>
                <a:ea typeface="Calibri" pitchFamily="34" charset="-122"/>
                <a:cs typeface="Calibri" pitchFamily="34" charset="-120"/>
              </a:rPr>
              <a:t>转座酶可及染色质测序（assay for transposase-accessible chromatin sequencing，ATAC-seq）联合转录组测序（RNA-seq），3–4 名供者，先确定改变所处的层面：ATAC-seq 存在稳定改变 → 机制位于染色质层面，同批 RNA-seq 提供候选基因；ATAC-seq 无改变 → 机制位于蛋白或代谢层面，直接进行磷酸化蛋白质组学。</a:t>
            </a:r>
            <a:endParaRPr lang="en-US" sz="950" dirty="0"/>
          </a:p>
          <a:p>
            <a:pPr indent="0" marL="0">
              <a:lnSpc>
                <a:spcPct val="114000"/>
              </a:lnSpc>
              <a:buNone/>
            </a:pPr>
            <a:endParaRPr lang="en-US" sz="950" dirty="0"/>
          </a:p>
          <a:p>
            <a:pPr indent="0" marL="0">
              <a:lnSpc>
                <a:spcPct val="114000"/>
              </a:lnSpc>
              <a:buNone/>
            </a:pPr>
            <a:r>
              <a:rPr lang="en-US" sz="950" dirty="0">
                <a:solidFill>
                  <a:srgbClr val="22303D"/>
                </a:solidFill>
                <a:latin typeface="Calibri" pitchFamily="34" charset="0"/>
                <a:ea typeface="Calibri" pitchFamily="34" charset="-122"/>
                <a:cs typeface="Calibri" pitchFamily="34" charset="-120"/>
              </a:rPr>
              <a:t>极化过程主要受翻译后调控（膜转位、GTP 酶开关状态、马达蛋白招募），故转录水平改变仅可用于候选排序，不可用于排除通路。</a:t>
            </a:r>
            <a:endParaRPr lang="en-US" sz="950" dirty="0"/>
          </a:p>
        </p:txBody>
      </p:sp>
      <p:sp>
        <p:nvSpPr>
          <p:cNvPr id="16" name="Shape 14"/>
          <p:cNvSpPr/>
          <p:nvPr/>
        </p:nvSpPr>
        <p:spPr>
          <a:xfrm>
            <a:off x="8138160" y="2395728"/>
            <a:ext cx="3502152" cy="2487168"/>
          </a:xfrm>
          <a:prstGeom prst="roundRect">
            <a:avLst>
              <a:gd name="adj" fmla="val 2206"/>
            </a:avLst>
          </a:prstGeom>
          <a:solidFill>
            <a:srgbClr val="FFFFFF"/>
          </a:solidFill>
          <a:ln w="17780">
            <a:solidFill>
              <a:srgbClr val="8A5A12"/>
            </a:solidFill>
            <a:prstDash val="solid"/>
          </a:ln>
        </p:spPr>
      </p:sp>
      <p:sp>
        <p:nvSpPr>
          <p:cNvPr id="17" name="Text 15"/>
          <p:cNvSpPr/>
          <p:nvPr/>
        </p:nvSpPr>
        <p:spPr>
          <a:xfrm>
            <a:off x="8357616" y="2523744"/>
            <a:ext cx="3063240" cy="256032"/>
          </a:xfrm>
          <a:prstGeom prst="rect">
            <a:avLst/>
          </a:prstGeom>
          <a:noFill/>
          <a:ln/>
        </p:spPr>
        <p:txBody>
          <a:bodyPr wrap="square" lIns="0" tIns="0" rIns="0" bIns="0" rtlCol="0" anchor="ctr"/>
          <a:lstStyle/>
          <a:p>
            <a:pPr indent="0" marL="0">
              <a:buNone/>
            </a:pPr>
            <a:r>
              <a:rPr lang="en-US" sz="1250" b="1" dirty="0">
                <a:solidFill>
                  <a:srgbClr val="8A5A12"/>
                </a:solidFill>
                <a:latin typeface="Cambria" pitchFamily="34" charset="0"/>
                <a:ea typeface="Cambria" pitchFamily="34" charset="-122"/>
                <a:cs typeface="Cambria" pitchFamily="34" charset="-120"/>
              </a:rPr>
              <a:t>第三层 · 定向基因编辑筛选</a:t>
            </a:r>
            <a:endParaRPr lang="en-US" sz="1250" dirty="0"/>
          </a:p>
        </p:txBody>
      </p:sp>
      <p:sp>
        <p:nvSpPr>
          <p:cNvPr id="18" name="Text 16"/>
          <p:cNvSpPr/>
          <p:nvPr/>
        </p:nvSpPr>
        <p:spPr>
          <a:xfrm>
            <a:off x="8357616" y="2779776"/>
            <a:ext cx="3063240" cy="201168"/>
          </a:xfrm>
          <a:prstGeom prst="rect">
            <a:avLst/>
          </a:prstGeom>
          <a:noFill/>
          <a:ln/>
        </p:spPr>
        <p:txBody>
          <a:bodyPr wrap="square" lIns="0" tIns="0" rIns="0" bIns="0" rtlCol="0" anchor="ctr"/>
          <a:lstStyle/>
          <a:p>
            <a:pPr indent="0" marL="0">
              <a:buNone/>
            </a:pPr>
            <a:r>
              <a:rPr lang="en-US" sz="950" dirty="0">
                <a:solidFill>
                  <a:srgbClr val="6B7683"/>
                </a:solidFill>
                <a:latin typeface="Calibri" pitchFamily="34" charset="0"/>
                <a:ea typeface="Calibri" pitchFamily="34" charset="-122"/>
                <a:cs typeface="Calibri" pitchFamily="34" charset="-120"/>
              </a:rPr>
              <a:t>仅在前两层均指向未知机制时启动</a:t>
            </a:r>
            <a:endParaRPr lang="en-US" sz="950" dirty="0"/>
          </a:p>
        </p:txBody>
      </p:sp>
      <p:sp>
        <p:nvSpPr>
          <p:cNvPr id="19" name="Text 17"/>
          <p:cNvSpPr/>
          <p:nvPr/>
        </p:nvSpPr>
        <p:spPr>
          <a:xfrm>
            <a:off x="8357616" y="3017520"/>
            <a:ext cx="3063240" cy="1755648"/>
          </a:xfrm>
          <a:prstGeom prst="rect">
            <a:avLst/>
          </a:prstGeom>
          <a:noFill/>
          <a:ln/>
        </p:spPr>
        <p:txBody>
          <a:bodyPr wrap="square" lIns="0" tIns="0" rIns="0" bIns="0" rtlCol="0" anchor="t"/>
          <a:lstStyle/>
          <a:p>
            <a:pPr indent="0" marL="0">
              <a:lnSpc>
                <a:spcPct val="114000"/>
              </a:lnSpc>
              <a:buNone/>
            </a:pPr>
            <a:r>
              <a:rPr lang="en-US" sz="950" dirty="0">
                <a:solidFill>
                  <a:srgbClr val="22303D"/>
                </a:solidFill>
                <a:latin typeface="Calibri" pitchFamily="34" charset="0"/>
                <a:ea typeface="Calibri" pitchFamily="34" charset="-122"/>
                <a:cs typeface="Calibri" pitchFamily="34" charset="-120"/>
              </a:rPr>
              <a:t>以 Cas9 核糖核蛋白复合物（Cas9 ribonucleoprotein，Cas9-RNP）在原代人 NK 细胞中筛选 50–100 个候选基因，成像作为功能读出。不进行全基因组筛选 —— 极化过程缺乏可分选的替代标志（Das &amp; Long 已证明脱颗粒与极化相互解耦），这也是该问题二十余年未获解决的技术原因。</a:t>
            </a:r>
            <a:endParaRPr lang="en-US" sz="950" dirty="0"/>
          </a:p>
        </p:txBody>
      </p:sp>
      <p:sp>
        <p:nvSpPr>
          <p:cNvPr id="20" name="Shape 18"/>
          <p:cNvSpPr/>
          <p:nvPr/>
        </p:nvSpPr>
        <p:spPr>
          <a:xfrm>
            <a:off x="548640" y="5029200"/>
            <a:ext cx="11091672" cy="1188720"/>
          </a:xfrm>
          <a:prstGeom prst="roundRect">
            <a:avLst>
              <a:gd name="adj" fmla="val 4615"/>
            </a:avLst>
          </a:prstGeom>
          <a:solidFill>
            <a:srgbClr val="FBEDEE"/>
          </a:solidFill>
          <a:ln w="17780">
            <a:solidFill>
              <a:srgbClr val="B3202C"/>
            </a:solidFill>
            <a:prstDash val="solid"/>
          </a:ln>
        </p:spPr>
      </p:sp>
      <p:sp>
        <p:nvSpPr>
          <p:cNvPr id="21" name="Text 19"/>
          <p:cNvSpPr/>
          <p:nvPr/>
        </p:nvSpPr>
        <p:spPr>
          <a:xfrm>
            <a:off x="786384" y="5148072"/>
            <a:ext cx="10616184" cy="219456"/>
          </a:xfrm>
          <a:prstGeom prst="rect">
            <a:avLst/>
          </a:prstGeom>
          <a:noFill/>
          <a:ln/>
        </p:spPr>
        <p:txBody>
          <a:bodyPr wrap="square" lIns="0" tIns="0" rIns="0" bIns="0" rtlCol="0" anchor="ctr"/>
          <a:lstStyle/>
          <a:p>
            <a:pPr indent="0" marL="0">
              <a:buNone/>
            </a:pPr>
            <a:r>
              <a:rPr lang="en-US" sz="1050" b="1" spc="60" kern="0" dirty="0">
                <a:solidFill>
                  <a:srgbClr val="B3202C"/>
                </a:solidFill>
                <a:latin typeface="Calibri" pitchFamily="34" charset="0"/>
                <a:ea typeface="Calibri" pitchFamily="34" charset="-122"/>
                <a:cs typeface="Calibri" pitchFamily="34" charset="-120"/>
              </a:rPr>
              <a:t>确立一条通路需同时满足四项判据</a:t>
            </a:r>
            <a:endParaRPr lang="en-US" sz="1050" dirty="0"/>
          </a:p>
        </p:txBody>
      </p:sp>
      <p:sp>
        <p:nvSpPr>
          <p:cNvPr id="22" name="Text 20"/>
          <p:cNvSpPr/>
          <p:nvPr/>
        </p:nvSpPr>
        <p:spPr>
          <a:xfrm>
            <a:off x="786384" y="5358384"/>
            <a:ext cx="10607040" cy="786384"/>
          </a:xfrm>
          <a:prstGeom prst="rect">
            <a:avLst/>
          </a:prstGeom>
          <a:noFill/>
          <a:ln/>
        </p:spPr>
        <p:txBody>
          <a:bodyPr wrap="square" lIns="0" tIns="0" rIns="0" bIns="0" rtlCol="0" anchor="t"/>
          <a:lstStyle/>
          <a:p>
            <a:pPr indent="0" marL="0">
              <a:lnSpc>
                <a:spcPct val="116000"/>
              </a:lnSpc>
              <a:buNone/>
            </a:pPr>
            <a:r>
              <a:rPr lang="en-US" sz="1000" b="1" dirty="0">
                <a:solidFill>
                  <a:srgbClr val="B3202C"/>
                </a:solidFill>
                <a:latin typeface="Calibri" pitchFamily="34" charset="0"/>
                <a:ea typeface="Calibri" pitchFamily="34" charset="-122"/>
                <a:cs typeface="Calibri" pitchFamily="34" charset="-120"/>
              </a:rPr>
              <a:t>必要性　</a:t>
            </a:r>
            <a:pPr indent="0" marL="0">
              <a:lnSpc>
                <a:spcPct val="116000"/>
              </a:lnSpc>
              <a:buNone/>
            </a:pPr>
            <a:r>
              <a:rPr lang="en-US" sz="1000" dirty="0">
                <a:solidFill>
                  <a:srgbClr val="22303D"/>
                </a:solidFill>
                <a:latin typeface="Calibri" pitchFamily="34" charset="0"/>
                <a:ea typeface="Calibri" pitchFamily="34" charset="-122"/>
                <a:cs typeface="Calibri" pitchFamily="34" charset="-120"/>
              </a:rPr>
              <a:t>敲除或抑制该分子后，极化恢复。　</a:t>
            </a:r>
            <a:pPr indent="0" marL="0">
              <a:lnSpc>
                <a:spcPct val="116000"/>
              </a:lnSpc>
              <a:buNone/>
            </a:pPr>
            <a:r>
              <a:rPr lang="en-US" sz="1000" b="1" dirty="0">
                <a:solidFill>
                  <a:srgbClr val="B3202C"/>
                </a:solidFill>
                <a:latin typeface="Calibri" pitchFamily="34" charset="0"/>
                <a:ea typeface="Calibri" pitchFamily="34" charset="-122"/>
                <a:cs typeface="Calibri" pitchFamily="34" charset="-120"/>
              </a:rPr>
              <a:t>充分性　</a:t>
            </a:r>
            <a:pPr indent="0" marL="0">
              <a:lnSpc>
                <a:spcPct val="116000"/>
              </a:lnSpc>
              <a:buNone/>
            </a:pPr>
            <a:r>
              <a:rPr lang="en-US" sz="1000" dirty="0">
                <a:solidFill>
                  <a:srgbClr val="22303D"/>
                </a:solidFill>
                <a:latin typeface="Calibri" pitchFamily="34" charset="0"/>
                <a:ea typeface="Calibri" pitchFamily="34" charset="-122"/>
                <a:cs typeface="Calibri" pitchFamily="34" charset="-120"/>
              </a:rPr>
              <a:t>在未处理 NK 细胞中激活该分子，即使无 TGF-β 极化亦失败 —— 此项方可确立其为该制动的执行者，而非伴随现象。
</a:t>
            </a:r>
            <a:pPr indent="0" marL="0">
              <a:lnSpc>
                <a:spcPct val="116000"/>
              </a:lnSpc>
              <a:buNone/>
            </a:pPr>
            <a:r>
              <a:rPr lang="en-US" sz="1000" b="1" dirty="0">
                <a:solidFill>
                  <a:srgbClr val="B3202C"/>
                </a:solidFill>
                <a:latin typeface="Calibri" pitchFamily="34" charset="0"/>
                <a:ea typeface="Calibri" pitchFamily="34" charset="-122"/>
                <a:cs typeface="Calibri" pitchFamily="34" charset="-120"/>
              </a:rPr>
              <a:t>位点特异性　</a:t>
            </a:r>
            <a:pPr indent="0" marL="0">
              <a:lnSpc>
                <a:spcPct val="116000"/>
              </a:lnSpc>
              <a:buNone/>
            </a:pPr>
            <a:r>
              <a:rPr lang="en-US" sz="1000" dirty="0">
                <a:solidFill>
                  <a:srgbClr val="22303D"/>
                </a:solidFill>
                <a:latin typeface="Calibri" pitchFamily="34" charset="0"/>
                <a:ea typeface="Calibri" pitchFamily="34" charset="-122"/>
                <a:cs typeface="Calibri" pitchFamily="34" charset="-120"/>
              </a:rPr>
              <a:t>仅影响 MTOC 极化，不影响其余步骤，否则应归因于细胞毒性。　</a:t>
            </a:r>
            <a:pPr indent="0" marL="0">
              <a:lnSpc>
                <a:spcPct val="116000"/>
              </a:lnSpc>
              <a:buNone/>
            </a:pPr>
            <a:r>
              <a:rPr lang="en-US" sz="1000" b="1" dirty="0">
                <a:solidFill>
                  <a:srgbClr val="B3202C"/>
                </a:solidFill>
                <a:latin typeface="Calibri" pitchFamily="34" charset="0"/>
                <a:ea typeface="Calibri" pitchFamily="34" charset="-122"/>
                <a:cs typeface="Calibri" pitchFamily="34" charset="-120"/>
              </a:rPr>
              <a:t>判定基准　</a:t>
            </a:r>
            <a:pPr indent="0" marL="0">
              <a:lnSpc>
                <a:spcPct val="116000"/>
              </a:lnSpc>
              <a:buNone/>
            </a:pPr>
            <a:r>
              <a:rPr lang="en-US" sz="1000" dirty="0">
                <a:solidFill>
                  <a:srgbClr val="22303D"/>
                </a:solidFill>
                <a:latin typeface="Calibri" pitchFamily="34" charset="0"/>
                <a:ea typeface="Calibri" pitchFamily="34" charset="-122"/>
                <a:cs typeface="Calibri" pitchFamily="34" charset="-120"/>
              </a:rPr>
              <a:t>恢复程度以第 2 组（阳性对照）的绝对数值为目标，而非与第 3 组作相对比较；同时设定细胞活力下限 —— 活力受损的细胞各步骤均会同步退化，按相对数值判定反而更易被误判为位点特异。</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64240" cy="219456"/>
          </a:xfrm>
          <a:prstGeom prst="rect">
            <a:avLst/>
          </a:prstGeom>
          <a:noFill/>
          <a:ln/>
        </p:spPr>
        <p:txBody>
          <a:bodyPr wrap="square" lIns="0" tIns="0" rIns="0" bIns="0" rtlCol="0" anchor="ctr"/>
          <a:lstStyle/>
          <a:p>
            <a:pPr indent="0" marL="0">
              <a:buNone/>
            </a:pPr>
            <a:r>
              <a:rPr lang="en-US" sz="1050" b="1" spc="100" kern="0" dirty="0">
                <a:solidFill>
                  <a:srgbClr val="B3202C"/>
                </a:solidFill>
                <a:latin typeface="Calibri" pitchFamily="34" charset="0"/>
                <a:ea typeface="Calibri" pitchFamily="34" charset="-122"/>
                <a:cs typeface="Calibri" pitchFamily="34" charset="-120"/>
              </a:rPr>
              <a:t>第四阶段</a:t>
            </a:r>
            <a:endParaRPr lang="en-US" sz="1050" dirty="0"/>
          </a:p>
        </p:txBody>
      </p:sp>
      <p:sp>
        <p:nvSpPr>
          <p:cNvPr id="3" name="Text 1"/>
          <p:cNvSpPr/>
          <p:nvPr/>
        </p:nvSpPr>
        <p:spPr>
          <a:xfrm>
            <a:off x="548640" y="475488"/>
            <a:ext cx="11064240" cy="512064"/>
          </a:xfrm>
          <a:prstGeom prst="rect">
            <a:avLst/>
          </a:prstGeom>
          <a:noFill/>
          <a:ln/>
        </p:spPr>
        <p:txBody>
          <a:bodyPr wrap="square" lIns="0" tIns="0" rIns="0" bIns="0" rtlCol="0" anchor="ctr"/>
          <a:lstStyle/>
          <a:p>
            <a:pPr indent="0" marL="0">
              <a:buNone/>
            </a:pPr>
            <a:r>
              <a:rPr lang="en-US" sz="2600" b="1" dirty="0">
                <a:solidFill>
                  <a:srgbClr val="22303D"/>
                </a:solidFill>
                <a:latin typeface="Cambria" pitchFamily="34" charset="0"/>
                <a:ea typeface="Cambria" pitchFamily="34" charset="-122"/>
                <a:cs typeface="Cambria" pitchFamily="34" charset="-120"/>
              </a:rPr>
              <a:t>原代组织 NK 细胞的两个验证臂</a:t>
            </a:r>
            <a:endParaRPr lang="en-US" sz="2600" dirty="0"/>
          </a:p>
        </p:txBody>
      </p:sp>
      <p:sp>
        <p:nvSpPr>
          <p:cNvPr id="4" name="Text 2"/>
          <p:cNvSpPr/>
          <p:nvPr/>
        </p:nvSpPr>
        <p:spPr>
          <a:xfrm>
            <a:off x="548640" y="1005840"/>
            <a:ext cx="11064240" cy="292608"/>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均采用与前两阶段完全相同的刺激方式与三项成像指标，以保证跨体系可比；性质为表型测定，不涉及疗效评价</a:t>
            </a:r>
            <a:endParaRPr lang="en-US" sz="1200" dirty="0"/>
          </a:p>
        </p:txBody>
      </p:sp>
      <p:sp>
        <p:nvSpPr>
          <p:cNvPr id="5" name="Shape 3"/>
          <p:cNvSpPr/>
          <p:nvPr/>
        </p:nvSpPr>
        <p:spPr>
          <a:xfrm>
            <a:off x="548640" y="1426464"/>
            <a:ext cx="5376672" cy="1755648"/>
          </a:xfrm>
          <a:prstGeom prst="roundRect">
            <a:avLst>
              <a:gd name="adj" fmla="val 3125"/>
            </a:avLst>
          </a:prstGeom>
          <a:solidFill>
            <a:srgbClr val="FFFFFF"/>
          </a:solidFill>
          <a:ln w="17780">
            <a:solidFill>
              <a:srgbClr val="1B6E6D"/>
            </a:solidFill>
            <a:prstDash val="solid"/>
          </a:ln>
        </p:spPr>
      </p:sp>
      <p:sp>
        <p:nvSpPr>
          <p:cNvPr id="6" name="Text 4"/>
          <p:cNvSpPr/>
          <p:nvPr/>
        </p:nvSpPr>
        <p:spPr>
          <a:xfrm>
            <a:off x="786384" y="1545336"/>
            <a:ext cx="4901184" cy="219456"/>
          </a:xfrm>
          <a:prstGeom prst="rect">
            <a:avLst/>
          </a:prstGeom>
          <a:noFill/>
          <a:ln/>
        </p:spPr>
        <p:txBody>
          <a:bodyPr wrap="square" lIns="0" tIns="0" rIns="0" bIns="0" rtlCol="0" anchor="ctr"/>
          <a:lstStyle/>
          <a:p>
            <a:pPr indent="0" marL="0">
              <a:buNone/>
            </a:pPr>
            <a:r>
              <a:rPr lang="en-US" sz="1050" b="1" spc="60" kern="0" dirty="0">
                <a:solidFill>
                  <a:srgbClr val="1B6E6D"/>
                </a:solidFill>
                <a:latin typeface="Calibri" pitchFamily="34" charset="0"/>
                <a:ea typeface="Calibri" pitchFamily="34" charset="-122"/>
                <a:cs typeface="Calibri" pitchFamily="34" charset="-120"/>
              </a:rPr>
              <a:t>臂一 · 蜕膜 NK 细胞　可与第二阶段并行，不依赖其结果</a:t>
            </a:r>
            <a:endParaRPr lang="en-US" sz="1050" dirty="0"/>
          </a:p>
        </p:txBody>
      </p:sp>
      <p:sp>
        <p:nvSpPr>
          <p:cNvPr id="7" name="Text 5"/>
          <p:cNvSpPr/>
          <p:nvPr/>
        </p:nvSpPr>
        <p:spPr>
          <a:xfrm>
            <a:off x="786384" y="1773936"/>
            <a:ext cx="4901184" cy="1335024"/>
          </a:xfrm>
          <a:prstGeom prst="rect">
            <a:avLst/>
          </a:prstGeom>
          <a:noFill/>
          <a:ln/>
        </p:spPr>
        <p:txBody>
          <a:bodyPr wrap="square" lIns="0" tIns="0" rIns="0" bIns="0" rtlCol="0" anchor="t"/>
          <a:lstStyle/>
          <a:p>
            <a:pPr indent="0" marL="0">
              <a:lnSpc>
                <a:spcPct val="120000"/>
              </a:lnSpc>
              <a:buNone/>
            </a:pPr>
            <a:r>
              <a:rPr lang="en-US" sz="1000" b="1" dirty="0">
                <a:solidFill>
                  <a:srgbClr val="6B7683"/>
                </a:solidFill>
                <a:latin typeface="Calibri" pitchFamily="34" charset="0"/>
                <a:ea typeface="Calibri" pitchFamily="34" charset="-122"/>
                <a:cs typeface="Calibri" pitchFamily="34" charset="-120"/>
              </a:rPr>
              <a:t>科学问题　</a:t>
            </a:r>
            <a:pPr indent="0" marL="0">
              <a:lnSpc>
                <a:spcPct val="120000"/>
              </a:lnSpc>
              <a:buNone/>
            </a:pPr>
            <a:r>
              <a:rPr lang="en-US" sz="1000" dirty="0">
                <a:solidFill>
                  <a:srgbClr val="22303D"/>
                </a:solidFill>
                <a:latin typeface="Calibri" pitchFamily="34" charset="0"/>
                <a:ea typeface="Calibri" pitchFamily="34" charset="-122"/>
                <a:cs typeface="Calibri" pitchFamily="34" charset="-120"/>
              </a:rPr>
              <a:t>在零抑制性配体条件下重做 Kopcow 2005 —— 直接判定其结果属 A 类还是 B 类。
</a:t>
            </a:r>
            <a:pPr indent="0" marL="0">
              <a:lnSpc>
                <a:spcPct val="120000"/>
              </a:lnSpc>
              <a:buNone/>
            </a:pPr>
            <a:r>
              <a:rPr lang="en-US" sz="1000" b="1" dirty="0">
                <a:solidFill>
                  <a:srgbClr val="1B6E6D"/>
                </a:solidFill>
                <a:latin typeface="Calibri" pitchFamily="34" charset="0"/>
                <a:ea typeface="Calibri" pitchFamily="34" charset="-122"/>
                <a:cs typeface="Calibri" pitchFamily="34" charset="-120"/>
              </a:rPr>
              <a:t>为何重要　</a:t>
            </a:r>
            <a:pPr indent="0" marL="0">
              <a:lnSpc>
                <a:spcPct val="120000"/>
              </a:lnSpc>
              <a:buNone/>
            </a:pPr>
            <a:r>
              <a:rPr lang="en-US" sz="1000" b="1" dirty="0">
                <a:solidFill>
                  <a:srgbClr val="1B6E6D"/>
                </a:solidFill>
                <a:latin typeface="Calibri" pitchFamily="34" charset="0"/>
                <a:ea typeface="Calibri" pitchFamily="34" charset="-122"/>
                <a:cs typeface="Calibri" pitchFamily="34" charset="-120"/>
              </a:rPr>
              <a:t>该判定是本课题分类体系所依赖的问题。本臂无需诱导、不使用转化生长因子-β，因而不受诱导条件的混杂影响。
</a:t>
            </a:r>
            <a:pPr indent="0" marL="0">
              <a:lnSpc>
                <a:spcPct val="120000"/>
              </a:lnSpc>
              <a:buNone/>
            </a:pPr>
            <a:r>
              <a:rPr lang="en-US" sz="1000" b="1" dirty="0">
                <a:solidFill>
                  <a:srgbClr val="6B7683"/>
                </a:solidFill>
                <a:latin typeface="Calibri" pitchFamily="34" charset="0"/>
                <a:ea typeface="Calibri" pitchFamily="34" charset="-122"/>
                <a:cs typeface="Calibri" pitchFamily="34" charset="-120"/>
              </a:rPr>
              <a:t>局限　</a:t>
            </a:r>
            <a:pPr indent="0" marL="0">
              <a:lnSpc>
                <a:spcPct val="120000"/>
              </a:lnSpc>
              <a:buNone/>
            </a:pPr>
            <a:r>
              <a:rPr lang="en-US" sz="1000" dirty="0">
                <a:solidFill>
                  <a:srgbClr val="22303D"/>
                </a:solidFill>
                <a:latin typeface="Calibri" pitchFamily="34" charset="0"/>
                <a:ea typeface="Calibri" pitchFamily="34" charset="-122"/>
                <a:cs typeface="Calibri" pitchFamily="34" charset="-120"/>
              </a:rPr>
              <a:t>蜕膜 NK 细胞无诱导物可撤，故不能回答「可诱导、可携带」这一半，第二阶段的诱导臂仍属必需。</a:t>
            </a:r>
            <a:endParaRPr lang="en-US" sz="1000" dirty="0"/>
          </a:p>
        </p:txBody>
      </p:sp>
      <p:sp>
        <p:nvSpPr>
          <p:cNvPr id="8" name="Shape 6"/>
          <p:cNvSpPr/>
          <p:nvPr/>
        </p:nvSpPr>
        <p:spPr>
          <a:xfrm>
            <a:off x="548640" y="3310128"/>
            <a:ext cx="5376672" cy="1700784"/>
          </a:xfrm>
          <a:prstGeom prst="roundRect">
            <a:avLst>
              <a:gd name="adj" fmla="val 3226"/>
            </a:avLst>
          </a:prstGeom>
          <a:solidFill>
            <a:srgbClr val="FFFFFF"/>
          </a:solidFill>
          <a:ln w="17780">
            <a:solidFill>
              <a:srgbClr val="B3202C"/>
            </a:solidFill>
            <a:prstDash val="solid"/>
          </a:ln>
        </p:spPr>
      </p:sp>
      <p:sp>
        <p:nvSpPr>
          <p:cNvPr id="9" name="Text 7"/>
          <p:cNvSpPr/>
          <p:nvPr/>
        </p:nvSpPr>
        <p:spPr>
          <a:xfrm>
            <a:off x="786384" y="3429000"/>
            <a:ext cx="4901184" cy="219456"/>
          </a:xfrm>
          <a:prstGeom prst="rect">
            <a:avLst/>
          </a:prstGeom>
          <a:noFill/>
          <a:ln/>
        </p:spPr>
        <p:txBody>
          <a:bodyPr wrap="square" lIns="0" tIns="0" rIns="0" bIns="0" rtlCol="0" anchor="ctr"/>
          <a:lstStyle/>
          <a:p>
            <a:pPr indent="0" marL="0">
              <a:buNone/>
            </a:pPr>
            <a:r>
              <a:rPr lang="en-US" sz="1050" b="1" spc="60" kern="0" dirty="0">
                <a:solidFill>
                  <a:srgbClr val="B3202C"/>
                </a:solidFill>
                <a:latin typeface="Calibri" pitchFamily="34" charset="0"/>
                <a:ea typeface="Calibri" pitchFamily="34" charset="-122"/>
                <a:cs typeface="Calibri" pitchFamily="34" charset="-120"/>
              </a:rPr>
              <a:t>臂二 · 肿瘤浸润 NK 细胞　条件性，体外确立后启动</a:t>
            </a:r>
            <a:endParaRPr lang="en-US" sz="1050" dirty="0"/>
          </a:p>
        </p:txBody>
      </p:sp>
      <p:sp>
        <p:nvSpPr>
          <p:cNvPr id="10" name="Text 8"/>
          <p:cNvSpPr/>
          <p:nvPr/>
        </p:nvSpPr>
        <p:spPr>
          <a:xfrm>
            <a:off x="786384" y="3657600"/>
            <a:ext cx="4901184" cy="1280160"/>
          </a:xfrm>
          <a:prstGeom prst="rect">
            <a:avLst/>
          </a:prstGeom>
          <a:noFill/>
          <a:ln/>
        </p:spPr>
        <p:txBody>
          <a:bodyPr wrap="square" lIns="0" tIns="0" rIns="0" bIns="0" rtlCol="0" anchor="t"/>
          <a:lstStyle/>
          <a:p>
            <a:pPr indent="0" marL="0">
              <a:lnSpc>
                <a:spcPct val="120000"/>
              </a:lnSpc>
              <a:buNone/>
            </a:pPr>
            <a:r>
              <a:rPr lang="en-US" sz="1000" b="1" dirty="0">
                <a:solidFill>
                  <a:srgbClr val="6B7683"/>
                </a:solidFill>
                <a:latin typeface="Calibri" pitchFamily="34" charset="0"/>
                <a:ea typeface="Calibri" pitchFamily="34" charset="-122"/>
                <a:cs typeface="Calibri" pitchFamily="34" charset="-120"/>
              </a:rPr>
              <a:t>科学问题　</a:t>
            </a:r>
            <a:pPr indent="0" marL="0">
              <a:lnSpc>
                <a:spcPct val="120000"/>
              </a:lnSpc>
              <a:buNone/>
            </a:pPr>
            <a:r>
              <a:rPr lang="en-US" sz="1000" dirty="0">
                <a:solidFill>
                  <a:srgbClr val="22303D"/>
                </a:solidFill>
                <a:latin typeface="Calibri" pitchFamily="34" charset="0"/>
                <a:ea typeface="Calibri" pitchFamily="34" charset="-122"/>
                <a:cs typeface="Calibri" pitchFamily="34" charset="-120"/>
              </a:rPr>
              <a:t>肿瘤浸润 NK 细胞是否携带同一形式的持久性制动。
</a:t>
            </a:r>
            <a:pPr indent="0" marL="0">
              <a:lnSpc>
                <a:spcPct val="120000"/>
              </a:lnSpc>
              <a:buNone/>
            </a:pPr>
            <a:r>
              <a:rPr lang="en-US" sz="1000" b="1" dirty="0">
                <a:solidFill>
                  <a:srgbClr val="6B7683"/>
                </a:solidFill>
                <a:latin typeface="Calibri" pitchFamily="34" charset="0"/>
                <a:ea typeface="Calibri" pitchFamily="34" charset="-122"/>
                <a:cs typeface="Calibri" pitchFamily="34" charset="-120"/>
              </a:rPr>
              <a:t>实验材料　</a:t>
            </a:r>
            <a:pPr indent="0" marL="0">
              <a:lnSpc>
                <a:spcPct val="120000"/>
              </a:lnSpc>
              <a:buNone/>
            </a:pPr>
            <a:r>
              <a:rPr lang="en-US" sz="1000" dirty="0">
                <a:solidFill>
                  <a:srgbClr val="22303D"/>
                </a:solidFill>
                <a:latin typeface="Calibri" pitchFamily="34" charset="0"/>
                <a:ea typeface="Calibri" pitchFamily="34" charset="-122"/>
                <a:cs typeface="Calibri" pitchFamily="34" charset="-120"/>
              </a:rPr>
              <a:t>小鼠 MC38 结肠癌模型的肿瘤浸润 NK 细胞（分选 NK1.1 阳性、CD3ε 阴性）；条件允许时补充人手术标本来源的肿瘤浸润 NK 细胞，非必需项。
</a:t>
            </a:r>
            <a:pPr indent="0" marL="0">
              <a:lnSpc>
                <a:spcPct val="120000"/>
              </a:lnSpc>
              <a:buNone/>
            </a:pPr>
            <a:r>
              <a:rPr lang="en-US" sz="1000" b="1" dirty="0">
                <a:solidFill>
                  <a:srgbClr val="1B6E6D"/>
                </a:solidFill>
                <a:latin typeface="Calibri" pitchFamily="34" charset="0"/>
                <a:ea typeface="Calibri" pitchFamily="34" charset="-122"/>
                <a:cs typeface="Calibri" pitchFamily="34" charset="-120"/>
              </a:rPr>
              <a:t>一项低成本的间接判据　</a:t>
            </a:r>
            <a:pPr indent="0" marL="0">
              <a:lnSpc>
                <a:spcPct val="120000"/>
              </a:lnSpc>
              <a:buNone/>
            </a:pPr>
            <a:r>
              <a:rPr lang="en-US" sz="1000" dirty="0">
                <a:solidFill>
                  <a:srgbClr val="22303D"/>
                </a:solidFill>
                <a:latin typeface="Calibri" pitchFamily="34" charset="0"/>
                <a:ea typeface="Calibri" pitchFamily="34" charset="-122"/>
                <a:cs typeface="Calibri" pitchFamily="34" charset="-120"/>
              </a:rPr>
              <a:t>A 类抑制条件下脱颗粒过程保留（Das &amp; Long）。若肿瘤浸润 NK 细胞的脱颗粒同步下降，则超出 A 类可解释的范围，间接支持持久性制动的存在。</a:t>
            </a:r>
            <a:endParaRPr lang="en-US" sz="1000" dirty="0"/>
          </a:p>
        </p:txBody>
      </p:sp>
      <p:sp>
        <p:nvSpPr>
          <p:cNvPr id="11" name="Shape 9"/>
          <p:cNvSpPr/>
          <p:nvPr/>
        </p:nvSpPr>
        <p:spPr>
          <a:xfrm>
            <a:off x="6263640" y="1426464"/>
            <a:ext cx="5376672" cy="1298448"/>
          </a:xfrm>
          <a:prstGeom prst="roundRect">
            <a:avLst>
              <a:gd name="adj" fmla="val 4225"/>
            </a:avLst>
          </a:prstGeom>
          <a:solidFill>
            <a:srgbClr val="FBEDEE"/>
          </a:solidFill>
          <a:ln w="17780">
            <a:solidFill>
              <a:srgbClr val="B3202C"/>
            </a:solidFill>
            <a:prstDash val="solid"/>
          </a:ln>
        </p:spPr>
      </p:sp>
      <p:sp>
        <p:nvSpPr>
          <p:cNvPr id="12" name="Text 10"/>
          <p:cNvSpPr/>
          <p:nvPr/>
        </p:nvSpPr>
        <p:spPr>
          <a:xfrm>
            <a:off x="6501384" y="1545336"/>
            <a:ext cx="4901184" cy="219456"/>
          </a:xfrm>
          <a:prstGeom prst="rect">
            <a:avLst/>
          </a:prstGeom>
          <a:noFill/>
          <a:ln/>
        </p:spPr>
        <p:txBody>
          <a:bodyPr wrap="square" lIns="0" tIns="0" rIns="0" bIns="0" rtlCol="0" anchor="ctr"/>
          <a:lstStyle/>
          <a:p>
            <a:pPr indent="0" marL="0">
              <a:buNone/>
            </a:pPr>
            <a:r>
              <a:rPr lang="en-US" sz="1050" b="1" spc="60" kern="0" dirty="0">
                <a:solidFill>
                  <a:srgbClr val="B3202C"/>
                </a:solidFill>
                <a:latin typeface="Calibri" pitchFamily="34" charset="0"/>
                <a:ea typeface="Calibri" pitchFamily="34" charset="-122"/>
                <a:cs typeface="Calibri" pitchFamily="34" charset="-120"/>
              </a:rPr>
              <a:t>关键对照 —— 本方案假阳性风险最高之处</a:t>
            </a:r>
            <a:endParaRPr lang="en-US" sz="1050" dirty="0"/>
          </a:p>
        </p:txBody>
      </p:sp>
      <p:sp>
        <p:nvSpPr>
          <p:cNvPr id="13" name="Text 11"/>
          <p:cNvSpPr/>
          <p:nvPr/>
        </p:nvSpPr>
        <p:spPr>
          <a:xfrm>
            <a:off x="6501384" y="1773936"/>
            <a:ext cx="4901184" cy="896112"/>
          </a:xfrm>
          <a:prstGeom prst="rect">
            <a:avLst/>
          </a:prstGeom>
          <a:noFill/>
          <a:ln/>
        </p:spPr>
        <p:txBody>
          <a:bodyPr wrap="square" lIns="0" tIns="0" rIns="0" bIns="0" rtlCol="0" anchor="t"/>
          <a:lstStyle/>
          <a:p>
            <a:pPr indent="0" marL="0">
              <a:lnSpc>
                <a:spcPct val="116000"/>
              </a:lnSpc>
              <a:buNone/>
            </a:pPr>
            <a:r>
              <a:rPr lang="en-US" sz="1000" b="1" dirty="0">
                <a:solidFill>
                  <a:srgbClr val="22303D"/>
                </a:solidFill>
                <a:latin typeface="Calibri" pitchFamily="34" charset="0"/>
                <a:ea typeface="Calibri" pitchFamily="34" charset="-122"/>
                <a:cs typeface="Calibri" pitchFamily="34" charset="-120"/>
              </a:rPr>
              <a:t>健康外周血 NK 细胞经完全相同的组织消化与分选流程处理后，极化须仍然正常。两臂均适用。</a:t>
            </a:r>
            <a:pPr indent="0" marL="0">
              <a:lnSpc>
                <a:spcPct val="116000"/>
              </a:lnSpc>
              <a:buNone/>
            </a:pPr>
            <a:r>
              <a:rPr lang="en-US" sz="1000" dirty="0">
                <a:solidFill>
                  <a:srgbClr val="22303D"/>
                </a:solidFill>
                <a:latin typeface="Calibri" pitchFamily="34" charset="0"/>
                <a:ea typeface="Calibri" pitchFamily="34" charset="-122"/>
                <a:cs typeface="Calibri" pitchFamily="34" charset="-120"/>
              </a:rPr>
              <a:t>以绝对数值判定，不采用比值 —— 否则所测得的可能是操作性损伤而非组织内的真实表型；而操作性损伤的方向恰与预期阳性结果一致。</a:t>
            </a:r>
            <a:endParaRPr lang="en-US" sz="1000" dirty="0"/>
          </a:p>
        </p:txBody>
      </p:sp>
      <p:sp>
        <p:nvSpPr>
          <p:cNvPr id="14" name="Shape 12"/>
          <p:cNvSpPr/>
          <p:nvPr/>
        </p:nvSpPr>
        <p:spPr>
          <a:xfrm>
            <a:off x="6263640" y="2852928"/>
            <a:ext cx="5376672" cy="877824"/>
          </a:xfrm>
          <a:prstGeom prst="roundRect">
            <a:avLst>
              <a:gd name="adj" fmla="val 6250"/>
            </a:avLst>
          </a:prstGeom>
          <a:solidFill>
            <a:srgbClr val="F1F4F6"/>
          </a:solidFill>
          <a:ln w="12700">
            <a:solidFill>
              <a:srgbClr val="D8DEE4"/>
            </a:solidFill>
            <a:prstDash val="solid"/>
          </a:ln>
        </p:spPr>
      </p:sp>
      <p:sp>
        <p:nvSpPr>
          <p:cNvPr id="15" name="Text 13"/>
          <p:cNvSpPr/>
          <p:nvPr/>
        </p:nvSpPr>
        <p:spPr>
          <a:xfrm>
            <a:off x="6501384" y="2971800"/>
            <a:ext cx="4901184" cy="219456"/>
          </a:xfrm>
          <a:prstGeom prst="rect">
            <a:avLst/>
          </a:prstGeom>
          <a:noFill/>
          <a:ln/>
        </p:spPr>
        <p:txBody>
          <a:bodyPr wrap="square" lIns="0" tIns="0" rIns="0" bIns="0" rtlCol="0" anchor="ctr"/>
          <a:lstStyle/>
          <a:p>
            <a:pPr indent="0" marL="0">
              <a:buNone/>
            </a:pPr>
            <a:r>
              <a:rPr lang="en-US" sz="1050" b="1" spc="60" kern="0" dirty="0">
                <a:solidFill>
                  <a:srgbClr val="6B7683"/>
                </a:solidFill>
                <a:latin typeface="Calibri" pitchFamily="34" charset="0"/>
                <a:ea typeface="Calibri" pitchFamily="34" charset="-122"/>
                <a:cs typeface="Calibri" pitchFamily="34" charset="-120"/>
              </a:rPr>
              <a:t>检测方式</a:t>
            </a:r>
            <a:endParaRPr lang="en-US" sz="1050" dirty="0"/>
          </a:p>
        </p:txBody>
      </p:sp>
      <p:sp>
        <p:nvSpPr>
          <p:cNvPr id="16" name="Text 14"/>
          <p:cNvSpPr/>
          <p:nvPr/>
        </p:nvSpPr>
        <p:spPr>
          <a:xfrm>
            <a:off x="6501384" y="3163824"/>
            <a:ext cx="4901184" cy="512064"/>
          </a:xfrm>
          <a:prstGeom prst="rect">
            <a:avLst/>
          </a:prstGeom>
          <a:noFill/>
          <a:ln/>
        </p:spPr>
        <p:txBody>
          <a:bodyPr wrap="square" lIns="0" tIns="0" rIns="0" bIns="0" rtlCol="0" anchor="t"/>
          <a:lstStyle/>
          <a:p>
            <a:pPr indent="0" marL="0">
              <a:lnSpc>
                <a:spcPct val="118000"/>
              </a:lnSpc>
              <a:buNone/>
            </a:pPr>
            <a:r>
              <a:rPr lang="en-US" sz="1000" dirty="0">
                <a:solidFill>
                  <a:srgbClr val="22303D"/>
                </a:solidFill>
                <a:latin typeface="Calibri" pitchFamily="34" charset="0"/>
                <a:ea typeface="Calibri" pitchFamily="34" charset="-122"/>
                <a:cs typeface="Calibri" pitchFamily="34" charset="-120"/>
              </a:rPr>
              <a:t>原代组织 NK 细胞数量稀少，采用成像流式细胞术在数千细胞量级上给出相同的三项指标。设备非限制因素，取材量为主要限制。</a:t>
            </a:r>
            <a:endParaRPr lang="en-US" sz="1000" dirty="0"/>
          </a:p>
        </p:txBody>
      </p:sp>
      <p:sp>
        <p:nvSpPr>
          <p:cNvPr id="17" name="Shape 15"/>
          <p:cNvSpPr/>
          <p:nvPr/>
        </p:nvSpPr>
        <p:spPr>
          <a:xfrm>
            <a:off x="6263640" y="3858768"/>
            <a:ext cx="5376672" cy="1152144"/>
          </a:xfrm>
          <a:prstGeom prst="roundRect">
            <a:avLst>
              <a:gd name="adj" fmla="val 4762"/>
            </a:avLst>
          </a:prstGeom>
          <a:solidFill>
            <a:srgbClr val="FFFFFF"/>
          </a:solidFill>
          <a:ln w="17780">
            <a:solidFill>
              <a:srgbClr val="4A3A72"/>
            </a:solidFill>
            <a:prstDash val="solid"/>
          </a:ln>
        </p:spPr>
      </p:sp>
      <p:sp>
        <p:nvSpPr>
          <p:cNvPr id="18" name="Text 16"/>
          <p:cNvSpPr/>
          <p:nvPr/>
        </p:nvSpPr>
        <p:spPr>
          <a:xfrm>
            <a:off x="6501384" y="3977640"/>
            <a:ext cx="4901184" cy="219456"/>
          </a:xfrm>
          <a:prstGeom prst="rect">
            <a:avLst/>
          </a:prstGeom>
          <a:noFill/>
          <a:ln/>
        </p:spPr>
        <p:txBody>
          <a:bodyPr wrap="square" lIns="0" tIns="0" rIns="0" bIns="0" rtlCol="0" anchor="ctr"/>
          <a:lstStyle/>
          <a:p>
            <a:pPr indent="0" marL="0">
              <a:buNone/>
            </a:pPr>
            <a:r>
              <a:rPr lang="en-US" sz="1050" b="1" spc="60" kern="0" dirty="0">
                <a:solidFill>
                  <a:srgbClr val="4A3A72"/>
                </a:solidFill>
                <a:latin typeface="Calibri" pitchFamily="34" charset="0"/>
                <a:ea typeface="Calibri" pitchFamily="34" charset="-122"/>
                <a:cs typeface="Calibri" pitchFamily="34" charset="-120"/>
              </a:rPr>
              <a:t>延伸 · 体内恢复实验　条件性，需先经第三阶段确定分子</a:t>
            </a:r>
            <a:endParaRPr lang="en-US" sz="1050" dirty="0"/>
          </a:p>
        </p:txBody>
      </p:sp>
      <p:sp>
        <p:nvSpPr>
          <p:cNvPr id="19" name="Text 17"/>
          <p:cNvSpPr/>
          <p:nvPr/>
        </p:nvSpPr>
        <p:spPr>
          <a:xfrm>
            <a:off x="6501384" y="4187952"/>
            <a:ext cx="4901184" cy="768096"/>
          </a:xfrm>
          <a:prstGeom prst="rect">
            <a:avLst/>
          </a:prstGeom>
          <a:noFill/>
          <a:ln/>
        </p:spPr>
        <p:txBody>
          <a:bodyPr wrap="square" lIns="0" tIns="0" rIns="0" bIns="0" rtlCol="0" anchor="t"/>
          <a:lstStyle/>
          <a:p>
            <a:pPr indent="0" marL="0">
              <a:lnSpc>
                <a:spcPct val="118000"/>
              </a:lnSpc>
              <a:buNone/>
            </a:pPr>
            <a:r>
              <a:rPr lang="en-US" sz="1000" dirty="0">
                <a:solidFill>
                  <a:srgbClr val="22303D"/>
                </a:solidFill>
                <a:latin typeface="Calibri" pitchFamily="34" charset="0"/>
                <a:ea typeface="Calibri" pitchFamily="34" charset="-122"/>
                <a:cs typeface="Calibri" pitchFamily="34" charset="-120"/>
              </a:rPr>
              <a:t>在小鼠模型中干预该分子，考察极化是否恢复、杀伤是否恢复、肿瘤是否受控。
</a:t>
            </a:r>
            <a:pPr indent="0" marL="0">
              <a:lnSpc>
                <a:spcPct val="118000"/>
              </a:lnSpc>
              <a:buNone/>
            </a:pPr>
            <a:r>
              <a:rPr lang="en-US" sz="1000" b="1" dirty="0">
                <a:solidFill>
                  <a:srgbClr val="4A3A72"/>
                </a:solidFill>
                <a:latin typeface="Calibri" pitchFamily="34" charset="0"/>
                <a:ea typeface="Calibri" pitchFamily="34" charset="-122"/>
                <a:cs typeface="Calibri" pitchFamily="34" charset="-120"/>
              </a:rPr>
              <a:t>这一臂是「表型描述」与「因果证明」的分界：</a:t>
            </a:r>
            <a:pPr indent="0" marL="0">
              <a:lnSpc>
                <a:spcPct val="118000"/>
              </a:lnSpc>
              <a:buNone/>
            </a:pPr>
            <a:r>
              <a:rPr lang="en-US" sz="1000" dirty="0">
                <a:solidFill>
                  <a:srgbClr val="22303D"/>
                </a:solidFill>
                <a:latin typeface="Calibri" pitchFamily="34" charset="0"/>
                <a:ea typeface="Calibri" pitchFamily="34" charset="-122"/>
                <a:cs typeface="Calibri" pitchFamily="34" charset="-120"/>
              </a:rPr>
              <a:t>缺少它，结论止于「存在这样一类制动」；具备它，结论才是「解除该制动可恢复 NK 细胞的体内功能」。</a:t>
            </a:r>
            <a:endParaRPr lang="en-US" sz="1000" dirty="0"/>
          </a:p>
        </p:txBody>
      </p:sp>
      <p:sp>
        <p:nvSpPr>
          <p:cNvPr id="20" name="Text 18"/>
          <p:cNvSpPr/>
          <p:nvPr/>
        </p:nvSpPr>
        <p:spPr>
          <a:xfrm>
            <a:off x="548640" y="5230368"/>
            <a:ext cx="11091672" cy="256032"/>
          </a:xfrm>
          <a:prstGeom prst="rect">
            <a:avLst/>
          </a:prstGeom>
          <a:noFill/>
          <a:ln/>
        </p:spPr>
        <p:txBody>
          <a:bodyPr wrap="square" lIns="0" tIns="0" rIns="0" bIns="0" rtlCol="0" anchor="ctr"/>
          <a:lstStyle/>
          <a:p>
            <a:pPr indent="0" marL="0">
              <a:lnSpc>
                <a:spcPct val="118000"/>
              </a:lnSpc>
              <a:buNone/>
            </a:pPr>
            <a:r>
              <a:rPr lang="en-US" sz="1000" b="1" dirty="0">
                <a:solidFill>
                  <a:srgbClr val="6B7683"/>
                </a:solidFill>
                <a:latin typeface="Calibri" pitchFamily="34" charset="0"/>
                <a:ea typeface="Calibri" pitchFamily="34" charset="-122"/>
                <a:cs typeface="Calibri" pitchFamily="34" charset="-120"/>
              </a:rPr>
              <a:t>本页两臂互相独立：蜕膜 NK 臂回答分类问题，肿瘤浸润 NK 臂回答场景问题。前者不依赖第二阶段，可提前启动。</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64240" cy="219456"/>
          </a:xfrm>
          <a:prstGeom prst="rect">
            <a:avLst/>
          </a:prstGeom>
          <a:noFill/>
          <a:ln/>
        </p:spPr>
        <p:txBody>
          <a:bodyPr wrap="square" lIns="0" tIns="0" rIns="0" bIns="0" rtlCol="0" anchor="ctr"/>
          <a:lstStyle/>
          <a:p>
            <a:pPr indent="0" marL="0">
              <a:buNone/>
            </a:pPr>
            <a:r>
              <a:rPr lang="en-US" sz="1050" b="1" spc="100" kern="0" dirty="0">
                <a:solidFill>
                  <a:srgbClr val="B3202C"/>
                </a:solidFill>
                <a:latin typeface="Calibri" pitchFamily="34" charset="0"/>
                <a:ea typeface="Calibri" pitchFamily="34" charset="-122"/>
                <a:cs typeface="Calibri" pitchFamily="34" charset="-120"/>
              </a:rPr>
              <a:t>研究路线</a:t>
            </a:r>
            <a:endParaRPr lang="en-US" sz="1050" dirty="0"/>
          </a:p>
        </p:txBody>
      </p:sp>
      <p:sp>
        <p:nvSpPr>
          <p:cNvPr id="3" name="Text 1"/>
          <p:cNvSpPr/>
          <p:nvPr/>
        </p:nvSpPr>
        <p:spPr>
          <a:xfrm>
            <a:off x="548640" y="475488"/>
            <a:ext cx="11064240" cy="512064"/>
          </a:xfrm>
          <a:prstGeom prst="rect">
            <a:avLst/>
          </a:prstGeom>
          <a:noFill/>
          <a:ln/>
        </p:spPr>
        <p:txBody>
          <a:bodyPr wrap="square" lIns="0" tIns="0" rIns="0" bIns="0" rtlCol="0" anchor="ctr"/>
          <a:lstStyle/>
          <a:p>
            <a:pPr indent="0" marL="0">
              <a:buNone/>
            </a:pPr>
            <a:r>
              <a:rPr lang="en-US" sz="2600" b="1" dirty="0">
                <a:solidFill>
                  <a:srgbClr val="22303D"/>
                </a:solidFill>
                <a:latin typeface="Cambria" pitchFamily="34" charset="0"/>
                <a:ea typeface="Cambria" pitchFamily="34" charset="-122"/>
                <a:cs typeface="Cambria" pitchFamily="34" charset="-120"/>
              </a:rPr>
              <a:t>四个阶段与阶段间准入条件</a:t>
            </a:r>
            <a:endParaRPr lang="en-US" sz="2600" dirty="0"/>
          </a:p>
        </p:txBody>
      </p:sp>
      <p:sp>
        <p:nvSpPr>
          <p:cNvPr id="4" name="Text 2"/>
          <p:cNvSpPr/>
          <p:nvPr/>
        </p:nvSpPr>
        <p:spPr>
          <a:xfrm>
            <a:off x="548640" y="1005840"/>
            <a:ext cx="11064240" cy="292608"/>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各阶段之间设明确准入条件，未达到者不进入下一阶段；具体进度安排见标准操作规程</a:t>
            </a:r>
            <a:endParaRPr lang="en-US" sz="1200" dirty="0"/>
          </a:p>
        </p:txBody>
      </p:sp>
      <p:sp>
        <p:nvSpPr>
          <p:cNvPr id="5" name="Shape 3"/>
          <p:cNvSpPr/>
          <p:nvPr/>
        </p:nvSpPr>
        <p:spPr>
          <a:xfrm>
            <a:off x="548640" y="1444752"/>
            <a:ext cx="11091672" cy="841248"/>
          </a:xfrm>
          <a:prstGeom prst="roundRect">
            <a:avLst>
              <a:gd name="adj" fmla="val 6522"/>
            </a:avLst>
          </a:prstGeom>
          <a:solidFill>
            <a:srgbClr val="FFFFFF"/>
          </a:solidFill>
          <a:ln w="17780">
            <a:solidFill>
              <a:srgbClr val="6B7683"/>
            </a:solidFill>
            <a:prstDash val="solid"/>
          </a:ln>
        </p:spPr>
      </p:sp>
      <p:sp>
        <p:nvSpPr>
          <p:cNvPr id="6" name="Shape 4"/>
          <p:cNvSpPr/>
          <p:nvPr/>
        </p:nvSpPr>
        <p:spPr>
          <a:xfrm>
            <a:off x="786384" y="1664208"/>
            <a:ext cx="402336" cy="402336"/>
          </a:xfrm>
          <a:prstGeom prst="ellipse">
            <a:avLst/>
          </a:prstGeom>
          <a:solidFill>
            <a:srgbClr val="6B7683"/>
          </a:solidFill>
          <a:ln w="12700">
            <a:solidFill>
              <a:srgbClr val="6B7683"/>
            </a:solidFill>
            <a:prstDash val="solid"/>
          </a:ln>
        </p:spPr>
      </p:sp>
      <p:sp>
        <p:nvSpPr>
          <p:cNvPr id="7" name="Text 5"/>
          <p:cNvSpPr/>
          <p:nvPr/>
        </p:nvSpPr>
        <p:spPr>
          <a:xfrm>
            <a:off x="786384" y="16642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一</a:t>
            </a:r>
            <a:endParaRPr lang="en-US" sz="1500" dirty="0"/>
          </a:p>
        </p:txBody>
      </p:sp>
      <p:sp>
        <p:nvSpPr>
          <p:cNvPr id="8" name="Text 6"/>
          <p:cNvSpPr/>
          <p:nvPr/>
        </p:nvSpPr>
        <p:spPr>
          <a:xfrm>
            <a:off x="1353312" y="1591056"/>
            <a:ext cx="4754880" cy="274320"/>
          </a:xfrm>
          <a:prstGeom prst="rect">
            <a:avLst/>
          </a:prstGeom>
          <a:noFill/>
          <a:ln/>
        </p:spPr>
        <p:txBody>
          <a:bodyPr wrap="square" lIns="0" tIns="0" rIns="0" bIns="0" rtlCol="0" anchor="ctr"/>
          <a:lstStyle/>
          <a:p>
            <a:pPr indent="0" marL="0">
              <a:buNone/>
            </a:pPr>
            <a:r>
              <a:rPr lang="en-US" sz="1400" b="1" dirty="0">
                <a:solidFill>
                  <a:srgbClr val="6B7683"/>
                </a:solidFill>
                <a:latin typeface="Cambria" pitchFamily="34" charset="0"/>
                <a:ea typeface="Cambria" pitchFamily="34" charset="-122"/>
                <a:cs typeface="Cambria" pitchFamily="34" charset="-120"/>
              </a:rPr>
              <a:t>第 一 阶段　成像方法建立</a:t>
            </a:r>
            <a:endParaRPr lang="en-US" sz="1400" dirty="0"/>
          </a:p>
        </p:txBody>
      </p:sp>
      <p:sp>
        <p:nvSpPr>
          <p:cNvPr id="9" name="Text 7"/>
          <p:cNvSpPr/>
          <p:nvPr/>
        </p:nvSpPr>
        <p:spPr>
          <a:xfrm>
            <a:off x="1353312" y="1883664"/>
            <a:ext cx="7863840" cy="256032"/>
          </a:xfrm>
          <a:prstGeom prst="rect">
            <a:avLst/>
          </a:prstGeom>
          <a:noFill/>
          <a:ln/>
        </p:spPr>
        <p:txBody>
          <a:bodyPr wrap="square" lIns="0" tIns="0" rIns="0" bIns="0" rtlCol="0" anchor="ctr"/>
          <a:lstStyle/>
          <a:p>
            <a:pPr indent="0" marL="0">
              <a:buNone/>
            </a:pPr>
            <a:r>
              <a:rPr lang="en-US" sz="1050" dirty="0">
                <a:solidFill>
                  <a:srgbClr val="6B7683"/>
                </a:solidFill>
                <a:latin typeface="Calibri" pitchFamily="34" charset="0"/>
                <a:ea typeface="Calibri" pitchFamily="34" charset="-122"/>
                <a:cs typeface="Calibri" pitchFamily="34" charset="-120"/>
              </a:rPr>
              <a:t>NK-92 细胞株，复现 Eitler 基准</a:t>
            </a:r>
            <a:endParaRPr lang="en-US" sz="1050" dirty="0"/>
          </a:p>
        </p:txBody>
      </p:sp>
      <p:sp>
        <p:nvSpPr>
          <p:cNvPr id="10" name="Text 8"/>
          <p:cNvSpPr/>
          <p:nvPr/>
        </p:nvSpPr>
        <p:spPr>
          <a:xfrm>
            <a:off x="5669280" y="2304288"/>
            <a:ext cx="5971032" cy="219456"/>
          </a:xfrm>
          <a:prstGeom prst="rect">
            <a:avLst/>
          </a:prstGeom>
          <a:noFill/>
          <a:ln/>
        </p:spPr>
        <p:txBody>
          <a:bodyPr wrap="square" lIns="0" tIns="0" rIns="0" bIns="0" rtlCol="0" anchor="ctr"/>
          <a:lstStyle/>
          <a:p>
            <a:pPr indent="0" marL="0">
              <a:buNone/>
            </a:pPr>
            <a:r>
              <a:rPr lang="en-US" sz="950" b="1" dirty="0">
                <a:solidFill>
                  <a:srgbClr val="B3202C"/>
                </a:solidFill>
                <a:latin typeface="Calibri" pitchFamily="34" charset="0"/>
                <a:ea typeface="Calibri" pitchFamily="34" charset="-122"/>
                <a:cs typeface="Calibri" pitchFamily="34" charset="-120"/>
              </a:rPr>
              <a:t>▼　准入条件：复现出 Eitler 报告的方向性差异与绝对数值范围</a:t>
            </a:r>
            <a:endParaRPr lang="en-US" sz="950" dirty="0"/>
          </a:p>
        </p:txBody>
      </p:sp>
      <p:sp>
        <p:nvSpPr>
          <p:cNvPr id="11" name="Shape 9"/>
          <p:cNvSpPr/>
          <p:nvPr/>
        </p:nvSpPr>
        <p:spPr>
          <a:xfrm>
            <a:off x="548640" y="2523744"/>
            <a:ext cx="11091672" cy="841248"/>
          </a:xfrm>
          <a:prstGeom prst="roundRect">
            <a:avLst>
              <a:gd name="adj" fmla="val 6522"/>
            </a:avLst>
          </a:prstGeom>
          <a:solidFill>
            <a:srgbClr val="FFFFFF"/>
          </a:solidFill>
          <a:ln w="17780">
            <a:solidFill>
              <a:srgbClr val="B3202C"/>
            </a:solidFill>
            <a:prstDash val="solid"/>
          </a:ln>
        </p:spPr>
      </p:sp>
      <p:sp>
        <p:nvSpPr>
          <p:cNvPr id="12" name="Shape 10"/>
          <p:cNvSpPr/>
          <p:nvPr/>
        </p:nvSpPr>
        <p:spPr>
          <a:xfrm>
            <a:off x="786384" y="2743200"/>
            <a:ext cx="402336" cy="402336"/>
          </a:xfrm>
          <a:prstGeom prst="ellipse">
            <a:avLst/>
          </a:prstGeom>
          <a:solidFill>
            <a:srgbClr val="B3202C"/>
          </a:solidFill>
          <a:ln w="12700">
            <a:solidFill>
              <a:srgbClr val="B3202C"/>
            </a:solidFill>
            <a:prstDash val="solid"/>
          </a:ln>
        </p:spPr>
      </p:sp>
      <p:sp>
        <p:nvSpPr>
          <p:cNvPr id="13" name="Text 11"/>
          <p:cNvSpPr/>
          <p:nvPr/>
        </p:nvSpPr>
        <p:spPr>
          <a:xfrm>
            <a:off x="786384" y="27432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二</a:t>
            </a:r>
            <a:endParaRPr lang="en-US" sz="1500" dirty="0"/>
          </a:p>
        </p:txBody>
      </p:sp>
      <p:sp>
        <p:nvSpPr>
          <p:cNvPr id="14" name="Text 12"/>
          <p:cNvSpPr/>
          <p:nvPr/>
        </p:nvSpPr>
        <p:spPr>
          <a:xfrm>
            <a:off x="1353312" y="2670048"/>
            <a:ext cx="4754880" cy="274320"/>
          </a:xfrm>
          <a:prstGeom prst="rect">
            <a:avLst/>
          </a:prstGeom>
          <a:noFill/>
          <a:ln/>
        </p:spPr>
        <p:txBody>
          <a:bodyPr wrap="square" lIns="0" tIns="0" rIns="0" bIns="0" rtlCol="0" anchor="ctr"/>
          <a:lstStyle/>
          <a:p>
            <a:pPr indent="0" marL="0">
              <a:buNone/>
            </a:pPr>
            <a:r>
              <a:rPr lang="en-US" sz="1400" b="1" dirty="0">
                <a:solidFill>
                  <a:srgbClr val="B3202C"/>
                </a:solidFill>
                <a:latin typeface="Cambria" pitchFamily="34" charset="0"/>
                <a:ea typeface="Cambria" pitchFamily="34" charset="-122"/>
                <a:cs typeface="Cambria" pitchFamily="34" charset="-120"/>
              </a:rPr>
              <a:t>第 二 阶段　体外诱导与判读</a:t>
            </a:r>
            <a:endParaRPr lang="en-US" sz="1400" dirty="0"/>
          </a:p>
        </p:txBody>
      </p:sp>
      <p:sp>
        <p:nvSpPr>
          <p:cNvPr id="15" name="Text 13"/>
          <p:cNvSpPr/>
          <p:nvPr/>
        </p:nvSpPr>
        <p:spPr>
          <a:xfrm>
            <a:off x="1353312" y="2962656"/>
            <a:ext cx="7863840" cy="256032"/>
          </a:xfrm>
          <a:prstGeom prst="rect">
            <a:avLst/>
          </a:prstGeom>
          <a:noFill/>
          <a:ln/>
        </p:spPr>
        <p:txBody>
          <a:bodyPr wrap="square" lIns="0" tIns="0" rIns="0" bIns="0" rtlCol="0" anchor="ctr"/>
          <a:lstStyle/>
          <a:p>
            <a:pPr indent="0" marL="0">
              <a:buNone/>
            </a:pPr>
            <a:r>
              <a:rPr lang="en-US" sz="1050" dirty="0">
                <a:solidFill>
                  <a:srgbClr val="6B7683"/>
                </a:solidFill>
                <a:latin typeface="Calibri" pitchFamily="34" charset="0"/>
                <a:ea typeface="Calibri" pitchFamily="34" charset="-122"/>
                <a:cs typeface="Calibri" pitchFamily="34" charset="-120"/>
              </a:rPr>
              <a:t>健康供者外周血 NK 细胞，四组设计　｜　并行：蜕膜 NK 细胞零配体测定，不依赖本阶段结果</a:t>
            </a:r>
            <a:endParaRPr lang="en-US" sz="1050" dirty="0"/>
          </a:p>
        </p:txBody>
      </p:sp>
      <p:sp>
        <p:nvSpPr>
          <p:cNvPr id="16" name="Text 14"/>
          <p:cNvSpPr/>
          <p:nvPr/>
        </p:nvSpPr>
        <p:spPr>
          <a:xfrm>
            <a:off x="5669280" y="3383280"/>
            <a:ext cx="5971032" cy="219456"/>
          </a:xfrm>
          <a:prstGeom prst="rect">
            <a:avLst/>
          </a:prstGeom>
          <a:noFill/>
          <a:ln/>
        </p:spPr>
        <p:txBody>
          <a:bodyPr wrap="square" lIns="0" tIns="0" rIns="0" bIns="0" rtlCol="0" anchor="ctr"/>
          <a:lstStyle/>
          <a:p>
            <a:pPr indent="0" marL="0">
              <a:buNone/>
            </a:pPr>
            <a:r>
              <a:rPr lang="en-US" sz="950" b="1" dirty="0">
                <a:solidFill>
                  <a:srgbClr val="B3202C"/>
                </a:solidFill>
                <a:latin typeface="Calibri" pitchFamily="34" charset="0"/>
                <a:ea typeface="Calibri" pitchFamily="34" charset="-122"/>
                <a:cs typeface="Calibri" pitchFamily="34" charset="-120"/>
              </a:rPr>
              <a:t>▼　准入条件：持久性制动在体外确立（第 3、4 组均失败，第 1 组正常，近端信号已匹配）</a:t>
            </a:r>
            <a:endParaRPr lang="en-US" sz="950" dirty="0"/>
          </a:p>
        </p:txBody>
      </p:sp>
      <p:sp>
        <p:nvSpPr>
          <p:cNvPr id="17" name="Shape 15"/>
          <p:cNvSpPr/>
          <p:nvPr/>
        </p:nvSpPr>
        <p:spPr>
          <a:xfrm>
            <a:off x="548640" y="3602736"/>
            <a:ext cx="11091672" cy="841248"/>
          </a:xfrm>
          <a:prstGeom prst="roundRect">
            <a:avLst>
              <a:gd name="adj" fmla="val 6522"/>
            </a:avLst>
          </a:prstGeom>
          <a:solidFill>
            <a:srgbClr val="FFFFFF"/>
          </a:solidFill>
          <a:ln w="17780">
            <a:solidFill>
              <a:srgbClr val="4A3A72"/>
            </a:solidFill>
            <a:prstDash val="solid"/>
          </a:ln>
        </p:spPr>
      </p:sp>
      <p:sp>
        <p:nvSpPr>
          <p:cNvPr id="18" name="Shape 16"/>
          <p:cNvSpPr/>
          <p:nvPr/>
        </p:nvSpPr>
        <p:spPr>
          <a:xfrm>
            <a:off x="786384" y="3822192"/>
            <a:ext cx="402336" cy="402336"/>
          </a:xfrm>
          <a:prstGeom prst="ellipse">
            <a:avLst/>
          </a:prstGeom>
          <a:solidFill>
            <a:srgbClr val="4A3A72"/>
          </a:solidFill>
          <a:ln w="12700">
            <a:solidFill>
              <a:srgbClr val="4A3A72"/>
            </a:solidFill>
            <a:prstDash val="solid"/>
          </a:ln>
        </p:spPr>
      </p:sp>
      <p:sp>
        <p:nvSpPr>
          <p:cNvPr id="19" name="Text 17"/>
          <p:cNvSpPr/>
          <p:nvPr/>
        </p:nvSpPr>
        <p:spPr>
          <a:xfrm>
            <a:off x="786384" y="38221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三</a:t>
            </a:r>
            <a:endParaRPr lang="en-US" sz="1500" dirty="0"/>
          </a:p>
        </p:txBody>
      </p:sp>
      <p:sp>
        <p:nvSpPr>
          <p:cNvPr id="20" name="Text 18"/>
          <p:cNvSpPr/>
          <p:nvPr/>
        </p:nvSpPr>
        <p:spPr>
          <a:xfrm>
            <a:off x="1353312" y="3749040"/>
            <a:ext cx="4754880" cy="274320"/>
          </a:xfrm>
          <a:prstGeom prst="rect">
            <a:avLst/>
          </a:prstGeom>
          <a:noFill/>
          <a:ln/>
        </p:spPr>
        <p:txBody>
          <a:bodyPr wrap="square" lIns="0" tIns="0" rIns="0" bIns="0" rtlCol="0" anchor="ctr"/>
          <a:lstStyle/>
          <a:p>
            <a:pPr indent="0" marL="0">
              <a:buNone/>
            </a:pPr>
            <a:r>
              <a:rPr lang="en-US" sz="1400" b="1" dirty="0">
                <a:solidFill>
                  <a:srgbClr val="4A3A72"/>
                </a:solidFill>
                <a:latin typeface="Cambria" pitchFamily="34" charset="0"/>
                <a:ea typeface="Cambria" pitchFamily="34" charset="-122"/>
                <a:cs typeface="Cambria" pitchFamily="34" charset="-120"/>
              </a:rPr>
              <a:t>第 三 阶段　分子机制定位</a:t>
            </a:r>
            <a:endParaRPr lang="en-US" sz="1400" dirty="0"/>
          </a:p>
        </p:txBody>
      </p:sp>
      <p:sp>
        <p:nvSpPr>
          <p:cNvPr id="21" name="Text 19"/>
          <p:cNvSpPr/>
          <p:nvPr/>
        </p:nvSpPr>
        <p:spPr>
          <a:xfrm>
            <a:off x="1353312" y="4041648"/>
            <a:ext cx="7863840" cy="256032"/>
          </a:xfrm>
          <a:prstGeom prst="rect">
            <a:avLst/>
          </a:prstGeom>
          <a:noFill/>
          <a:ln/>
        </p:spPr>
        <p:txBody>
          <a:bodyPr wrap="square" lIns="0" tIns="0" rIns="0" bIns="0" rtlCol="0" anchor="ctr"/>
          <a:lstStyle/>
          <a:p>
            <a:pPr indent="0" marL="0">
              <a:buNone/>
            </a:pPr>
            <a:r>
              <a:rPr lang="en-US" sz="1050" dirty="0">
                <a:solidFill>
                  <a:srgbClr val="6B7683"/>
                </a:solidFill>
                <a:latin typeface="Calibri" pitchFamily="34" charset="0"/>
                <a:ea typeface="Calibri" pitchFamily="34" charset="-122"/>
                <a:cs typeface="Calibri" pitchFamily="34" charset="-120"/>
              </a:rPr>
              <a:t>药理学筛选 → 无偏差组学 → 定向基因编辑</a:t>
            </a:r>
            <a:endParaRPr lang="en-US" sz="1050" dirty="0"/>
          </a:p>
        </p:txBody>
      </p:sp>
      <p:sp>
        <p:nvSpPr>
          <p:cNvPr id="22" name="Text 20"/>
          <p:cNvSpPr/>
          <p:nvPr/>
        </p:nvSpPr>
        <p:spPr>
          <a:xfrm>
            <a:off x="5669280" y="4462272"/>
            <a:ext cx="5971032" cy="219456"/>
          </a:xfrm>
          <a:prstGeom prst="rect">
            <a:avLst/>
          </a:prstGeom>
          <a:noFill/>
          <a:ln/>
        </p:spPr>
        <p:txBody>
          <a:bodyPr wrap="square" lIns="0" tIns="0" rIns="0" bIns="0" rtlCol="0" anchor="ctr"/>
          <a:lstStyle/>
          <a:p>
            <a:pPr indent="0" marL="0">
              <a:buNone/>
            </a:pPr>
            <a:r>
              <a:rPr lang="en-US" sz="950" b="1" dirty="0">
                <a:solidFill>
                  <a:srgbClr val="B3202C"/>
                </a:solidFill>
                <a:latin typeface="Calibri" pitchFamily="34" charset="0"/>
                <a:ea typeface="Calibri" pitchFamily="34" charset="-122"/>
                <a:cs typeface="Calibri" pitchFamily="34" charset="-120"/>
              </a:rPr>
              <a:t>▼　启动条件：体外机制确立后启动，可与第三阶段后段并行</a:t>
            </a:r>
            <a:endParaRPr lang="en-US" sz="950" dirty="0"/>
          </a:p>
        </p:txBody>
      </p:sp>
      <p:sp>
        <p:nvSpPr>
          <p:cNvPr id="23" name="Shape 21"/>
          <p:cNvSpPr/>
          <p:nvPr/>
        </p:nvSpPr>
        <p:spPr>
          <a:xfrm>
            <a:off x="548640" y="4681728"/>
            <a:ext cx="11091672" cy="841248"/>
          </a:xfrm>
          <a:prstGeom prst="roundRect">
            <a:avLst>
              <a:gd name="adj" fmla="val 6522"/>
            </a:avLst>
          </a:prstGeom>
          <a:solidFill>
            <a:srgbClr val="FFFFFF"/>
          </a:solidFill>
          <a:ln w="17780">
            <a:solidFill>
              <a:srgbClr val="1B6E6D"/>
            </a:solidFill>
            <a:prstDash val="solid"/>
          </a:ln>
        </p:spPr>
      </p:sp>
      <p:sp>
        <p:nvSpPr>
          <p:cNvPr id="24" name="Shape 22"/>
          <p:cNvSpPr/>
          <p:nvPr/>
        </p:nvSpPr>
        <p:spPr>
          <a:xfrm>
            <a:off x="786384" y="4901184"/>
            <a:ext cx="402336" cy="402336"/>
          </a:xfrm>
          <a:prstGeom prst="ellipse">
            <a:avLst/>
          </a:prstGeom>
          <a:solidFill>
            <a:srgbClr val="1B6E6D"/>
          </a:solidFill>
          <a:ln w="12700">
            <a:solidFill>
              <a:srgbClr val="1B6E6D"/>
            </a:solidFill>
            <a:prstDash val="solid"/>
          </a:ln>
        </p:spPr>
      </p:sp>
      <p:sp>
        <p:nvSpPr>
          <p:cNvPr id="25" name="Text 23"/>
          <p:cNvSpPr/>
          <p:nvPr/>
        </p:nvSpPr>
        <p:spPr>
          <a:xfrm>
            <a:off x="786384" y="490118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四</a:t>
            </a:r>
            <a:endParaRPr lang="en-US" sz="1500" dirty="0"/>
          </a:p>
        </p:txBody>
      </p:sp>
      <p:sp>
        <p:nvSpPr>
          <p:cNvPr id="26" name="Text 24"/>
          <p:cNvSpPr/>
          <p:nvPr/>
        </p:nvSpPr>
        <p:spPr>
          <a:xfrm>
            <a:off x="1353312" y="4828032"/>
            <a:ext cx="4754880" cy="274320"/>
          </a:xfrm>
          <a:prstGeom prst="rect">
            <a:avLst/>
          </a:prstGeom>
          <a:noFill/>
          <a:ln/>
        </p:spPr>
        <p:txBody>
          <a:bodyPr wrap="square" lIns="0" tIns="0" rIns="0" bIns="0" rtlCol="0" anchor="ctr"/>
          <a:lstStyle/>
          <a:p>
            <a:pPr indent="0" marL="0">
              <a:buNone/>
            </a:pPr>
            <a:r>
              <a:rPr lang="en-US" sz="1400" b="1" dirty="0">
                <a:solidFill>
                  <a:srgbClr val="1B6E6D"/>
                </a:solidFill>
                <a:latin typeface="Cambria" pitchFamily="34" charset="0"/>
                <a:ea typeface="Cambria" pitchFamily="34" charset="-122"/>
                <a:cs typeface="Cambria" pitchFamily="34" charset="-120"/>
              </a:rPr>
              <a:t>第 四 阶段　原代组织 NK 验证</a:t>
            </a:r>
            <a:endParaRPr lang="en-US" sz="1400" dirty="0"/>
          </a:p>
        </p:txBody>
      </p:sp>
      <p:sp>
        <p:nvSpPr>
          <p:cNvPr id="27" name="Text 25"/>
          <p:cNvSpPr/>
          <p:nvPr/>
        </p:nvSpPr>
        <p:spPr>
          <a:xfrm>
            <a:off x="1353312" y="5120640"/>
            <a:ext cx="7863840" cy="256032"/>
          </a:xfrm>
          <a:prstGeom prst="rect">
            <a:avLst/>
          </a:prstGeom>
          <a:noFill/>
          <a:ln/>
        </p:spPr>
        <p:txBody>
          <a:bodyPr wrap="square" lIns="0" tIns="0" rIns="0" bIns="0" rtlCol="0" anchor="ctr"/>
          <a:lstStyle/>
          <a:p>
            <a:pPr indent="0" marL="0">
              <a:buNone/>
            </a:pPr>
            <a:r>
              <a:rPr lang="en-US" sz="1050" dirty="0">
                <a:solidFill>
                  <a:srgbClr val="6B7683"/>
                </a:solidFill>
                <a:latin typeface="Calibri" pitchFamily="34" charset="0"/>
                <a:ea typeface="Calibri" pitchFamily="34" charset="-122"/>
                <a:cs typeface="Calibri" pitchFamily="34" charset="-120"/>
              </a:rPr>
              <a:t>MC38 模型肿瘤浸润 NK 细胞，条件性启动　｜　延伸：体内恢复实验，需先确定分子</a:t>
            </a:r>
            <a:endParaRPr lang="en-US" sz="1050" dirty="0"/>
          </a:p>
        </p:txBody>
      </p:sp>
      <p:sp>
        <p:nvSpPr>
          <p:cNvPr id="28" name="Shape 26"/>
          <p:cNvSpPr/>
          <p:nvPr/>
        </p:nvSpPr>
        <p:spPr>
          <a:xfrm>
            <a:off x="987552" y="2267712"/>
            <a:ext cx="0" cy="237744"/>
          </a:xfrm>
          <a:prstGeom prst="line">
            <a:avLst/>
          </a:prstGeom>
          <a:noFill/>
          <a:ln w="25400">
            <a:solidFill>
              <a:srgbClr val="D8DEE4"/>
            </a:solidFill>
            <a:prstDash val="solid"/>
            <a:tailEnd type="triangle"/>
          </a:ln>
        </p:spPr>
      </p:sp>
      <p:sp>
        <p:nvSpPr>
          <p:cNvPr id="29" name="Shape 27"/>
          <p:cNvSpPr/>
          <p:nvPr/>
        </p:nvSpPr>
        <p:spPr>
          <a:xfrm>
            <a:off x="987552" y="3346704"/>
            <a:ext cx="0" cy="237744"/>
          </a:xfrm>
          <a:prstGeom prst="line">
            <a:avLst/>
          </a:prstGeom>
          <a:noFill/>
          <a:ln w="25400">
            <a:solidFill>
              <a:srgbClr val="D8DEE4"/>
            </a:solidFill>
            <a:prstDash val="solid"/>
            <a:tailEnd type="triangle"/>
          </a:ln>
        </p:spPr>
      </p:sp>
      <p:sp>
        <p:nvSpPr>
          <p:cNvPr id="30" name="Shape 28"/>
          <p:cNvSpPr/>
          <p:nvPr/>
        </p:nvSpPr>
        <p:spPr>
          <a:xfrm>
            <a:off x="987552" y="4425696"/>
            <a:ext cx="0" cy="237744"/>
          </a:xfrm>
          <a:prstGeom prst="line">
            <a:avLst/>
          </a:prstGeom>
          <a:noFill/>
          <a:ln w="25400">
            <a:solidFill>
              <a:srgbClr val="D8DEE4"/>
            </a:solidFill>
            <a:prstDash val="solid"/>
            <a:tailEnd type="triangle"/>
          </a:ln>
        </p:spPr>
      </p:sp>
      <p:sp>
        <p:nvSpPr>
          <p:cNvPr id="31" name="Text 29"/>
          <p:cNvSpPr/>
          <p:nvPr/>
        </p:nvSpPr>
        <p:spPr>
          <a:xfrm>
            <a:off x="548640" y="5705856"/>
            <a:ext cx="11091672" cy="256032"/>
          </a:xfrm>
          <a:prstGeom prst="rect">
            <a:avLst/>
          </a:prstGeom>
          <a:noFill/>
          <a:ln/>
        </p:spPr>
        <p:txBody>
          <a:bodyPr wrap="square" lIns="0" tIns="0" rIns="0" bIns="0" rtlCol="0" anchor="ctr"/>
          <a:lstStyle/>
          <a:p>
            <a:pPr indent="0" marL="0">
              <a:lnSpc>
                <a:spcPct val="118000"/>
              </a:lnSpc>
              <a:buNone/>
            </a:pPr>
            <a:r>
              <a:rPr lang="en-US" sz="1050" dirty="0">
                <a:solidFill>
                  <a:srgbClr val="6B7683"/>
                </a:solidFill>
                <a:latin typeface="Calibri" pitchFamily="34" charset="0"/>
                <a:ea typeface="Calibri" pitchFamily="34" charset="-122"/>
                <a:cs typeface="Calibri" pitchFamily="34" charset="-120"/>
              </a:rPr>
              <a:t>具体时间安排与操作细节列入标准操作规程。</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64240" cy="219456"/>
          </a:xfrm>
          <a:prstGeom prst="rect">
            <a:avLst/>
          </a:prstGeom>
          <a:noFill/>
          <a:ln/>
        </p:spPr>
        <p:txBody>
          <a:bodyPr wrap="square" lIns="0" tIns="0" rIns="0" bIns="0" rtlCol="0" anchor="ctr"/>
          <a:lstStyle/>
          <a:p>
            <a:pPr indent="0" marL="0">
              <a:buNone/>
            </a:pPr>
            <a:r>
              <a:rPr lang="en-US" sz="1050" b="1" spc="100" kern="0" dirty="0">
                <a:solidFill>
                  <a:srgbClr val="B3202C"/>
                </a:solidFill>
                <a:latin typeface="Calibri" pitchFamily="34" charset="0"/>
                <a:ea typeface="Calibri" pitchFamily="34" charset="-122"/>
                <a:cs typeface="Calibri" pitchFamily="34" charset="-120"/>
              </a:rPr>
              <a:t>风险</a:t>
            </a:r>
            <a:endParaRPr lang="en-US" sz="1050" dirty="0"/>
          </a:p>
        </p:txBody>
      </p:sp>
      <p:sp>
        <p:nvSpPr>
          <p:cNvPr id="3" name="Text 1"/>
          <p:cNvSpPr/>
          <p:nvPr/>
        </p:nvSpPr>
        <p:spPr>
          <a:xfrm>
            <a:off x="548640" y="475488"/>
            <a:ext cx="11064240" cy="512064"/>
          </a:xfrm>
          <a:prstGeom prst="rect">
            <a:avLst/>
          </a:prstGeom>
          <a:noFill/>
          <a:ln/>
        </p:spPr>
        <p:txBody>
          <a:bodyPr wrap="square" lIns="0" tIns="0" rIns="0" bIns="0" rtlCol="0" anchor="ctr"/>
          <a:lstStyle/>
          <a:p>
            <a:pPr indent="0" marL="0">
              <a:buNone/>
            </a:pPr>
            <a:r>
              <a:rPr lang="en-US" sz="2600" b="1" dirty="0">
                <a:solidFill>
                  <a:srgbClr val="22303D"/>
                </a:solidFill>
                <a:latin typeface="Cambria" pitchFamily="34" charset="0"/>
                <a:ea typeface="Cambria" pitchFamily="34" charset="-122"/>
                <a:cs typeface="Cambria" pitchFamily="34" charset="-120"/>
              </a:rPr>
              <a:t>主要风险与应对措施</a:t>
            </a:r>
            <a:endParaRPr lang="en-US" sz="2600" dirty="0"/>
          </a:p>
        </p:txBody>
      </p:sp>
      <p:sp>
        <p:nvSpPr>
          <p:cNvPr id="4" name="Text 2"/>
          <p:cNvSpPr/>
          <p:nvPr/>
        </p:nvSpPr>
        <p:spPr>
          <a:xfrm>
            <a:off x="548640" y="1005840"/>
            <a:ext cx="11064240" cy="292608"/>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各项风险均配有可在实验实施前完成的预防或排除措施</a:t>
            </a:r>
            <a:endParaRPr lang="en-US" sz="1200" dirty="0"/>
          </a:p>
        </p:txBody>
      </p:sp>
      <p:sp>
        <p:nvSpPr>
          <p:cNvPr id="5" name="Shape 3"/>
          <p:cNvSpPr/>
          <p:nvPr/>
        </p:nvSpPr>
        <p:spPr>
          <a:xfrm>
            <a:off x="548640" y="1444752"/>
            <a:ext cx="3502152" cy="2176272"/>
          </a:xfrm>
          <a:prstGeom prst="roundRect">
            <a:avLst>
              <a:gd name="adj" fmla="val 2521"/>
            </a:avLst>
          </a:prstGeom>
          <a:solidFill>
            <a:srgbClr val="FFFFFF"/>
          </a:solidFill>
          <a:ln w="17780">
            <a:solidFill>
              <a:srgbClr val="B3202C"/>
            </a:solidFill>
            <a:prstDash val="solid"/>
          </a:ln>
        </p:spPr>
      </p:sp>
      <p:sp>
        <p:nvSpPr>
          <p:cNvPr id="6" name="Text 4"/>
          <p:cNvSpPr/>
          <p:nvPr/>
        </p:nvSpPr>
        <p:spPr>
          <a:xfrm>
            <a:off x="768096" y="1591056"/>
            <a:ext cx="3063240" cy="475488"/>
          </a:xfrm>
          <a:prstGeom prst="rect">
            <a:avLst/>
          </a:prstGeom>
          <a:noFill/>
          <a:ln/>
        </p:spPr>
        <p:txBody>
          <a:bodyPr wrap="square" lIns="0" tIns="0" rIns="0" bIns="0" rtlCol="0" anchor="t"/>
          <a:lstStyle/>
          <a:p>
            <a:pPr indent="0" marL="0">
              <a:lnSpc>
                <a:spcPct val="110000"/>
              </a:lnSpc>
              <a:buNone/>
            </a:pPr>
            <a:r>
              <a:rPr lang="en-US" sz="1250" b="1" dirty="0">
                <a:solidFill>
                  <a:srgbClr val="B3202C"/>
                </a:solidFill>
                <a:latin typeface="Cambria" pitchFamily="34" charset="0"/>
                <a:ea typeface="Cambria" pitchFamily="34" charset="-122"/>
                <a:cs typeface="Cambria" pitchFamily="34" charset="-120"/>
              </a:rPr>
              <a:t>缺乏公认的阳性对照</a:t>
            </a:r>
            <a:endParaRPr lang="en-US" sz="1250" dirty="0"/>
          </a:p>
        </p:txBody>
      </p:sp>
      <p:sp>
        <p:nvSpPr>
          <p:cNvPr id="7" name="Text 5"/>
          <p:cNvSpPr/>
          <p:nvPr/>
        </p:nvSpPr>
        <p:spPr>
          <a:xfrm>
            <a:off x="768096" y="2103120"/>
            <a:ext cx="3063240" cy="603504"/>
          </a:xfrm>
          <a:prstGeom prst="rect">
            <a:avLst/>
          </a:prstGeom>
          <a:noFill/>
          <a:ln/>
        </p:spPr>
        <p:txBody>
          <a:bodyPr wrap="square" lIns="0" tIns="0" rIns="0" bIns="0" rtlCol="0" anchor="t"/>
          <a:lstStyle/>
          <a:p>
            <a:pPr indent="0" marL="0">
              <a:lnSpc>
                <a:spcPct val="114000"/>
              </a:lnSpc>
              <a:buNone/>
            </a:pPr>
            <a:r>
              <a:rPr lang="en-US" sz="1000" dirty="0">
                <a:solidFill>
                  <a:srgbClr val="22303D"/>
                </a:solidFill>
                <a:latin typeface="Calibri" pitchFamily="34" charset="0"/>
                <a:ea typeface="Calibri" pitchFamily="34" charset="-122"/>
                <a:cs typeface="Calibri" pitchFamily="34" charset="-120"/>
              </a:rPr>
              <a:t>文献中尚无已确立的持久性制动实例，故无公认阳性对照可用于验收实验体系。</a:t>
            </a:r>
            <a:endParaRPr lang="en-US" sz="1000" dirty="0"/>
          </a:p>
        </p:txBody>
      </p:sp>
      <p:sp>
        <p:nvSpPr>
          <p:cNvPr id="8" name="Shape 6"/>
          <p:cNvSpPr/>
          <p:nvPr/>
        </p:nvSpPr>
        <p:spPr>
          <a:xfrm>
            <a:off x="768096" y="2743200"/>
            <a:ext cx="3063240" cy="0"/>
          </a:xfrm>
          <a:prstGeom prst="line">
            <a:avLst/>
          </a:prstGeom>
          <a:noFill/>
          <a:ln w="12700">
            <a:solidFill>
              <a:srgbClr val="D8DEE4"/>
            </a:solidFill>
            <a:prstDash val="solid"/>
          </a:ln>
        </p:spPr>
      </p:sp>
      <p:sp>
        <p:nvSpPr>
          <p:cNvPr id="9" name="Text 7"/>
          <p:cNvSpPr/>
          <p:nvPr/>
        </p:nvSpPr>
        <p:spPr>
          <a:xfrm>
            <a:off x="768096" y="2816352"/>
            <a:ext cx="3063240" cy="731520"/>
          </a:xfrm>
          <a:prstGeom prst="rect">
            <a:avLst/>
          </a:prstGeom>
          <a:noFill/>
          <a:ln/>
        </p:spPr>
        <p:txBody>
          <a:bodyPr wrap="square" lIns="0" tIns="0" rIns="0" bIns="0" rtlCol="0" anchor="t"/>
          <a:lstStyle/>
          <a:p>
            <a:pPr indent="0" marL="0">
              <a:lnSpc>
                <a:spcPct val="114000"/>
              </a:lnSpc>
              <a:buNone/>
            </a:pPr>
            <a:r>
              <a:rPr lang="en-US" sz="1000" dirty="0">
                <a:solidFill>
                  <a:srgbClr val="22303D"/>
                </a:solidFill>
                <a:latin typeface="Calibri" pitchFamily="34" charset="0"/>
                <a:ea typeface="Calibri" pitchFamily="34" charset="-122"/>
                <a:cs typeface="Calibri" pitchFamily="34" charset="-120"/>
              </a:rPr>
              <a:t>应对：自行建立 —— 第一阶段以已发表结果验收成像方法；第二阶段的 TGF-β 诱导组本身即为该表型的建立过程。</a:t>
            </a:r>
            <a:endParaRPr lang="en-US" sz="1000" dirty="0"/>
          </a:p>
        </p:txBody>
      </p:sp>
      <p:sp>
        <p:nvSpPr>
          <p:cNvPr id="10" name="Shape 8"/>
          <p:cNvSpPr/>
          <p:nvPr/>
        </p:nvSpPr>
        <p:spPr>
          <a:xfrm>
            <a:off x="4343400" y="1444752"/>
            <a:ext cx="3502152" cy="2176272"/>
          </a:xfrm>
          <a:prstGeom prst="roundRect">
            <a:avLst>
              <a:gd name="adj" fmla="val 2521"/>
            </a:avLst>
          </a:prstGeom>
          <a:solidFill>
            <a:srgbClr val="FFFFFF"/>
          </a:solidFill>
          <a:ln w="17780">
            <a:solidFill>
              <a:srgbClr val="4A3A72"/>
            </a:solidFill>
            <a:prstDash val="solid"/>
          </a:ln>
        </p:spPr>
      </p:sp>
      <p:sp>
        <p:nvSpPr>
          <p:cNvPr id="11" name="Text 9"/>
          <p:cNvSpPr/>
          <p:nvPr/>
        </p:nvSpPr>
        <p:spPr>
          <a:xfrm>
            <a:off x="4562856" y="1591056"/>
            <a:ext cx="3063240" cy="475488"/>
          </a:xfrm>
          <a:prstGeom prst="rect">
            <a:avLst/>
          </a:prstGeom>
          <a:noFill/>
          <a:ln/>
        </p:spPr>
        <p:txBody>
          <a:bodyPr wrap="square" lIns="0" tIns="0" rIns="0" bIns="0" rtlCol="0" anchor="t"/>
          <a:lstStyle/>
          <a:p>
            <a:pPr indent="0" marL="0">
              <a:lnSpc>
                <a:spcPct val="110000"/>
              </a:lnSpc>
              <a:buNone/>
            </a:pPr>
            <a:r>
              <a:rPr lang="en-US" sz="1250" b="1" dirty="0">
                <a:solidFill>
                  <a:srgbClr val="4A3A72"/>
                </a:solidFill>
                <a:latin typeface="Cambria" pitchFamily="34" charset="0"/>
                <a:ea typeface="Cambria" pitchFamily="34" charset="-122"/>
                <a:cs typeface="Cambria" pitchFamily="34" charset="-120"/>
              </a:rPr>
              <a:t>受体下调混杂 —— 先验概率最高的结局</a:t>
            </a:r>
            <a:endParaRPr lang="en-US" sz="1250" dirty="0"/>
          </a:p>
        </p:txBody>
      </p:sp>
      <p:sp>
        <p:nvSpPr>
          <p:cNvPr id="12" name="Text 10"/>
          <p:cNvSpPr/>
          <p:nvPr/>
        </p:nvSpPr>
        <p:spPr>
          <a:xfrm>
            <a:off x="4562856" y="2103120"/>
            <a:ext cx="3063240" cy="603504"/>
          </a:xfrm>
          <a:prstGeom prst="rect">
            <a:avLst/>
          </a:prstGeom>
          <a:noFill/>
          <a:ln/>
        </p:spPr>
        <p:txBody>
          <a:bodyPr wrap="square" lIns="0" tIns="0" rIns="0" bIns="0" rtlCol="0" anchor="t"/>
          <a:lstStyle/>
          <a:p>
            <a:pPr indent="0" marL="0">
              <a:lnSpc>
                <a:spcPct val="114000"/>
              </a:lnSpc>
              <a:buNone/>
            </a:pPr>
            <a:r>
              <a:rPr lang="en-US" sz="1000" dirty="0">
                <a:solidFill>
                  <a:srgbClr val="22303D"/>
                </a:solidFill>
                <a:latin typeface="Calibri" pitchFamily="34" charset="0"/>
                <a:ea typeface="Calibri" pitchFamily="34" charset="-122"/>
                <a:cs typeface="Calibri" pitchFamily="34" charset="-120"/>
              </a:rPr>
              <a:t>TGF-β 可下调 NKp30 / NKG2D（Castriconi 2003），诱导组的极化失败可能仅反映受体表达减少。</a:t>
            </a:r>
            <a:endParaRPr lang="en-US" sz="1000" dirty="0"/>
          </a:p>
        </p:txBody>
      </p:sp>
      <p:sp>
        <p:nvSpPr>
          <p:cNvPr id="13" name="Shape 11"/>
          <p:cNvSpPr/>
          <p:nvPr/>
        </p:nvSpPr>
        <p:spPr>
          <a:xfrm>
            <a:off x="4562856" y="2743200"/>
            <a:ext cx="3063240" cy="0"/>
          </a:xfrm>
          <a:prstGeom prst="line">
            <a:avLst/>
          </a:prstGeom>
          <a:noFill/>
          <a:ln w="12700">
            <a:solidFill>
              <a:srgbClr val="D8DEE4"/>
            </a:solidFill>
            <a:prstDash val="solid"/>
          </a:ln>
        </p:spPr>
      </p:sp>
      <p:sp>
        <p:nvSpPr>
          <p:cNvPr id="14" name="Text 12"/>
          <p:cNvSpPr/>
          <p:nvPr/>
        </p:nvSpPr>
        <p:spPr>
          <a:xfrm>
            <a:off x="4562856" y="2816352"/>
            <a:ext cx="3063240" cy="731520"/>
          </a:xfrm>
          <a:prstGeom prst="rect">
            <a:avLst/>
          </a:prstGeom>
          <a:noFill/>
          <a:ln/>
        </p:spPr>
        <p:txBody>
          <a:bodyPr wrap="square" lIns="0" tIns="0" rIns="0" bIns="0" rtlCol="0" anchor="t"/>
          <a:lstStyle/>
          <a:p>
            <a:pPr indent="0" marL="0">
              <a:lnSpc>
                <a:spcPct val="114000"/>
              </a:lnSpc>
              <a:buNone/>
            </a:pPr>
            <a:r>
              <a:rPr lang="en-US" sz="1000" dirty="0">
                <a:solidFill>
                  <a:srgbClr val="22303D"/>
                </a:solidFill>
                <a:latin typeface="Calibri" pitchFamily="34" charset="0"/>
                <a:ea typeface="Calibri" pitchFamily="34" charset="-122"/>
                <a:cs typeface="Calibri" pitchFamily="34" charset="-120"/>
              </a:rPr>
              <a:t>应对：各组测定受体表达与近端信号，调整抗体包被浓度使各组信号匹配后再行判读；匹配后极化恢复即归因于受体表达。</a:t>
            </a:r>
            <a:endParaRPr lang="en-US" sz="1000" dirty="0"/>
          </a:p>
        </p:txBody>
      </p:sp>
      <p:sp>
        <p:nvSpPr>
          <p:cNvPr id="15" name="Shape 13"/>
          <p:cNvSpPr/>
          <p:nvPr/>
        </p:nvSpPr>
        <p:spPr>
          <a:xfrm>
            <a:off x="8138160" y="1444752"/>
            <a:ext cx="3502152" cy="2176272"/>
          </a:xfrm>
          <a:prstGeom prst="roundRect">
            <a:avLst>
              <a:gd name="adj" fmla="val 2521"/>
            </a:avLst>
          </a:prstGeom>
          <a:solidFill>
            <a:srgbClr val="FFFFFF"/>
          </a:solidFill>
          <a:ln w="17780">
            <a:solidFill>
              <a:srgbClr val="8A5A12"/>
            </a:solidFill>
            <a:prstDash val="solid"/>
          </a:ln>
        </p:spPr>
      </p:sp>
      <p:sp>
        <p:nvSpPr>
          <p:cNvPr id="16" name="Text 14"/>
          <p:cNvSpPr/>
          <p:nvPr/>
        </p:nvSpPr>
        <p:spPr>
          <a:xfrm>
            <a:off x="8357616" y="1591056"/>
            <a:ext cx="3063240" cy="475488"/>
          </a:xfrm>
          <a:prstGeom prst="rect">
            <a:avLst/>
          </a:prstGeom>
          <a:noFill/>
          <a:ln/>
        </p:spPr>
        <p:txBody>
          <a:bodyPr wrap="square" lIns="0" tIns="0" rIns="0" bIns="0" rtlCol="0" anchor="t"/>
          <a:lstStyle/>
          <a:p>
            <a:pPr indent="0" marL="0">
              <a:lnSpc>
                <a:spcPct val="110000"/>
              </a:lnSpc>
              <a:buNone/>
            </a:pPr>
            <a:r>
              <a:rPr lang="en-US" sz="1250" b="1" dirty="0">
                <a:solidFill>
                  <a:srgbClr val="8A5A12"/>
                </a:solidFill>
                <a:latin typeface="Cambria" pitchFamily="34" charset="0"/>
                <a:ea typeface="Cambria" pitchFamily="34" charset="-122"/>
                <a:cs typeface="Cambria" pitchFamily="34" charset="-120"/>
              </a:rPr>
              <a:t>亚群偏倚 —— 最早可否定本假说的因素</a:t>
            </a:r>
            <a:endParaRPr lang="en-US" sz="1250" dirty="0"/>
          </a:p>
        </p:txBody>
      </p:sp>
      <p:sp>
        <p:nvSpPr>
          <p:cNvPr id="17" name="Text 15"/>
          <p:cNvSpPr/>
          <p:nvPr/>
        </p:nvSpPr>
        <p:spPr>
          <a:xfrm>
            <a:off x="8357616" y="2103120"/>
            <a:ext cx="3063240" cy="603504"/>
          </a:xfrm>
          <a:prstGeom prst="rect">
            <a:avLst/>
          </a:prstGeom>
          <a:noFill/>
          <a:ln/>
        </p:spPr>
        <p:txBody>
          <a:bodyPr wrap="square" lIns="0" tIns="0" rIns="0" bIns="0" rtlCol="0" anchor="t"/>
          <a:lstStyle/>
          <a:p>
            <a:pPr indent="0" marL="0">
              <a:lnSpc>
                <a:spcPct val="114000"/>
              </a:lnSpc>
              <a:buNone/>
            </a:pPr>
            <a:r>
              <a:rPr lang="en-US" sz="1000" dirty="0">
                <a:solidFill>
                  <a:srgbClr val="22303D"/>
                </a:solidFill>
                <a:latin typeface="Calibri" pitchFamily="34" charset="0"/>
                <a:ea typeface="Calibri" pitchFamily="34" charset="-122"/>
                <a:cs typeface="Calibri" pitchFamily="34" charset="-120"/>
              </a:rPr>
              <a:t>若 CD56 强阳性 NK 细胞在同一条件下极化亦失败，则该现象仅为亚群固有属性，非诱导所致。</a:t>
            </a:r>
            <a:endParaRPr lang="en-US" sz="1000" dirty="0"/>
          </a:p>
        </p:txBody>
      </p:sp>
      <p:sp>
        <p:nvSpPr>
          <p:cNvPr id="18" name="Shape 16"/>
          <p:cNvSpPr/>
          <p:nvPr/>
        </p:nvSpPr>
        <p:spPr>
          <a:xfrm>
            <a:off x="8357616" y="2743200"/>
            <a:ext cx="3063240" cy="0"/>
          </a:xfrm>
          <a:prstGeom prst="line">
            <a:avLst/>
          </a:prstGeom>
          <a:noFill/>
          <a:ln w="12700">
            <a:solidFill>
              <a:srgbClr val="D8DEE4"/>
            </a:solidFill>
            <a:prstDash val="solid"/>
          </a:ln>
        </p:spPr>
      </p:sp>
      <p:sp>
        <p:nvSpPr>
          <p:cNvPr id="19" name="Text 17"/>
          <p:cNvSpPr/>
          <p:nvPr/>
        </p:nvSpPr>
        <p:spPr>
          <a:xfrm>
            <a:off x="8357616" y="2816352"/>
            <a:ext cx="3063240" cy="731520"/>
          </a:xfrm>
          <a:prstGeom prst="rect">
            <a:avLst/>
          </a:prstGeom>
          <a:noFill/>
          <a:ln/>
        </p:spPr>
        <p:txBody>
          <a:bodyPr wrap="square" lIns="0" tIns="0" rIns="0" bIns="0" rtlCol="0" anchor="t"/>
          <a:lstStyle/>
          <a:p>
            <a:pPr indent="0" marL="0">
              <a:lnSpc>
                <a:spcPct val="114000"/>
              </a:lnSpc>
              <a:buNone/>
            </a:pPr>
            <a:r>
              <a:rPr lang="en-US" sz="1000" dirty="0">
                <a:solidFill>
                  <a:srgbClr val="22303D"/>
                </a:solidFill>
                <a:latin typeface="Calibri" pitchFamily="34" charset="0"/>
                <a:ea typeface="Calibri" pitchFamily="34" charset="-122"/>
                <a:cs typeface="Calibri" pitchFamily="34" charset="-120"/>
              </a:rPr>
              <a:t>应对：第 1 组与第 3 组同批次、同片测定，首轮实验即可获得结论，不推迟至后期。</a:t>
            </a:r>
            <a:endParaRPr lang="en-US" sz="1000" dirty="0"/>
          </a:p>
        </p:txBody>
      </p:sp>
      <p:sp>
        <p:nvSpPr>
          <p:cNvPr id="20" name="Shape 18"/>
          <p:cNvSpPr/>
          <p:nvPr/>
        </p:nvSpPr>
        <p:spPr>
          <a:xfrm>
            <a:off x="548640" y="3785616"/>
            <a:ext cx="5376672" cy="1554480"/>
          </a:xfrm>
          <a:prstGeom prst="roundRect">
            <a:avLst>
              <a:gd name="adj" fmla="val 3529"/>
            </a:avLst>
          </a:prstGeom>
          <a:solidFill>
            <a:srgbClr val="F1F4F6"/>
          </a:solidFill>
          <a:ln w="12700">
            <a:solidFill>
              <a:srgbClr val="D8DEE4"/>
            </a:solidFill>
            <a:prstDash val="solid"/>
          </a:ln>
        </p:spPr>
      </p:sp>
      <p:sp>
        <p:nvSpPr>
          <p:cNvPr id="21" name="Text 19"/>
          <p:cNvSpPr/>
          <p:nvPr/>
        </p:nvSpPr>
        <p:spPr>
          <a:xfrm>
            <a:off x="786384" y="3904488"/>
            <a:ext cx="4901184" cy="219456"/>
          </a:xfrm>
          <a:prstGeom prst="rect">
            <a:avLst/>
          </a:prstGeom>
          <a:noFill/>
          <a:ln/>
        </p:spPr>
        <p:txBody>
          <a:bodyPr wrap="square" lIns="0" tIns="0" rIns="0" bIns="0" rtlCol="0" anchor="ctr"/>
          <a:lstStyle/>
          <a:p>
            <a:pPr indent="0" marL="0">
              <a:buNone/>
            </a:pPr>
            <a:r>
              <a:rPr lang="en-US" sz="1050" b="1" spc="60" kern="0" dirty="0">
                <a:solidFill>
                  <a:srgbClr val="6B7683"/>
                </a:solidFill>
                <a:latin typeface="Calibri" pitchFamily="34" charset="0"/>
                <a:ea typeface="Calibri" pitchFamily="34" charset="-122"/>
                <a:cs typeface="Calibri" pitchFamily="34" charset="-120"/>
              </a:rPr>
              <a:t>实验实施前需确认的两项事实</a:t>
            </a:r>
            <a:endParaRPr lang="en-US" sz="1050" dirty="0"/>
          </a:p>
        </p:txBody>
      </p:sp>
      <p:sp>
        <p:nvSpPr>
          <p:cNvPr id="22" name="Text 20"/>
          <p:cNvSpPr/>
          <p:nvPr/>
        </p:nvSpPr>
        <p:spPr>
          <a:xfrm>
            <a:off x="786384" y="4096512"/>
            <a:ext cx="4901184" cy="1188720"/>
          </a:xfrm>
          <a:prstGeom prst="rect">
            <a:avLst/>
          </a:prstGeom>
          <a:noFill/>
          <a:ln/>
        </p:spPr>
        <p:txBody>
          <a:bodyPr wrap="square" lIns="0" tIns="0" rIns="0" bIns="0" rtlCol="0" anchor="t"/>
          <a:lstStyle/>
          <a:p>
            <a:pPr indent="0" marL="0">
              <a:lnSpc>
                <a:spcPct val="114000"/>
              </a:lnSpc>
              <a:buNone/>
            </a:pPr>
            <a:r>
              <a:rPr lang="en-US" sz="900" b="1" dirty="0">
                <a:solidFill>
                  <a:srgbClr val="22303D"/>
                </a:solidFill>
                <a:latin typeface="Calibri" pitchFamily="34" charset="0"/>
                <a:ea typeface="Calibri" pitchFamily="34" charset="-122"/>
                <a:cs typeface="Calibri" pitchFamily="34" charset="-120"/>
              </a:rPr>
              <a:t>① </a:t>
            </a:r>
            <a:pPr indent="0" marL="0">
              <a:lnSpc>
                <a:spcPct val="114000"/>
              </a:lnSpc>
              <a:buNone/>
            </a:pPr>
            <a:r>
              <a:rPr lang="en-US" sz="900" dirty="0">
                <a:solidFill>
                  <a:srgbClr val="22303D"/>
                </a:solidFill>
                <a:latin typeface="Calibri" pitchFamily="34" charset="0"/>
                <a:ea typeface="Calibri" pitchFamily="34" charset="-122"/>
                <a:cs typeface="Calibri" pitchFamily="34" charset="-120"/>
              </a:rPr>
              <a:t>本实验室所用 721.221 亚系是否表达 LLT1。文献报道 221 为 LLT1 阳性，不代表本实验室所用亚系亦然。抗体克隆 402659 / 4C7 仅可用于染色，</a:t>
            </a:r>
            <a:pPr indent="0" marL="0">
              <a:lnSpc>
                <a:spcPct val="114000"/>
              </a:lnSpc>
              <a:buNone/>
            </a:pPr>
            <a:r>
              <a:rPr lang="en-US" sz="900" b="1" dirty="0">
                <a:solidFill>
                  <a:srgbClr val="B3202C"/>
                </a:solidFill>
                <a:latin typeface="Calibri" pitchFamily="34" charset="0"/>
                <a:ea typeface="Calibri" pitchFamily="34" charset="-122"/>
                <a:cs typeface="Calibri" pitchFamily="34" charset="-120"/>
              </a:rPr>
              <a:t>不能阻断 LLT1 与 NKR-P1A 的结合</a:t>
            </a:r>
            <a:pPr indent="0" marL="0">
              <a:lnSpc>
                <a:spcPct val="114000"/>
              </a:lnSpc>
              <a:buNone/>
            </a:pPr>
            <a:r>
              <a:rPr lang="en-US" sz="900" dirty="0">
                <a:solidFill>
                  <a:srgbClr val="22303D"/>
                </a:solidFill>
                <a:latin typeface="Calibri" pitchFamily="34" charset="0"/>
                <a:ea typeface="Calibri" pitchFamily="34" charset="-122"/>
                <a:cs typeface="Calibri" pitchFamily="34" charset="-120"/>
              </a:rPr>
              <a:t>，如需功能阻断须另选试剂或采用 CLEC2D 敲除的 221 细胞。
</a:t>
            </a:r>
            <a:pPr indent="0" marL="0">
              <a:lnSpc>
                <a:spcPct val="114000"/>
              </a:lnSpc>
              <a:buNone/>
            </a:pPr>
            <a:r>
              <a:rPr lang="en-US" sz="900" b="1" dirty="0">
                <a:solidFill>
                  <a:srgbClr val="22303D"/>
                </a:solidFill>
                <a:latin typeface="Calibri" pitchFamily="34" charset="0"/>
                <a:ea typeface="Calibri" pitchFamily="34" charset="-122"/>
                <a:cs typeface="Calibri" pitchFamily="34" charset="-120"/>
              </a:rPr>
              <a:t>② </a:t>
            </a:r>
            <a:pPr indent="0" marL="0">
              <a:lnSpc>
                <a:spcPct val="114000"/>
              </a:lnSpc>
              <a:buNone/>
            </a:pPr>
            <a:r>
              <a:rPr lang="en-US" sz="900" dirty="0">
                <a:solidFill>
                  <a:srgbClr val="22303D"/>
                </a:solidFill>
                <a:latin typeface="Calibri" pitchFamily="34" charset="0"/>
                <a:ea typeface="Calibri" pitchFamily="34" charset="-122"/>
                <a:cs typeface="Calibri" pitchFamily="34" charset="-120"/>
              </a:rPr>
              <a:t>dNK 细胞与 pbNK 细胞的 CD161、TIGIT 表面表达水平 —— 文献中不存在此项直接比较（Feyaerts 2024 比较的是子宫内膜与蜕膜，非外周血）。加测 CD39 / CD103 作亚群分辨为可选项。
</a:t>
            </a:r>
            <a:pPr indent="0" marL="0">
              <a:lnSpc>
                <a:spcPct val="114000"/>
              </a:lnSpc>
              <a:buNone/>
            </a:pPr>
            <a:r>
              <a:rPr lang="en-US" sz="900" dirty="0">
                <a:solidFill>
                  <a:srgbClr val="6B7683"/>
                </a:solidFill>
                <a:latin typeface="Calibri" pitchFamily="34" charset="0"/>
                <a:ea typeface="Calibri" pitchFamily="34" charset="-122"/>
                <a:cs typeface="Calibri" pitchFamily="34" charset="-120"/>
              </a:rPr>
              <a:t>此两项用于使背景表述准确，实验设计本身不依赖于此 —— 固相无配体条件已规避全部抑制性受体。</a:t>
            </a:r>
            <a:endParaRPr lang="en-US" sz="900" dirty="0"/>
          </a:p>
        </p:txBody>
      </p:sp>
      <p:sp>
        <p:nvSpPr>
          <p:cNvPr id="23" name="Shape 21"/>
          <p:cNvSpPr/>
          <p:nvPr/>
        </p:nvSpPr>
        <p:spPr>
          <a:xfrm>
            <a:off x="6263640" y="3785616"/>
            <a:ext cx="5376672" cy="1554480"/>
          </a:xfrm>
          <a:prstGeom prst="roundRect">
            <a:avLst>
              <a:gd name="adj" fmla="val 3529"/>
            </a:avLst>
          </a:prstGeom>
          <a:solidFill>
            <a:srgbClr val="FFFFFF"/>
          </a:solidFill>
          <a:ln w="17780">
            <a:solidFill>
              <a:srgbClr val="B3202C"/>
            </a:solidFill>
            <a:prstDash val="solid"/>
          </a:ln>
        </p:spPr>
      </p:sp>
      <p:sp>
        <p:nvSpPr>
          <p:cNvPr id="24" name="Text 22"/>
          <p:cNvSpPr/>
          <p:nvPr/>
        </p:nvSpPr>
        <p:spPr>
          <a:xfrm>
            <a:off x="6501384" y="3904488"/>
            <a:ext cx="4901184" cy="219456"/>
          </a:xfrm>
          <a:prstGeom prst="rect">
            <a:avLst/>
          </a:prstGeom>
          <a:noFill/>
          <a:ln/>
        </p:spPr>
        <p:txBody>
          <a:bodyPr wrap="square" lIns="0" tIns="0" rIns="0" bIns="0" rtlCol="0" anchor="ctr"/>
          <a:lstStyle/>
          <a:p>
            <a:pPr indent="0" marL="0">
              <a:buNone/>
            </a:pPr>
            <a:r>
              <a:rPr lang="en-US" sz="1050" b="1" spc="60" kern="0" dirty="0">
                <a:solidFill>
                  <a:srgbClr val="B3202C"/>
                </a:solidFill>
                <a:latin typeface="Calibri" pitchFamily="34" charset="0"/>
                <a:ea typeface="Calibri" pitchFamily="34" charset="-122"/>
                <a:cs typeface="Calibri" pitchFamily="34" charset="-120"/>
              </a:rPr>
              <a:t>中止判定标准</a:t>
            </a:r>
            <a:endParaRPr lang="en-US" sz="1050" dirty="0"/>
          </a:p>
        </p:txBody>
      </p:sp>
      <p:sp>
        <p:nvSpPr>
          <p:cNvPr id="25" name="Text 23"/>
          <p:cNvSpPr/>
          <p:nvPr/>
        </p:nvSpPr>
        <p:spPr>
          <a:xfrm>
            <a:off x="6501384" y="4096512"/>
            <a:ext cx="4901184" cy="1188720"/>
          </a:xfrm>
          <a:prstGeom prst="rect">
            <a:avLst/>
          </a:prstGeom>
          <a:noFill/>
          <a:ln/>
        </p:spPr>
        <p:txBody>
          <a:bodyPr wrap="square" lIns="0" tIns="0" rIns="0" bIns="0" rtlCol="0" anchor="t"/>
          <a:lstStyle/>
          <a:p>
            <a:pPr indent="0" marL="0">
              <a:lnSpc>
                <a:spcPct val="114000"/>
              </a:lnSpc>
              <a:buNone/>
            </a:pPr>
            <a:r>
              <a:rPr lang="en-US" sz="900" dirty="0">
                <a:solidFill>
                  <a:srgbClr val="6B7683"/>
                </a:solidFill>
                <a:latin typeface="Calibri" pitchFamily="34" charset="0"/>
                <a:ea typeface="Calibri" pitchFamily="34" charset="-122"/>
                <a:cs typeface="Calibri" pitchFamily="34" charset="-120"/>
              </a:rPr>
              <a:t>「失败 / 正常」一律依据第 7 页所定义的最小可检测效应量，在供者层面判定。
</a:t>
            </a:r>
            <a:pPr indent="0" marL="0">
              <a:lnSpc>
                <a:spcPct val="114000"/>
              </a:lnSpc>
              <a:buNone/>
            </a:pPr>
            <a:r>
              <a:rPr lang="en-US" sz="900" dirty="0">
                <a:solidFill>
                  <a:srgbClr val="22303D"/>
                </a:solidFill>
                <a:latin typeface="Calibri" pitchFamily="34" charset="0"/>
                <a:ea typeface="Calibri" pitchFamily="34" charset="-122"/>
                <a:cs typeface="Calibri" pitchFamily="34" charset="-120"/>
              </a:rPr>
              <a:t>· 第一阶段未复现出基准 → 中止
</a:t>
            </a:r>
            <a:pPr indent="0" marL="0">
              <a:lnSpc>
                <a:spcPct val="114000"/>
              </a:lnSpc>
              <a:buNone/>
            </a:pPr>
            <a:r>
              <a:rPr lang="en-US" sz="900" dirty="0">
                <a:solidFill>
                  <a:srgbClr val="22303D"/>
                </a:solidFill>
                <a:latin typeface="Calibri" pitchFamily="34" charset="0"/>
                <a:ea typeface="Calibri" pitchFamily="34" charset="-122"/>
                <a:cs typeface="Calibri" pitchFamily="34" charset="-120"/>
              </a:rPr>
              <a:t>· 第 2 组未达绝对标准 → 该批次数据不予采用，重复实验
</a:t>
            </a:r>
            <a:pPr indent="0" marL="0">
              <a:lnSpc>
                <a:spcPct val="114000"/>
              </a:lnSpc>
              <a:buNone/>
            </a:pPr>
            <a:r>
              <a:rPr lang="en-US" sz="900" dirty="0">
                <a:solidFill>
                  <a:srgbClr val="22303D"/>
                </a:solidFill>
                <a:latin typeface="Calibri" pitchFamily="34" charset="0"/>
                <a:ea typeface="Calibri" pitchFamily="34" charset="-122"/>
                <a:cs typeface="Calibri" pitchFamily="34" charset="-120"/>
              </a:rPr>
              <a:t>· 第 1 组与第 3 组同时失败 → 归因于亚群属性，课题终止
</a:t>
            </a:r>
            <a:pPr indent="0" marL="0">
              <a:lnSpc>
                <a:spcPct val="114000"/>
              </a:lnSpc>
              <a:buNone/>
            </a:pPr>
            <a:r>
              <a:rPr lang="en-US" sz="900" dirty="0">
                <a:solidFill>
                  <a:srgbClr val="22303D"/>
                </a:solidFill>
                <a:latin typeface="Calibri" pitchFamily="34" charset="0"/>
                <a:ea typeface="Calibri" pitchFamily="34" charset="-122"/>
                <a:cs typeface="Calibri" pitchFamily="34" charset="-120"/>
              </a:rPr>
              <a:t>· 第 3 组极化正常 → 该条件不能诱导，阴性结论，课题终止
</a:t>
            </a:r>
            <a:pPr indent="0" marL="0">
              <a:lnSpc>
                <a:spcPct val="114000"/>
              </a:lnSpc>
              <a:buNone/>
            </a:pPr>
            <a:r>
              <a:rPr lang="en-US" sz="900" dirty="0">
                <a:solidFill>
                  <a:srgbClr val="22303D"/>
                </a:solidFill>
                <a:latin typeface="Calibri" pitchFamily="34" charset="0"/>
                <a:ea typeface="Calibri" pitchFamily="34" charset="-122"/>
                <a:cs typeface="Calibri" pitchFamily="34" charset="-120"/>
              </a:rPr>
              <a:t>· 近端信号匹配后极化恢复 → 归因于受体表达差异，课题终止</a:t>
            </a:r>
            <a:endParaRPr lang="en-US" sz="900" dirty="0"/>
          </a:p>
        </p:txBody>
      </p:sp>
      <p:sp>
        <p:nvSpPr>
          <p:cNvPr id="26" name="Shape 24"/>
          <p:cNvSpPr/>
          <p:nvPr/>
        </p:nvSpPr>
        <p:spPr>
          <a:xfrm>
            <a:off x="548640" y="5486400"/>
            <a:ext cx="11091672" cy="859536"/>
          </a:xfrm>
          <a:prstGeom prst="roundRect">
            <a:avLst>
              <a:gd name="adj" fmla="val 6383"/>
            </a:avLst>
          </a:prstGeom>
          <a:solidFill>
            <a:srgbClr val="22303D"/>
          </a:solidFill>
          <a:ln w="12700">
            <a:solidFill>
              <a:srgbClr val="22303D"/>
            </a:solidFill>
            <a:prstDash val="solid"/>
          </a:ln>
        </p:spPr>
      </p:sp>
      <p:sp>
        <p:nvSpPr>
          <p:cNvPr id="27" name="Text 25"/>
          <p:cNvSpPr/>
          <p:nvPr/>
        </p:nvSpPr>
        <p:spPr>
          <a:xfrm>
            <a:off x="786384" y="5605272"/>
            <a:ext cx="10616184" cy="219456"/>
          </a:xfrm>
          <a:prstGeom prst="rect">
            <a:avLst/>
          </a:prstGeom>
          <a:noFill/>
          <a:ln/>
        </p:spPr>
        <p:txBody>
          <a:bodyPr wrap="square" lIns="0" tIns="0" rIns="0" bIns="0" rtlCol="0" anchor="ctr"/>
          <a:lstStyle/>
          <a:p>
            <a:pPr indent="0" marL="0">
              <a:buNone/>
            </a:pPr>
            <a:r>
              <a:rPr lang="en-US" sz="1050" b="1" spc="60" kern="0" dirty="0">
                <a:solidFill>
                  <a:srgbClr val="9FB2C4"/>
                </a:solidFill>
                <a:latin typeface="Calibri" pitchFamily="34" charset="0"/>
                <a:ea typeface="Calibri" pitchFamily="34" charset="-122"/>
                <a:cs typeface="Calibri" pitchFamily="34" charset="-120"/>
              </a:rPr>
              <a:t>对课题预期产出的说明</a:t>
            </a:r>
            <a:endParaRPr lang="en-US" sz="1050" dirty="0"/>
          </a:p>
        </p:txBody>
      </p:sp>
      <p:sp>
        <p:nvSpPr>
          <p:cNvPr id="28" name="Text 26"/>
          <p:cNvSpPr/>
          <p:nvPr/>
        </p:nvSpPr>
        <p:spPr>
          <a:xfrm>
            <a:off x="841248" y="5797296"/>
            <a:ext cx="10515600" cy="402336"/>
          </a:xfrm>
          <a:prstGeom prst="rect">
            <a:avLst/>
          </a:prstGeom>
          <a:noFill/>
          <a:ln/>
        </p:spPr>
        <p:txBody>
          <a:bodyPr wrap="square" lIns="0" tIns="0" rIns="0" bIns="0" rtlCol="0" anchor="ctr"/>
          <a:lstStyle/>
          <a:p>
            <a:pPr indent="0" marL="0">
              <a:lnSpc>
                <a:spcPct val="118000"/>
              </a:lnSpc>
              <a:buNone/>
            </a:pPr>
            <a:r>
              <a:rPr lang="en-US" sz="1050" dirty="0">
                <a:solidFill>
                  <a:srgbClr val="FFFFFF"/>
                </a:solidFill>
                <a:latin typeface="Calibri" pitchFamily="34" charset="0"/>
                <a:ea typeface="Calibri" pitchFamily="34" charset="-122"/>
                <a:cs typeface="Calibri" pitchFamily="34" charset="-120"/>
              </a:rPr>
              <a:t>第二阶段单独成立时，所得为一项表型结果，不含分子机制，亦不在肿瘤情境下 —— 预期为专业期刊水平。</a:t>
            </a:r>
            <a:pPr indent="0" marL="0">
              <a:lnSpc>
                <a:spcPct val="118000"/>
              </a:lnSpc>
              <a:buNone/>
            </a:pPr>
            <a:r>
              <a:rPr lang="en-US" sz="1050" b="1" dirty="0">
                <a:solidFill>
                  <a:srgbClr val="F2A0A6"/>
                </a:solidFill>
                <a:latin typeface="Calibri" pitchFamily="34" charset="0"/>
                <a:ea typeface="Calibri" pitchFamily="34" charset="-122"/>
                <a:cs typeface="Calibri" pitchFamily="34" charset="-120"/>
              </a:rPr>
              <a:t>主要价值在于第三阶段的分子机制与第四阶段的肿瘤内验证，而此两阶段均存在失败可能。</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64240" cy="219456"/>
          </a:xfrm>
          <a:prstGeom prst="rect">
            <a:avLst/>
          </a:prstGeom>
          <a:noFill/>
          <a:ln/>
        </p:spPr>
        <p:txBody>
          <a:bodyPr wrap="square" lIns="0" tIns="0" rIns="0" bIns="0" rtlCol="0" anchor="ctr"/>
          <a:lstStyle/>
          <a:p>
            <a:pPr indent="0" marL="0">
              <a:buNone/>
            </a:pPr>
            <a:r>
              <a:rPr lang="en-US" sz="1050" b="1" spc="100" kern="0" dirty="0">
                <a:solidFill>
                  <a:srgbClr val="B3202C"/>
                </a:solidFill>
                <a:latin typeface="Calibri" pitchFamily="34" charset="0"/>
                <a:ea typeface="Calibri" pitchFamily="34" charset="-122"/>
                <a:cs typeface="Calibri" pitchFamily="34" charset="-120"/>
              </a:rPr>
              <a:t>总结</a:t>
            </a:r>
            <a:endParaRPr lang="en-US" sz="1050" dirty="0"/>
          </a:p>
        </p:txBody>
      </p:sp>
      <p:sp>
        <p:nvSpPr>
          <p:cNvPr id="3" name="Text 1"/>
          <p:cNvSpPr/>
          <p:nvPr/>
        </p:nvSpPr>
        <p:spPr>
          <a:xfrm>
            <a:off x="548640" y="475488"/>
            <a:ext cx="11064240" cy="512064"/>
          </a:xfrm>
          <a:prstGeom prst="rect">
            <a:avLst/>
          </a:prstGeom>
          <a:noFill/>
          <a:ln/>
        </p:spPr>
        <p:txBody>
          <a:bodyPr wrap="square" lIns="0" tIns="0" rIns="0" bIns="0" rtlCol="0" anchor="ctr"/>
          <a:lstStyle/>
          <a:p>
            <a:pPr indent="0" marL="0">
              <a:buNone/>
            </a:pPr>
            <a:r>
              <a:rPr lang="en-US" sz="2600" b="1" dirty="0">
                <a:solidFill>
                  <a:srgbClr val="22303D"/>
                </a:solidFill>
                <a:latin typeface="Cambria" pitchFamily="34" charset="0"/>
                <a:ea typeface="Cambria" pitchFamily="34" charset="-122"/>
                <a:cs typeface="Cambria" pitchFamily="34" charset="-120"/>
              </a:rPr>
              <a:t>核心科学问题</a:t>
            </a:r>
            <a:endParaRPr lang="en-US" sz="2600" dirty="0"/>
          </a:p>
        </p:txBody>
      </p:sp>
      <p:sp>
        <p:nvSpPr>
          <p:cNvPr id="4" name="Text 2"/>
          <p:cNvSpPr/>
          <p:nvPr/>
        </p:nvSpPr>
        <p:spPr>
          <a:xfrm>
            <a:off x="548640" y="1005840"/>
            <a:ext cx="11064240" cy="292608"/>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其余各页均服务于使该问题可被实验验证</a:t>
            </a:r>
            <a:endParaRPr lang="en-US" sz="1200" dirty="0"/>
          </a:p>
        </p:txBody>
      </p:sp>
      <p:sp>
        <p:nvSpPr>
          <p:cNvPr id="5" name="Shape 3"/>
          <p:cNvSpPr/>
          <p:nvPr/>
        </p:nvSpPr>
        <p:spPr>
          <a:xfrm>
            <a:off x="548640" y="1481328"/>
            <a:ext cx="11091672" cy="1152144"/>
          </a:xfrm>
          <a:prstGeom prst="roundRect">
            <a:avLst>
              <a:gd name="adj" fmla="val 4762"/>
            </a:avLst>
          </a:prstGeom>
          <a:solidFill>
            <a:srgbClr val="22303D"/>
          </a:solidFill>
          <a:ln w="12700">
            <a:solidFill>
              <a:srgbClr val="22303D"/>
            </a:solidFill>
            <a:prstDash val="solid"/>
          </a:ln>
        </p:spPr>
      </p:sp>
      <p:sp>
        <p:nvSpPr>
          <p:cNvPr id="6" name="Text 4"/>
          <p:cNvSpPr/>
          <p:nvPr/>
        </p:nvSpPr>
        <p:spPr>
          <a:xfrm>
            <a:off x="877824" y="1627632"/>
            <a:ext cx="10424160" cy="859536"/>
          </a:xfrm>
          <a:prstGeom prst="rect">
            <a:avLst/>
          </a:prstGeom>
          <a:noFill/>
          <a:ln/>
        </p:spPr>
        <p:txBody>
          <a:bodyPr wrap="square" lIns="0" tIns="0" rIns="0" bIns="0" rtlCol="0" anchor="ctr"/>
          <a:lstStyle/>
          <a:p>
            <a:pPr indent="0" marL="0">
              <a:lnSpc>
                <a:spcPct val="122000"/>
              </a:lnSpc>
              <a:buNone/>
            </a:pPr>
            <a:r>
              <a:rPr lang="en-US" sz="1500" dirty="0">
                <a:solidFill>
                  <a:srgbClr val="FFFFFF"/>
                </a:solidFill>
                <a:latin typeface="Calibri" pitchFamily="34" charset="0"/>
                <a:ea typeface="Calibri" pitchFamily="34" charset="-122"/>
                <a:cs typeface="Calibri" pitchFamily="34" charset="-120"/>
              </a:rPr>
              <a:t>NK 细胞的 MTOC 极化过程，是否存在一类</a:t>
            </a:r>
            <a:pPr indent="0" marL="0">
              <a:lnSpc>
                <a:spcPct val="122000"/>
              </a:lnSpc>
              <a:buNone/>
            </a:pPr>
            <a:r>
              <a:rPr lang="en-US" sz="1500" b="1" dirty="0">
                <a:solidFill>
                  <a:srgbClr val="F2A0A6"/>
                </a:solidFill>
                <a:latin typeface="Calibri" pitchFamily="34" charset="0"/>
                <a:ea typeface="Calibri" pitchFamily="34" charset="-122"/>
                <a:cs typeface="Calibri" pitchFamily="34" charset="-120"/>
              </a:rPr>
              <a:t>由微环境诱导产生、由细胞自身携带、不依赖靶细胞配体</a:t>
            </a:r>
            <a:pPr indent="0" marL="0">
              <a:lnSpc>
                <a:spcPct val="122000"/>
              </a:lnSpc>
              <a:buNone/>
            </a:pPr>
            <a:r>
              <a:rPr lang="en-US" sz="1500" dirty="0">
                <a:solidFill>
                  <a:srgbClr val="FFFFFF"/>
                </a:solidFill>
                <a:latin typeface="Calibri" pitchFamily="34" charset="0"/>
                <a:ea typeface="Calibri" pitchFamily="34" charset="-122"/>
                <a:cs typeface="Calibri" pitchFamily="34" charset="-120"/>
              </a:rPr>
              <a:t>的持久性制动？</a:t>
            </a:r>
            <a:endParaRPr lang="en-US" sz="1500" dirty="0"/>
          </a:p>
          <a:p>
            <a:pPr indent="0" marL="0">
              <a:lnSpc>
                <a:spcPct val="122000"/>
              </a:lnSpc>
              <a:buNone/>
            </a:pPr>
            <a:r>
              <a:rPr lang="en-US" sz="1500" dirty="0">
                <a:solidFill>
                  <a:srgbClr val="FFFFFF"/>
                </a:solidFill>
                <a:latin typeface="Calibri" pitchFamily="34" charset="0"/>
                <a:ea typeface="Calibri" pitchFamily="34" charset="-122"/>
                <a:cs typeface="Calibri" pitchFamily="34" charset="-120"/>
              </a:rPr>
              <a:t>若该类制动成立，则蜕膜的免疫耐受与肿瘤的免疫逃逸为同一机制在两种情境下的表现。</a:t>
            </a:r>
            <a:endParaRPr lang="en-US" sz="1500" dirty="0"/>
          </a:p>
        </p:txBody>
      </p:sp>
      <p:sp>
        <p:nvSpPr>
          <p:cNvPr id="7" name="Shape 5"/>
          <p:cNvSpPr/>
          <p:nvPr/>
        </p:nvSpPr>
        <p:spPr>
          <a:xfrm>
            <a:off x="548640" y="2889504"/>
            <a:ext cx="3502152" cy="2066544"/>
          </a:xfrm>
          <a:prstGeom prst="roundRect">
            <a:avLst>
              <a:gd name="adj" fmla="val 2655"/>
            </a:avLst>
          </a:prstGeom>
          <a:solidFill>
            <a:srgbClr val="FFFFFF"/>
          </a:solidFill>
          <a:ln w="17780">
            <a:solidFill>
              <a:srgbClr val="1B6E6D"/>
            </a:solidFill>
            <a:prstDash val="solid"/>
          </a:ln>
        </p:spPr>
      </p:sp>
      <p:sp>
        <p:nvSpPr>
          <p:cNvPr id="8" name="Text 6"/>
          <p:cNvSpPr/>
          <p:nvPr/>
        </p:nvSpPr>
        <p:spPr>
          <a:xfrm>
            <a:off x="786384" y="3054096"/>
            <a:ext cx="3026664" cy="274320"/>
          </a:xfrm>
          <a:prstGeom prst="rect">
            <a:avLst/>
          </a:prstGeom>
          <a:noFill/>
          <a:ln/>
        </p:spPr>
        <p:txBody>
          <a:bodyPr wrap="square" lIns="0" tIns="0" rIns="0" bIns="0" rtlCol="0" anchor="ctr"/>
          <a:lstStyle/>
          <a:p>
            <a:pPr indent="0" marL="0">
              <a:buNone/>
            </a:pPr>
            <a:r>
              <a:rPr lang="en-US" sz="1400" b="1" dirty="0">
                <a:solidFill>
                  <a:srgbClr val="1B6E6D"/>
                </a:solidFill>
                <a:latin typeface="Cambria" pitchFamily="34" charset="0"/>
                <a:ea typeface="Cambria" pitchFamily="34" charset="-122"/>
                <a:cs typeface="Cambria" pitchFamily="34" charset="-120"/>
              </a:rPr>
              <a:t>机制推论</a:t>
            </a:r>
            <a:endParaRPr lang="en-US" sz="1400" dirty="0"/>
          </a:p>
        </p:txBody>
      </p:sp>
      <p:sp>
        <p:nvSpPr>
          <p:cNvPr id="9" name="Text 7"/>
          <p:cNvSpPr/>
          <p:nvPr/>
        </p:nvSpPr>
        <p:spPr>
          <a:xfrm>
            <a:off x="786384" y="3401568"/>
            <a:ext cx="3026664" cy="1408176"/>
          </a:xfrm>
          <a:prstGeom prst="rect">
            <a:avLst/>
          </a:prstGeom>
          <a:noFill/>
          <a:ln/>
        </p:spPr>
        <p:txBody>
          <a:bodyPr wrap="square" lIns="0" tIns="0" rIns="0" bIns="0" rtlCol="0" anchor="t"/>
          <a:lstStyle/>
          <a:p>
            <a:pPr indent="0" marL="0">
              <a:lnSpc>
                <a:spcPct val="118000"/>
              </a:lnSpc>
              <a:buNone/>
            </a:pPr>
            <a:r>
              <a:rPr lang="en-US" sz="1050" dirty="0">
                <a:solidFill>
                  <a:srgbClr val="22303D"/>
                </a:solidFill>
                <a:latin typeface="Calibri" pitchFamily="34" charset="0"/>
                <a:ea typeface="Calibri" pitchFamily="34" charset="-122"/>
                <a:cs typeface="Calibri" pitchFamily="34" charset="-120"/>
              </a:rPr>
              <a:t>若成立，NKG2A 抗体（monalizumab）与 KIR 阻断在机制上仅解除配体依赖的一类，可为部分 NK 细胞免疫治疗在实体瘤中疗效受限提供一个可实验验证的解释。</a:t>
            </a:r>
            <a:endParaRPr lang="en-US" sz="1050" dirty="0"/>
          </a:p>
        </p:txBody>
      </p:sp>
      <p:sp>
        <p:nvSpPr>
          <p:cNvPr id="10" name="Shape 8"/>
          <p:cNvSpPr/>
          <p:nvPr/>
        </p:nvSpPr>
        <p:spPr>
          <a:xfrm>
            <a:off x="4343400" y="2889504"/>
            <a:ext cx="3502152" cy="2066544"/>
          </a:xfrm>
          <a:prstGeom prst="roundRect">
            <a:avLst>
              <a:gd name="adj" fmla="val 2655"/>
            </a:avLst>
          </a:prstGeom>
          <a:solidFill>
            <a:srgbClr val="FFFFFF"/>
          </a:solidFill>
          <a:ln w="17780">
            <a:solidFill>
              <a:srgbClr val="4A3A72"/>
            </a:solidFill>
            <a:prstDash val="solid"/>
          </a:ln>
        </p:spPr>
      </p:sp>
      <p:sp>
        <p:nvSpPr>
          <p:cNvPr id="11" name="Text 9"/>
          <p:cNvSpPr/>
          <p:nvPr/>
        </p:nvSpPr>
        <p:spPr>
          <a:xfrm>
            <a:off x="4581144" y="3054096"/>
            <a:ext cx="3026664" cy="274320"/>
          </a:xfrm>
          <a:prstGeom prst="rect">
            <a:avLst/>
          </a:prstGeom>
          <a:noFill/>
          <a:ln/>
        </p:spPr>
        <p:txBody>
          <a:bodyPr wrap="square" lIns="0" tIns="0" rIns="0" bIns="0" rtlCol="0" anchor="ctr"/>
          <a:lstStyle/>
          <a:p>
            <a:pPr indent="0" marL="0">
              <a:buNone/>
            </a:pPr>
            <a:r>
              <a:rPr lang="en-US" sz="1400" b="1" dirty="0">
                <a:solidFill>
                  <a:srgbClr val="4A3A72"/>
                </a:solidFill>
                <a:latin typeface="Cambria" pitchFamily="34" charset="0"/>
                <a:ea typeface="Cambria" pitchFamily="34" charset="-122"/>
                <a:cs typeface="Cambria" pitchFamily="34" charset="-120"/>
              </a:rPr>
              <a:t>验证策略</a:t>
            </a:r>
            <a:endParaRPr lang="en-US" sz="1400" dirty="0"/>
          </a:p>
        </p:txBody>
      </p:sp>
      <p:sp>
        <p:nvSpPr>
          <p:cNvPr id="12" name="Text 10"/>
          <p:cNvSpPr/>
          <p:nvPr/>
        </p:nvSpPr>
        <p:spPr>
          <a:xfrm>
            <a:off x="4581144" y="3401568"/>
            <a:ext cx="3026664" cy="1408176"/>
          </a:xfrm>
          <a:prstGeom prst="rect">
            <a:avLst/>
          </a:prstGeom>
          <a:noFill/>
          <a:ln/>
        </p:spPr>
        <p:txBody>
          <a:bodyPr wrap="square" lIns="0" tIns="0" rIns="0" bIns="0" rtlCol="0" anchor="t"/>
          <a:lstStyle/>
          <a:p>
            <a:pPr indent="0" marL="0">
              <a:lnSpc>
                <a:spcPct val="118000"/>
              </a:lnSpc>
              <a:buNone/>
            </a:pPr>
            <a:r>
              <a:rPr lang="en-US" sz="1050" dirty="0">
                <a:solidFill>
                  <a:srgbClr val="22303D"/>
                </a:solidFill>
                <a:latin typeface="Calibri" pitchFamily="34" charset="0"/>
                <a:ea typeface="Calibri" pitchFamily="34" charset="-122"/>
                <a:cs typeface="Calibri" pitchFamily="34" charset="-120"/>
              </a:rPr>
              <a:t>固相刺激不使用靶细胞，排除配体依赖性抑制与靶细胞活化信号不足；近端信号匹配，排除受体表达差异；洗脱验证细胞携带性。该判定为单向。</a:t>
            </a:r>
            <a:endParaRPr lang="en-US" sz="1050" dirty="0"/>
          </a:p>
        </p:txBody>
      </p:sp>
      <p:sp>
        <p:nvSpPr>
          <p:cNvPr id="13" name="Shape 11"/>
          <p:cNvSpPr/>
          <p:nvPr/>
        </p:nvSpPr>
        <p:spPr>
          <a:xfrm>
            <a:off x="8138160" y="2889504"/>
            <a:ext cx="3502152" cy="2066544"/>
          </a:xfrm>
          <a:prstGeom prst="roundRect">
            <a:avLst>
              <a:gd name="adj" fmla="val 2655"/>
            </a:avLst>
          </a:prstGeom>
          <a:solidFill>
            <a:srgbClr val="FFFFFF"/>
          </a:solidFill>
          <a:ln w="17780">
            <a:solidFill>
              <a:srgbClr val="B3202C"/>
            </a:solidFill>
            <a:prstDash val="solid"/>
          </a:ln>
        </p:spPr>
      </p:sp>
      <p:sp>
        <p:nvSpPr>
          <p:cNvPr id="14" name="Text 12"/>
          <p:cNvSpPr/>
          <p:nvPr/>
        </p:nvSpPr>
        <p:spPr>
          <a:xfrm>
            <a:off x="8375904" y="3054096"/>
            <a:ext cx="3026664" cy="274320"/>
          </a:xfrm>
          <a:prstGeom prst="rect">
            <a:avLst/>
          </a:prstGeom>
          <a:noFill/>
          <a:ln/>
        </p:spPr>
        <p:txBody>
          <a:bodyPr wrap="square" lIns="0" tIns="0" rIns="0" bIns="0" rtlCol="0" anchor="ctr"/>
          <a:lstStyle/>
          <a:p>
            <a:pPr indent="0" marL="0">
              <a:buNone/>
            </a:pPr>
            <a:r>
              <a:rPr lang="en-US" sz="1400" b="1" dirty="0">
                <a:solidFill>
                  <a:srgbClr val="B3202C"/>
                </a:solidFill>
                <a:latin typeface="Cambria" pitchFamily="34" charset="0"/>
                <a:ea typeface="Cambria" pitchFamily="34" charset="-122"/>
                <a:cs typeface="Cambria" pitchFamily="34" charset="-120"/>
              </a:rPr>
              <a:t>实施路径</a:t>
            </a:r>
            <a:endParaRPr lang="en-US" sz="1400" dirty="0"/>
          </a:p>
        </p:txBody>
      </p:sp>
      <p:sp>
        <p:nvSpPr>
          <p:cNvPr id="15" name="Text 13"/>
          <p:cNvSpPr/>
          <p:nvPr/>
        </p:nvSpPr>
        <p:spPr>
          <a:xfrm>
            <a:off x="8375904" y="3401568"/>
            <a:ext cx="3026664" cy="1408176"/>
          </a:xfrm>
          <a:prstGeom prst="rect">
            <a:avLst/>
          </a:prstGeom>
          <a:noFill/>
          <a:ln/>
        </p:spPr>
        <p:txBody>
          <a:bodyPr wrap="square" lIns="0" tIns="0" rIns="0" bIns="0" rtlCol="0" anchor="t"/>
          <a:lstStyle/>
          <a:p>
            <a:pPr indent="0" marL="0">
              <a:lnSpc>
                <a:spcPct val="118000"/>
              </a:lnSpc>
              <a:buNone/>
            </a:pPr>
            <a:r>
              <a:rPr lang="en-US" sz="1050" dirty="0">
                <a:solidFill>
                  <a:srgbClr val="22303D"/>
                </a:solidFill>
                <a:latin typeface="Calibri" pitchFamily="34" charset="0"/>
                <a:ea typeface="Calibri" pitchFamily="34" charset="-122"/>
                <a:cs typeface="Calibri" pitchFamily="34" charset="-120"/>
              </a:rPr>
              <a:t>NK-92 细胞株仅用于建立成像方法；诱导与洗脱在原代外周血 NK 细胞上完成；蜕膜 NK 细胞臂与之并行，直接判定 Kopcow 结果的归属；机制定位先排除已知节点；肿瘤内验证与体内恢复实验条件性启动。</a:t>
            </a:r>
            <a:endParaRPr lang="en-US" sz="1050" dirty="0"/>
          </a:p>
        </p:txBody>
      </p:sp>
      <p:sp>
        <p:nvSpPr>
          <p:cNvPr id="16" name="Shape 14"/>
          <p:cNvSpPr/>
          <p:nvPr/>
        </p:nvSpPr>
        <p:spPr>
          <a:xfrm>
            <a:off x="548640" y="5193792"/>
            <a:ext cx="11091672" cy="969264"/>
          </a:xfrm>
          <a:prstGeom prst="roundRect">
            <a:avLst>
              <a:gd name="adj" fmla="val 5660"/>
            </a:avLst>
          </a:prstGeom>
          <a:solidFill>
            <a:srgbClr val="FBEDEE"/>
          </a:solidFill>
          <a:ln w="17780">
            <a:solidFill>
              <a:srgbClr val="B3202C"/>
            </a:solidFill>
            <a:prstDash val="solid"/>
          </a:ln>
        </p:spPr>
      </p:sp>
      <p:sp>
        <p:nvSpPr>
          <p:cNvPr id="17" name="Text 15"/>
          <p:cNvSpPr/>
          <p:nvPr/>
        </p:nvSpPr>
        <p:spPr>
          <a:xfrm>
            <a:off x="786384" y="5312664"/>
            <a:ext cx="10616184" cy="219456"/>
          </a:xfrm>
          <a:prstGeom prst="rect">
            <a:avLst/>
          </a:prstGeom>
          <a:noFill/>
          <a:ln/>
        </p:spPr>
        <p:txBody>
          <a:bodyPr wrap="square" lIns="0" tIns="0" rIns="0" bIns="0" rtlCol="0" anchor="ctr"/>
          <a:lstStyle/>
          <a:p>
            <a:pPr indent="0" marL="0">
              <a:buNone/>
            </a:pPr>
            <a:r>
              <a:rPr lang="en-US" sz="1050" b="1" spc="60" kern="0" dirty="0">
                <a:solidFill>
                  <a:srgbClr val="B3202C"/>
                </a:solidFill>
                <a:latin typeface="Calibri" pitchFamily="34" charset="0"/>
                <a:ea typeface="Calibri" pitchFamily="34" charset="-122"/>
                <a:cs typeface="Calibri" pitchFamily="34" charset="-120"/>
              </a:rPr>
              <a:t>结论范围的限定</a:t>
            </a:r>
            <a:endParaRPr lang="en-US" sz="1050" dirty="0"/>
          </a:p>
        </p:txBody>
      </p:sp>
      <p:sp>
        <p:nvSpPr>
          <p:cNvPr id="18" name="Text 16"/>
          <p:cNvSpPr/>
          <p:nvPr/>
        </p:nvSpPr>
        <p:spPr>
          <a:xfrm>
            <a:off x="786384" y="5522976"/>
            <a:ext cx="10607040" cy="548640"/>
          </a:xfrm>
          <a:prstGeom prst="rect">
            <a:avLst/>
          </a:prstGeom>
          <a:noFill/>
          <a:ln/>
        </p:spPr>
        <p:txBody>
          <a:bodyPr wrap="square" lIns="0" tIns="0" rIns="0" bIns="0" rtlCol="0" anchor="ctr"/>
          <a:lstStyle/>
          <a:p>
            <a:pPr indent="0" marL="0">
              <a:lnSpc>
                <a:spcPct val="116000"/>
              </a:lnSpc>
              <a:buNone/>
            </a:pPr>
            <a:r>
              <a:rPr lang="en-US" sz="1050" b="1" dirty="0">
                <a:solidFill>
                  <a:srgbClr val="22303D"/>
                </a:solidFill>
                <a:latin typeface="Calibri" pitchFamily="34" charset="0"/>
                <a:ea typeface="Calibri" pitchFamily="34" charset="-122"/>
                <a:cs typeface="Calibri" pitchFamily="34" charset="-120"/>
              </a:rPr>
              <a:t>即使结果为阳性，其所支持的仅为「该制动不依赖即时配体接合、可被诱导、可由细胞携带」，不支持任何具体分子机制。</a:t>
            </a:r>
            <a:pPr indent="0" marL="0">
              <a:lnSpc>
                <a:spcPct val="116000"/>
              </a:lnSpc>
              <a:buNone/>
            </a:pPr>
            <a:r>
              <a:rPr lang="en-US" sz="1050" dirty="0">
                <a:solidFill>
                  <a:srgbClr val="22303D"/>
                </a:solidFill>
                <a:latin typeface="Calibri" pitchFamily="34" charset="0"/>
                <a:ea typeface="Calibri" pitchFamily="34" charset="-122"/>
                <a:cs typeface="Calibri" pitchFamily="34" charset="-120"/>
              </a:rPr>
              <a:t>表观遗传、代谢等层面的归因须待第三阶段结果，暂不写入结论。</a:t>
            </a:r>
            <a:endParaRPr lang="en-US" sz="1050" dirty="0"/>
          </a:p>
        </p:txBody>
      </p:sp>
      <p:sp>
        <p:nvSpPr>
          <p:cNvPr id="19" name="Text 17"/>
          <p:cNvSpPr/>
          <p:nvPr/>
        </p:nvSpPr>
        <p:spPr>
          <a:xfrm>
            <a:off x="548640" y="6309360"/>
            <a:ext cx="11091672" cy="256032"/>
          </a:xfrm>
          <a:prstGeom prst="rect">
            <a:avLst/>
          </a:prstGeom>
          <a:noFill/>
          <a:ln/>
        </p:spPr>
        <p:txBody>
          <a:bodyPr wrap="square" lIns="0" tIns="0" rIns="0" bIns="0" rtlCol="0" anchor="ctr"/>
          <a:lstStyle/>
          <a:p>
            <a:pPr indent="0" marL="0">
              <a:buNone/>
            </a:pPr>
            <a:r>
              <a:rPr lang="en-US" sz="1050" dirty="0">
                <a:solidFill>
                  <a:srgbClr val="6B7683"/>
                </a:solidFill>
                <a:latin typeface="Calibri" pitchFamily="34" charset="0"/>
                <a:ea typeface="Calibri" pitchFamily="34" charset="-122"/>
                <a:cs typeface="Calibri" pitchFamily="34" charset="-120"/>
              </a:rPr>
              <a:t>谢谢，欢迎讨论</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14583</Words>
  <Application>WPS 演示</Application>
  <PresentationFormat>On-screen Show (4:3)</PresentationFormat>
  <Paragraphs>1442</Paragraphs>
  <Slides>40</Slides>
  <Notes>0</Notes>
  <HiddenSlides>0</HiddenSlides>
  <MMClips>0</MMClips>
  <ScaleCrop>false</ScaleCrop>
  <HeadingPairs>
    <vt:vector size="6" baseType="variant">
      <vt:variant>
        <vt:lpstr>已用的字体</vt:lpstr>
      </vt:variant>
      <vt:variant>
        <vt:i4>27</vt:i4>
      </vt:variant>
      <vt:variant>
        <vt:lpstr>主题</vt:lpstr>
      </vt:variant>
      <vt:variant>
        <vt:i4>2</vt:i4>
      </vt:variant>
      <vt:variant>
        <vt:lpstr>幻灯片标题</vt:lpstr>
      </vt:variant>
      <vt:variant>
        <vt:i4>40</vt:i4>
      </vt:variant>
    </vt:vector>
  </HeadingPairs>
  <TitlesOfParts>
    <vt:vector size="69" baseType="lpstr">
      <vt:lpstr>Arial</vt:lpstr>
      <vt:lpstr>宋体</vt:lpstr>
      <vt:lpstr>Wingdings</vt:lpstr>
      <vt:lpstr>Arial</vt:lpstr>
      <vt:lpstr>华文行楷</vt:lpstr>
      <vt:lpstr>宋体-简</vt:lpstr>
      <vt:lpstr>Calibri</vt:lpstr>
      <vt:lpstr>微软雅黑</vt:lpstr>
      <vt:lpstr>方正雅意黑 GB18030L2</vt:lpstr>
      <vt:lpstr>华文仿宋</vt:lpstr>
      <vt:lpstr>Times New Roman</vt:lpstr>
      <vt:lpstr>楷体</vt:lpstr>
      <vt:lpstr>等线</vt:lpstr>
      <vt:lpstr>汉仪中等线KW</vt:lpstr>
      <vt:lpstr>Helvetica Neue</vt:lpstr>
      <vt:lpstr>汉仪楷体KW</vt:lpstr>
      <vt:lpstr>宋体</vt:lpstr>
      <vt:lpstr>Arial Unicode MS</vt:lpstr>
      <vt:lpstr>等线 Light</vt:lpstr>
      <vt:lpstr>汉仪书宋二KW</vt:lpstr>
      <vt:lpstr>微软雅黑</vt:lpstr>
      <vt:lpstr>微软雅黑</vt:lpstr>
      <vt:lpstr>仿宋-简</vt:lpstr>
      <vt:lpstr>Wingdings</vt:lpstr>
      <vt:lpstr>华文仿宋</vt:lpstr>
      <vt:lpstr>微软雅黑</vt:lpstr>
      <vt:lpstr>楷体</vt:lpstr>
      <vt:lpstr>Office 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月满西楼</cp:lastModifiedBy>
  <cp:revision>4</cp:revision>
  <dcterms:created xsi:type="dcterms:W3CDTF">2026-10-08T04:30:56Z</dcterms:created>
  <dcterms:modified xsi:type="dcterms:W3CDTF">2026-10-08T04:30:56Z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2052-12.1.26046.26046</vt:lpwstr>
  </property>
  <property fmtid="{D5CDD505-2E9C-101B-9397-08002B2CF9AE}" pid="3" name="ICV">
    <vt:lpwstr>6F6B0C9615F9E62A651FA56A8F1998B1_42</vt:lpwstr>
  </property>
</Properties>
</file>