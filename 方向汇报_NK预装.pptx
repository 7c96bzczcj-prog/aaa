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肿瘤内占比</c:v>
                </c:pt>
              </c:strCache>
            </c:strRef>
          </c:tx>
          <c:spPr>
            <a:solidFill>
              <a:srgbClr val="A6A6A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3864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6A6A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6A6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6A6A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6A6A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6A6A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E5C9A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髓系</c:v>
                  </c:pt>
                  <c:pt idx="1">
                    <c:v>B</c:v>
                  </c:pt>
                  <c:pt idx="2">
                    <c:v>未分配</c:v>
                  </c:pt>
                  <c:pt idx="3">
                    <c:v>CD4T</c:v>
                  </c:pt>
                  <c:pt idx="4">
                    <c:v>CD8T</c:v>
                  </c:pt>
                  <c:pt idx="5">
                    <c:v>NK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28.7</c:v>
                </c:pt>
                <c:pt idx="1">
                  <c:v>20</c:v>
                </c:pt>
                <c:pt idx="2">
                  <c:v>18.8</c:v>
                </c:pt>
                <c:pt idx="3">
                  <c:v>17.8</c:v>
                </c:pt>
                <c:pt idx="4">
                  <c:v>10.7</c:v>
                </c:pt>
                <c:pt idx="5">
                  <c:v>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F3864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</c:scaling>
        <c:delete val="0"/>
        <c:axPos val="l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95959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检出率</c:v>
                </c:pt>
              </c:strCache>
            </c:strRef>
          </c:tx>
          <c:spPr>
            <a:solidFill>
              <a:srgbClr val="2E5C9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3864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CCL4</c:v>
                  </c:pt>
                  <c:pt idx="1">
                    <c:v>CCL3</c:v>
                  </c:pt>
                  <c:pt idx="2">
                    <c:v>XCL2</c:v>
                  </c:pt>
                  <c:pt idx="3">
                    <c:v>XCL1</c:v>
                  </c:pt>
                  <c:pt idx="4">
                    <c:v>CCL5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94.4</c:v>
                </c:pt>
                <c:pt idx="1">
                  <c:v>81.7</c:v>
                </c:pt>
                <c:pt idx="2">
                  <c:v>80.1</c:v>
                </c:pt>
                <c:pt idx="3">
                  <c:v>75.6</c:v>
                </c:pt>
                <c:pt idx="4">
                  <c:v>58.5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F3864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95959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簇内差值</c:v>
                </c:pt>
              </c:strCache>
            </c:strRef>
          </c:tx>
          <c:spPr>
            <a:solidFill>
              <a:srgbClr val="2E5C9A"/>
            </a:solidFill>
            <a:effectLst/>
          </c:spPr>
          <c:invertIfNegative val="0"/>
          <c:dLbls>
            <c:numFmt formatCode="+0.0;-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3864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5C9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5C9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6A6A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XCL1</c:v>
                  </c:pt>
                  <c:pt idx="1">
                    <c:v>XCL2</c:v>
                  </c:pt>
                  <c:pt idx="2">
                    <c:v>CXCR4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6.7</c:v>
                </c:pt>
                <c:pt idx="1">
                  <c:v>5.7</c:v>
                </c:pt>
                <c:pt idx="2">
                  <c:v>-3.5</c:v>
                </c:pt>
              </c:numCache>
            </c:numRef>
          </c:val>
        </c:ser>
        <c:dLbls>
          <c:numFmt formatCode="+0.0;-0.0" sourceLinked="0"/>
          <c:txPr>
            <a:bodyPr/>
            <a:lstStyle/>
            <a:p>
              <a:pPr>
                <a:defRPr b="0" i="0" strike="noStrike" sz="1200" u="none">
                  <a:solidFill>
                    <a:srgbClr val="1F3864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"/>
          <c:min val="-6"/>
        </c:scaling>
        <c:delete val="0"/>
        <c:axPos val="l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95959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基因数</c:v>
                </c:pt>
              </c:strCache>
            </c:strRef>
          </c:tx>
          <c:spPr>
            <a:solidFill>
              <a:srgbClr val="2E5C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F3864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5C9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6A6A6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可测</c:v>
                  </c:pt>
                  <c:pt idx="1">
                    <c:v>该深度下不可测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</c:v>
                </c:pt>
                <c:pt idx="1">
                  <c:v>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F3864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</c:scaling>
        <c:delete val="0"/>
        <c:axPos val="l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95959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这次讲一条线：NK 在实体瘤里之所以没用，可能不是分子问题，而是到达顺序问题。十分钟讲现状和转折，五分钟讲提案。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这是我们自己再分析的 GSE154826，CD45 阳性富集数据。NK 只占肿瘤内免疫细胞的 4%，癌旁 7.4%，进瘤以后掉一半。注意这已经是富集过的；未分选组织里 NK 大概只有 1%。“未分配”那一条是没能明确归类的细胞，如实列出。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这一页是引用 Dean 2024，不是我们的数据，所以是灰色标签。他们做的是活体追踪：NK 进入肿瘤后 24 到 72 小时内，表型从 CD11b 阳性转成 CD49a 阳性，同时趋化因子和杀伤能力一起掉。关键是“同时”——这排除了单纯的杀伤耗竭解释。数值我没有从原文取，所以这里是占位框，补图时按框里列的要求填。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这是全场第一个支点。如果在肿瘤已经长起来之后再敲除 NK，生长曲线不动；而在植瘤之前敲除则有差别。这说明晚到的 NK 不承担控制作用。Dean 2024 在多个模型里也是一致的，所以不是我们模型的特例。数据文件不在分析环境里，这里是占位框，需要分组/时间点/体积/n。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蜕膜 NK 是这个状态天然稳定存在的证明：它几乎不杀伤，但趋化因子基因检出率很高，CCL4 到 94%。所以“低杀伤”和“无功能”不是一回事。按亚群分列的值我这里没有，画的是跨亚群均值，已在页面上注明。刻意没有画拟时序图——定义这三个亚群的原文根本没做过排序声明，后面三篇的排序互相矛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右边是关键：在 dNK1 这一个簇内部再分 CD39 阳性和阴性，XCL1 涨 6.7 个百分点、XCL2 涨 5.7，三个供者方向都一致；而 CXCR4 在同一批细胞上是反号的，掉 3.5 个百分点。反号对照来自同一批细胞，这排除了整体检出深度差异造成的假象。左边按供者配对的图数据不在环境里，是占位框。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这是第二个支点，也是整条线的转轴。蜕膜里，NK 群体是在滋养层侵袭之前就建好的；肿瘤里，NK 是在肿瘤已经成型之后一个一个进去的。同样的分子环境，先到和后到结果完全不同。这一页是示意图，不是数据图，我不会拿它当证据。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提案是把顺序倒过来：不在肿瘤里补 NK，而是在肿瘤还没到的靶器官里先把状态装好。要特别说清楚，我们要的不是杀伤能力，是招募能力——分泌 CCL5 和 XCL1 把 cDC1 拉进来。措辞统一为“趋化因子满载、抗 TGF-β 沉默的组织驻留 NK 状态”，不用任何借代说法。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两条 Aim 不是并列的两个课题，是一个问题的两面：Aim 1 问诱导态为什么能持久，Aim 2 需要一个能持久的诱导态。机制和应用互为条件。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第一个实验刻意设计成一次同时给机制和结局：结节数是结局，CCL5/XCL1 保留度说明状态有没有装住，cDC1 数量说明招募链路有没有通。如果结节少了但 cDC1 没变，那机制解释就不成立，这个设计能让我们知道。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被问到“会不会是检出深度差异”时翻这一页。CXCR4 在亚群之间是一个方向，在 dNK1 簇内部是反方向，−3.5 个百分点。同一批细胞、同一套深度，方向相反，所以不是深度造成的。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被问“为什么只报这几个基因”时翻这一页。27 个候选里有 14 个在这个深度下贴地板，不是没差异，是测不出来。我们把它们标成不可测，不标成阴性——这两件事不一样。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40280"/>
            <a:ext cx="1109441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在肿瘤到达之前装好 NK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48640" y="3337560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研究方向汇报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唐泽宇 (Richard Tang) · 沈俊辰组 · 2026-08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NK 在实体瘤中极少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36192"/>
            <a:ext cx="329184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2E5C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4.0%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2761488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肿瘤内 NK 占免疫细胞比例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癌旁 7.4%（CD45⁺ 富集后）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63931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未分选组织中约 1%（GSE178341）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206240" y="1417320"/>
          <a:ext cx="7436815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7436815" y="59893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5C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本实验室分析 · GSE154826 (Leader NSCLC)，n = 28 例配对病人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进入肿瘤后 24–72 小时内同时丢失杀伤与趋化因子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53312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不是慢性耗竭，是快速、同步的功能塌陷。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4415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822960" y="2011680"/>
            <a:ext cx="10545775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Dean 2024 时间轴：5 h / 24 h / 72 h
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横轴：进入肿瘤后时间（5 h / 24 h / 72 h）
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纵轴：CD11b⁺CD49a⁻ → CD11b⁻CD49a⁺ 比例；Ccl3 / Ccl4 / Ccl5 与细胞毒同步下降
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所需数据：Dean I, et al. Nat Commun 2024;15:683 图内数值（本环境无）
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所需统计量：各时间点两群比例 ± SD，n（动物）
</a:t>
            </a:r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[待补：数据不在本环境]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36815" y="59893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 · Dean I, et al. Nat Commun 2024;15:683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从已成型肿瘤中清除 NK，肿瘤生长不变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4C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NK 到得太晚，晚到有没有它都一样。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94415" cy="324612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822960" y="2103120"/>
            <a:ext cx="10545775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植瘤前敲除 vs 植瘤后敲除，各配对照
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横轴：时间（天）或终点分组
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纵轴：肿瘤体积（mm³）／终点重量（g）
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所需数据：本实验室未发表数据（本环境无）
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所需统计量：分组、时间点、肿瘤体积/重量、n（动物）；配对对照
</a:t>
            </a:r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[待补：数据不在本环境]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5257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Dean 2024 在多个模型中得到一致结果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36815" y="59893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5C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本实验室未发表数据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蜕膜 NK：不杀伤，但趋化因子满载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53312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低杀伤，但保有招募功能。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828800"/>
          <a:ext cx="67665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589520" y="1920240"/>
            <a:ext cx="4053535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此处为跨亚群均值
</a:t>
            </a:r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未作拟时序／轨迹图
</a:t>
            </a:r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（原论文无排序声明）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436815" y="59893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5C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本实验室分析 · VT2018 / E-MTAB-6701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这条结论经得起簇内检验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53312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效应与反号对照来自同一批细胞。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329184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822960" y="2011680"/>
            <a:ext cx="48463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左：按供者配对的 XCL1 检出率
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横轴：dNK1 → dNK2（配对）
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纵轴：XCL1 检出率（%）
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所需数据：6 名供者的按亚群检出率（本环境无）
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所需统计量：每供者一条连线，n = 6（供者）
</a:t>
            </a:r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[待补：数据不在本环境]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0" y="1783080"/>
          <a:ext cx="5242255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400800" y="5138928"/>
            <a:ext cx="52422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dNK1 簇内 CD39⁺ → CD39⁻，百分点差，3/3 供者一致；CXCR4 反号内对照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436815" y="59893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5C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本实验室分析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差别在顺序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不是分子不同，是顺序不同。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2423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蜕膜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508760" y="2615184"/>
            <a:ext cx="9859975" cy="0"/>
          </a:xfrm>
          <a:prstGeom prst="line">
            <a:avLst/>
          </a:prstGeom>
          <a:noFill/>
          <a:ln w="31750">
            <a:solidFill>
              <a:srgbClr val="2E5C9A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1883664" y="2532888"/>
            <a:ext cx="164592" cy="164592"/>
          </a:xfrm>
          <a:prstGeom prst="ellipse">
            <a:avLst/>
          </a:prstGeom>
          <a:solidFill>
            <a:srgbClr val="2E5C9A"/>
          </a:solidFill>
          <a:ln w="12700">
            <a:solidFill>
              <a:srgbClr val="2E5C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77977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uNK 群体先建立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84064" y="2532888"/>
            <a:ext cx="164592" cy="164592"/>
          </a:xfrm>
          <a:prstGeom prst="ellipse">
            <a:avLst/>
          </a:prstGeom>
          <a:solidFill>
            <a:srgbClr val="2E5C9A"/>
          </a:solidFill>
          <a:ln w="12700">
            <a:solidFill>
              <a:srgbClr val="2E5C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94760" y="277977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滋养层侵袭到达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84464" y="2532888"/>
            <a:ext cx="164592" cy="164592"/>
          </a:xfrm>
          <a:prstGeom prst="ellipse">
            <a:avLst/>
          </a:prstGeom>
          <a:solidFill>
            <a:srgbClr val="2E5C9A"/>
          </a:solidFill>
          <a:ln w="12700">
            <a:solidFill>
              <a:srgbClr val="2E5C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95160" y="277977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NK 保持功能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160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肿瘤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508760" y="4352544"/>
            <a:ext cx="9859975" cy="0"/>
          </a:xfrm>
          <a:prstGeom prst="line">
            <a:avLst/>
          </a:prstGeom>
          <a:noFill/>
          <a:ln w="31750">
            <a:solidFill>
              <a:srgbClr val="7FA3C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883664" y="4270248"/>
            <a:ext cx="164592" cy="164592"/>
          </a:xfrm>
          <a:prstGeom prst="ellipse">
            <a:avLst/>
          </a:prstGeom>
          <a:solidFill>
            <a:srgbClr val="7FA3CC"/>
          </a:solidFill>
          <a:ln w="12700">
            <a:solidFill>
              <a:srgbClr val="7FA3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451713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肿瘤已成型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84064" y="4270248"/>
            <a:ext cx="164592" cy="164592"/>
          </a:xfrm>
          <a:prstGeom prst="ellipse">
            <a:avLst/>
          </a:prstGeom>
          <a:solidFill>
            <a:srgbClr val="7FA3CC"/>
          </a:solidFill>
          <a:ln w="12700">
            <a:solidFill>
              <a:srgbClr val="7FA3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94760" y="451713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NK 逐个进入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84464" y="4270248"/>
            <a:ext cx="164592" cy="164592"/>
          </a:xfrm>
          <a:prstGeom prst="ellipse">
            <a:avLst/>
          </a:prstGeom>
          <a:solidFill>
            <a:srgbClr val="7FA3CC"/>
          </a:solidFill>
          <a:ln w="12700">
            <a:solidFill>
              <a:srgbClr val="7FA3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95160" y="451713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24–72 h 内失能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45775" y="51663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 →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提案：在转移靶器官预先装好这个状态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9050">
            <a:solidFill>
              <a:srgbClr val="2E5C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19456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手术切除原发灶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950208" y="2880360"/>
            <a:ext cx="274320" cy="0"/>
          </a:xfrm>
          <a:prstGeom prst="line">
            <a:avLst/>
          </a:prstGeom>
          <a:noFill/>
          <a:ln w="25400">
            <a:solidFill>
              <a:srgbClr val="2E5C9A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343400" y="201168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9050">
            <a:solidFill>
              <a:srgbClr val="2E5C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26280" y="219456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在转移靶器官（肝／肺）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预装驻留 NK 状态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44968" y="2880360"/>
            <a:ext cx="274320" cy="0"/>
          </a:xfrm>
          <a:prstGeom prst="line">
            <a:avLst/>
          </a:prstGeom>
          <a:noFill/>
          <a:ln w="25400">
            <a:solidFill>
              <a:srgbClr val="2E5C9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138160" y="201168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9050">
            <a:solidFill>
              <a:srgbClr val="2E5C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0" y="219456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肿瘤细胞到达时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遭遇已就位的招募型 NK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420624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目标不是杀伤，是分泌 CCL5 / XCL1 招募 cDC1。
</a:t>
            </a:r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装的是：趋化因子满载、抗 TGF-β 沉默的驻留 NK 状态。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 Aim 是同一个问题的正反两面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2103120"/>
            <a:ext cx="49377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2E5C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33172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5C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Aim 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一个被诱导的状态，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靠什么在信号撤除后持久？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36792" y="2103120"/>
            <a:ext cx="49377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2E5C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11112" y="233172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5C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Aim 2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611112" y="28346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要做成这件事，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需要一个持久的被诱导状态。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577840" y="3154680"/>
            <a:ext cx="822960" cy="0"/>
          </a:xfrm>
          <a:prstGeom prst="line">
            <a:avLst/>
          </a:prstGeom>
          <a:noFill/>
          <a:ln w="25400">
            <a:solidFill>
              <a:srgbClr val="595959"/>
            </a:solidFill>
            <a:prstDash val="solid"/>
            <a:headEnd type="triangl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48640" y="457200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同一个问题，符号相反。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第一个实验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E5C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7830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预处理靶器官 NK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950208" y="2148840"/>
            <a:ext cx="274320" cy="0"/>
          </a:xfrm>
          <a:prstGeom prst="line">
            <a:avLst/>
          </a:prstGeom>
          <a:noFill/>
          <a:ln w="25400">
            <a:solidFill>
              <a:srgbClr val="2E5C9A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343400" y="169164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E5C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0" y="17830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尾静脉注射肿瘤细胞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44968" y="2148840"/>
            <a:ext cx="274320" cy="0"/>
          </a:xfrm>
          <a:prstGeom prst="line">
            <a:avLst/>
          </a:prstGeom>
          <a:noFill/>
          <a:ln w="25400">
            <a:solidFill>
              <a:srgbClr val="2E5C9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138160" y="169164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E5C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75320" y="17830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读出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30632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结局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34640" y="3063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转移结节计数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38404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 · 状态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34640" y="3840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驻留 NK 的 CCL5 / XCL1 保留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46177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 · 下游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34640" y="46177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瘤内 cDC1 数量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55321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一个实验同时测机制与结局。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Backup B1 · CXCR4 的亚群梯度在簇内反号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反号对照排除检出深度假象。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4415" cy="338328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822960" y="2011680"/>
            <a:ext cx="10545775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CXCR4：亚群间梯度 vs 簇内差值
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横轴：亚群间（dNK1/2/3）／dNK1 簇内（CD39⁺ → CD39⁻）
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纵轴：CXCR4 检出率（%）与百分点差
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所需数据：亚群间 CXCR4 梯度（本环境无）；簇内值已知 = −3.5 pp
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所需统计量：亚群均值 ± SD；簇内配对差，n = 3（供者）
</a:t>
            </a:r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[待补：数据不在本环境]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36815" y="59893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5C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本实验室分析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Backup B2 · 可测性分带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 个候选中 14 个在该深度不可测。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920240"/>
          <a:ext cx="64008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223760" y="2194560"/>
            <a:ext cx="4419295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不可测 = 对照组检出率贴近 0%。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报为“不可测”，不报为“无差异”。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436815" y="59893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5C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本实验室分析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在肿瘤到达之前装好 NK</dc:title>
  <dc:subject>PptxGenJS Presentation</dc:subject>
  <dc:creator>Richard Tang</dc:creator>
  <cp:lastModifiedBy>Richard Tang</cp:lastModifiedBy>
  <cp:revision>1</cp:revision>
  <dcterms:created xsi:type="dcterms:W3CDTF">2026-08-15T12:22:03Z</dcterms:created>
  <dcterms:modified xsi:type="dcterms:W3CDTF">2026-08-15T12:22:03Z</dcterms:modified>
</cp:coreProperties>
</file>