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9" r:id="rId4"/>
    <p:sldId id="260" r:id="rId5"/>
    <p:sldId id="261" r:id="rId6"/>
    <p:sldId id="262" r:id="rId7"/>
    <p:sldId id="263" r:id="rId8"/>
    <p:sldId id="257" r:id="rId9"/>
    <p:sldId id="264" r:id="rId10"/>
    <p:sldId id="265" r:id="rId11"/>
    <p:sldId id="267" r:id="rId12"/>
    <p:sldId id="266" r:id="rId13"/>
    <p:sldId id="268" r:id="rId14"/>
    <p:sldId id="269" r:id="rId15"/>
    <p:sldId id="277" r:id="rId16"/>
    <p:sldId id="276" r:id="rId17"/>
    <p:sldId id="272" r:id="rId18"/>
    <p:sldId id="271" r:id="rId19"/>
    <p:sldId id="273" r:id="rId20"/>
    <p:sldId id="274" r:id="rId21"/>
    <p:sldId id="275" r:id="rId22"/>
    <p:sldId id="270" r:id="rId23"/>
    <p:sldId id="280" r:id="rId24"/>
    <p:sldId id="278" r:id="rId25"/>
    <p:sldId id="279" r:id="rId26"/>
    <p:sldId id="281" r:id="rId27"/>
    <p:sldId id="288" r:id="rId28"/>
    <p:sldId id="293" r:id="rId29"/>
    <p:sldId id="287" r:id="rId30"/>
    <p:sldId id="292" r:id="rId31"/>
    <p:sldId id="285" r:id="rId32"/>
    <p:sldId id="286" r:id="rId33"/>
    <p:sldId id="291" r:id="rId34"/>
    <p:sldId id="258" r:id="rId35"/>
    <p:sldId id="282" r:id="rId36"/>
    <p:sldId id="283" r:id="rId37"/>
    <p:sldId id="284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50" autoAdjust="0"/>
    <p:restoredTop sz="94660"/>
  </p:normalViewPr>
  <p:slideViewPr>
    <p:cSldViewPr snapToGrid="0" snapToObjects="1" showGuides="1">
      <p:cViewPr varScale="1">
        <p:scale>
          <a:sx n="68" d="100"/>
          <a:sy n="68" d="100"/>
        </p:scale>
        <p:origin x="131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2.png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47.png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19" Type="http://schemas.openxmlformats.org/officeDocument/2006/relationships/image" Target="../media/image55.png"/><Relationship Id="rId18" Type="http://schemas.openxmlformats.org/officeDocument/2006/relationships/image" Target="../media/image54.png"/><Relationship Id="rId17" Type="http://schemas.openxmlformats.org/officeDocument/2006/relationships/image" Target="../media/image53.png"/><Relationship Id="rId16" Type="http://schemas.openxmlformats.org/officeDocument/2006/relationships/image" Target="../media/image52.png"/><Relationship Id="rId15" Type="http://schemas.openxmlformats.org/officeDocument/2006/relationships/image" Target="../media/image51.png"/><Relationship Id="rId14" Type="http://schemas.openxmlformats.org/officeDocument/2006/relationships/image" Target="../media/image50.png"/><Relationship Id="rId13" Type="http://schemas.openxmlformats.org/officeDocument/2006/relationships/image" Target="../media/image49.png"/><Relationship Id="rId12" Type="http://schemas.openxmlformats.org/officeDocument/2006/relationships/image" Target="../media/image34.png"/><Relationship Id="rId11" Type="http://schemas.openxmlformats.org/officeDocument/2006/relationships/image" Target="../media/image33.png"/><Relationship Id="rId10" Type="http://schemas.openxmlformats.org/officeDocument/2006/relationships/image" Target="../media/image32.png"/><Relationship Id="rId1" Type="http://schemas.openxmlformats.org/officeDocument/2006/relationships/image" Target="../media/image40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8AB4E8"/>
                </a:solidFill>
                <a:latin typeface="微软雅黑"/>
                <a:ea typeface="微软雅黑"/>
                <a:cs typeface="微软雅黑"/>
              </a:rPr>
              <a:t>Dean et al. Nat Commun 2024 · GSE221064 / E-MTAB-10176 / GSE178341 重分析</a:t>
            </a:r>
            <a:endParaRPr sz="1500" b="1">
              <a:solidFill>
                <a:srgbClr val="8AB4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194560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肿瘤内 NK 的输出重编程</a:t>
            </a:r>
            <a:endParaRPr sz="3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哪些是 NK 特有，哪些只是微环境的共性反应</a:t>
            </a:r>
            <a:endParaRPr sz="3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42062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C8D3E0"/>
                </a:solidFill>
                <a:latin typeface="微软雅黑"/>
                <a:ea typeface="微软雅黑"/>
                <a:cs typeface="微软雅黑"/>
              </a:rPr>
              <a:t>光转换 Kaede 标记：绿色为新浸润的自然杀伤细胞，红色为已滞留 48 小时以上的细胞</a:t>
            </a:r>
            <a:endParaRPr sz="1600" b="0">
              <a:solidFill>
                <a:srgbClr val="C8D3E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C8D3E0"/>
                </a:solidFill>
                <a:latin typeface="微软雅黑"/>
                <a:ea typeface="微软雅黑"/>
                <a:cs typeface="微软雅黑"/>
              </a:rPr>
              <a:t>统一测序深度，以检出率作为不经归一化的读出，以同条件生物学重复估计噪声水平，并以 CD8 T 细胞作跨谱系的趋同性过滤</a:t>
            </a:r>
            <a:endParaRPr sz="1600" b="0">
              <a:solidFill>
                <a:srgbClr val="C8D3E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细胞分群</a:t>
            </a:r>
            <a:endParaRPr sz="120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自然杀伤细胞的分群结构与光标记分布一致</a:t>
            </a:r>
            <a:endParaRPr sz="260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GSE221064 的 11,855 个自然杀伤细胞，Leiden 分辨率 0.3；未作批次整合，因颜色与文库完全对应，整合会同时消除生物学差异</a:t>
            </a:r>
            <a:endParaRPr sz="130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Picture 4" descr="fig11_u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389888"/>
            <a:ext cx="10058400" cy="42681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076188"/>
            <a:ext cx="11064240" cy="653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UMAP 降维展示 11,855 个自然杀伤细胞的转录组相似性。左图按 Leiden 聚类着色并标出簇号；右图同一坐标，绿点为光转换后新进入肿瘤的细胞、红点为照光时已在瘤内的细胞。</a:t>
            </a:r>
            <a:endParaRPr sz="1050" b="0">
              <a:solidFill>
                <a:srgbClr val="4A50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新浸润细胞</a:t>
            </a:r>
            <a:endParaRPr sz="120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新浸润细胞以趋化因子与干扰素-γ 输出为主</a:t>
            </a:r>
            <a:endParaRPr sz="260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扣除前的原始差异，1,012 个基因通过门槛；信噪比＝绿红差 ÷ 同条件重复间波动，采纳门槛为 ≥3（方法见第 33 页）；各图左上角标注为按第 8 页规则扣除 CD8 T 细胞趋同后的判定</a:t>
            </a:r>
            <a:endParaRPr sz="130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Picture 7" descr="fig12_feat_outpu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8744" y="1627632"/>
            <a:ext cx="66751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076188"/>
            <a:ext cx="11064240" cy="653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与上页同一张 UMAP。每格一个基因，点的颜色深浅＝该细胞中该基因的表达量（灰＝未检出，红＝高）；括号内为该基因在全部自然杀伤细胞中的阳性率。左上角标注为扣除 CD8 T 细胞后的判定与信噪比。　</a:t>
            </a:r>
            <a:r>
              <a:rPr sz="10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Ccl3、Ccl4、Ccl5、Ifng 的信号集中在新浸润一侧，滞留区几乎空白；Xcl1 则铺满全图、两侧无差别，信噪比仅 0.8，是本报告判为噪声内的典型例子。</a:t>
            </a:r>
            <a:endParaRPr sz="1050" b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新浸润细胞</a:t>
            </a:r>
            <a:endParaRPr sz="120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4244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dirty="0" err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新浸润细胞富集干扰素与炎症通路</a:t>
            </a:r>
            <a:endParaRPr sz="26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数值为统一深度下的检出率之差（绿色减红色）；T差＝同一文库 CD8 T 细胞的同一差值，判定规则见第 8 页</a:t>
            </a:r>
            <a:endParaRPr sz="130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60350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29925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基因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绿%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红%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差(pp)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信噪比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T差(pp)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Ccl5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90.62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36.52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54.1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51.7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25.58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Ccl4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37.85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12.28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25.58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5.83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-0.03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Ccl3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12.59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9.79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11.65</a:t>
                      </a:r>
                      <a:endParaRPr sz="1100" b="0" dirty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0.87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Ifng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35.94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18.83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17.11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10.79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-6.53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Fasl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52.22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32.37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19.85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6.48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-0.56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Eomes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53.59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31.19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22.39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7.36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4.16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Sell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63.19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42.91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20.28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4.67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11.01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Il12rb2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31.14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16.68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14.46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13.34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-2.64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Klf2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50.08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20.77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29.32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12.83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23.14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92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Xcl1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76.02</a:t>
                      </a:r>
                      <a:endParaRPr sz="1100" b="0" dirty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81.95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-5.93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0.75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8.57</a:t>
                      </a:r>
                      <a:endParaRPr sz="1100" b="0" dirty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572768"/>
            <a:ext cx="48463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扣除前最显著的通路</a:t>
            </a:r>
            <a:r>
              <a:rPr sz="140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：</a:t>
            </a:r>
            <a:endParaRPr sz="140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endParaRPr sz="140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· Interferon Gamma Response  FDR 5.9e-14</a:t>
            </a:r>
            <a:endParaRPr sz="140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· TNF-α Signaling via NF-</a:t>
            </a:r>
            <a:r>
              <a:rPr sz="140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κB</a:t>
            </a:r>
            <a:r>
              <a:rPr sz="140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 FDR 2.7e-13</a:t>
            </a:r>
            <a:endParaRPr sz="140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· Regulation of Transcription  FDR 1.1e-10</a:t>
            </a:r>
            <a:endParaRPr sz="140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· Cytokine Signaling in Immune System</a:t>
            </a:r>
            <a:endParaRPr sz="140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· Interferon α/β Signaling</a:t>
            </a:r>
            <a:endParaRPr sz="140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endParaRPr sz="140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从这一结果看，新浸润细胞仍处于活跃的应答状态。</a:t>
            </a:r>
            <a:endParaRPr sz="1400" b="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endParaRPr sz="140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但干扰素与 TNF-α 这两类通路，</a:t>
            </a:r>
            <a:endParaRPr sz="140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是淋巴细胞进入肿瘤后的共性反应，</a:t>
            </a:r>
            <a:endParaRPr sz="1400" b="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因此需以 CD8 T 细胞扣除趋同效应后，再作判定。</a:t>
            </a:r>
            <a:endParaRPr sz="1400" b="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5074920"/>
            <a:ext cx="60350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Ccl5 降幅最大（54 个百分点，信噪比 51.7）</a:t>
            </a:r>
            <a:endParaRPr sz="130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Xcl1 为唯一方向相反且落在噪声范围内的基因</a:t>
            </a:r>
            <a:endParaRPr sz="130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滞留细胞</a:t>
            </a:r>
            <a:endParaRPr sz="120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dirty="0" err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滞留细胞的高表达基因多数并非其所特有</a:t>
            </a:r>
            <a:endParaRPr sz="26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扣除前的原始差异，563 个基因通过门槛；左上角标注为扣除 CD8 T 细胞后的判定，其中 Gzmc、Ldha、Klf2 均非自然杀伤细胞所特有</a:t>
            </a:r>
            <a:endParaRPr sz="1300" b="0" dirty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Picture 4" descr="fig14_feat_sta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905" y="1417320"/>
            <a:ext cx="6948285" cy="4567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076188"/>
            <a:ext cx="11064240" cy="653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与第 2、3 页同一张 UMAP。每格一个基因，颜色深浅＝该细胞中的表达量（灰＝未检出，红＝高），括号内为全部自然杀伤细胞中的阳性率；左上标注为扣除 CD8 T 细胞后的判定与信噪比。　滞留一侧更亮的是 Itga1、Gzmc 与 Ldha，新浸润一侧更亮的是 Klf2、Sell 与 Ccr5；但标注显示 Klf2 与 Ldha 和 CD8 T 细胞同步变化、Gzmc 未达信噪比门槛 —— 图上信号最强的几个反而不能当自然杀伤细胞特有的证据。</a:t>
            </a:r>
            <a:endParaRPr sz="1050" b="0">
              <a:solidFill>
                <a:srgbClr val="4A50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滞留细胞</a:t>
            </a:r>
            <a:endParaRPr sz="120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4244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dirty="0" err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滞留细胞富集代谢与翻译相关通路</a:t>
            </a:r>
            <a:endParaRPr sz="26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数值为检出率之差（绿色减红色），负值表示滞留侧更高；T差＝同一文库 CD8 T 细胞的同一差值，判定规则见第 8 页</a:t>
            </a:r>
            <a:endParaRPr sz="130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60350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29925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基因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绿%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红%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差(pp)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信噪比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T差(pp)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Gzmc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36.0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89.8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-53.8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2.68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-41.28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Spp1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10.05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38.82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-28.77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5.23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-14.55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Gzmd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3.81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28.48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-24.67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4.82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-18.59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Gzme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2.73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22.42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-19.69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5.45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-15.32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Ldha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75.07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88.93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-13.86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5.69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-8.43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Pgk1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43.9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64.49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-20.59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4.5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-20.82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Itga1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8.76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19.34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-10.58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4.03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-3.18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Cd160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7.78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17.24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-9.45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6.51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-3.72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Lag3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8.63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16.23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-7.6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4.04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-24.51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92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Cd96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13.09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19.53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-6.45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3.23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-7.96</a:t>
                      </a:r>
                      <a:endParaRPr sz="110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572768"/>
            <a:ext cx="48463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扣除前最显著的通路：</a:t>
            </a:r>
            <a:endParaRPr sz="14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endParaRPr sz="14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· Myc Targets V1              FDR 2.0e-24</a:t>
            </a:r>
            <a:endParaRPr sz="14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· Mitochondrial Translation   FDR 5.9e-22</a:t>
            </a:r>
            <a:endParaRPr sz="14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· Oxidative Phosphorylation   FDR 1.9e-17</a:t>
            </a:r>
            <a:endParaRPr sz="14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· Electron Transport Chain    FDR 4.9e-17</a:t>
            </a:r>
            <a:endParaRPr sz="14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· Cellular Respiration        FDR 5.1e-15</a:t>
            </a:r>
            <a:endParaRPr sz="14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endParaRPr sz="14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结果提示两条线索：一为翻译与核糖体机器，</a:t>
            </a:r>
            <a:endParaRPr sz="14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二为氧化磷酸化与呼吸链。</a:t>
            </a:r>
            <a:endParaRPr sz="14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endParaRPr sz="14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这两条线索哪一条为自然杀伤细胞所特有，须先引入跨谱系对照才能判定 —— 结果见第 12 页。</a:t>
            </a:r>
            <a:endParaRPr sz="14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研究背景</a:t>
            </a:r>
            <a:endParaRPr sz="120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dirty="0" err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原文只在自然杀伤细胞内部比较；本报告引入 CD8 T 细胞作对照</a:t>
            </a:r>
            <a:endParaRPr sz="26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8" y="1463040"/>
            <a:ext cx="3566160" cy="2514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1450" b="1" dirty="0" err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实验设计</a:t>
            </a:r>
            <a:endParaRPr sz="1450" b="1" dirty="0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Kaede </a:t>
            </a: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光转换小鼠</a:t>
            </a: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+ MC38 </a:t>
            </a: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皮下瘤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照光把瘤内已有细胞转成红色</a:t>
            </a: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；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之后新进入的仍是绿色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故绿色代表新浸润细胞，红色代表滞留 48 小时以上的细胞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315968" y="1463040"/>
            <a:ext cx="3566160" cy="2514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论文的结论</a:t>
            </a:r>
            <a:endParaRPr sz="145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自然杀伤细胞进入肿瘤 24 小时内功能减弱：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趋化因子、IFN-γ、细胞毒性下降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清除瘤内 NK 不改变肿瘤生长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IL-15:IL-15Rα 可部分挽救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65008" y="1463040"/>
            <a:ext cx="3566160" cy="2514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留下的数据</a:t>
            </a:r>
            <a:endParaRPr sz="145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GSE221064（本文自测）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48 h，3 个文库，11,855 个 NK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E-MTAB-10176（上一篇）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24 h / 72 h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GSE178341（第三方）人 CRC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4343400"/>
            <a:ext cx="110642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本报告在原文基础上补充的问题：</a:t>
            </a:r>
            <a:endParaRPr sz="15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endParaRPr sz="15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原文仅在自然杀伤细胞内部比较新浸润与滞留两组，而任何淋巴细胞进入肿瘤后均会发生转录变化。</a:t>
            </a:r>
            <a:endParaRPr sz="15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因此需要区分：这些变化中哪些为自然杀伤细胞所特有，哪些属于淋巴细胞进入肿瘤后的共性反应。</a:t>
            </a:r>
            <a:endParaRPr sz="15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本报告以同一批数据中的 CD8 T 细胞作为对照，将两类变化分开。</a:t>
            </a:r>
            <a:endParaRPr sz="15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分析策略</a:t>
            </a:r>
            <a:endParaRPr sz="120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26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方法核心：以 CD8 T 细胞作跨谱系的趋同性过滤</a:t>
            </a:r>
            <a:endParaRPr sz="260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同一文库、同样降采样到 4,095 UMI、同样的信噪比门槛</a:t>
            </a:r>
            <a:endParaRPr sz="125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5394960" cy="1700784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5875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09728" rIns="155448" rtlCol="0" anchor="ctr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判定规则</a:t>
            </a:r>
            <a:endParaRPr sz="125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若 CD8 T 细胞同向变化、幅度达自然杀伤细胞的 40% 以上，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且该变化本身超出 CD8 T 自身的重复间噪声，则判为与 T 细胞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趋同，从特有基因集中剔除。两项条件缺一不可。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新浸润侧 1,012 → 595 个基因，滞留侧 563 → 206 个；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合计 774 个基因判为微环境共性反应。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36208" y="1645920"/>
            <a:ext cx="5394960" cy="1700784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09728" rIns="155448" rtlCol="0" anchor="ctr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1F9D55"/>
                </a:solidFill>
                <a:latin typeface="微软雅黑"/>
                <a:ea typeface="微软雅黑"/>
                <a:cs typeface="微软雅黑"/>
              </a:rPr>
              <a:t>为什么以 CD8 T 作参照</a:t>
            </a:r>
            <a:endParaRPr sz="1250" b="1">
              <a:solidFill>
                <a:srgbClr val="1F9D55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并非因为两者生物学等价 —— 它们不等价。理由是同一文库、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同一只肿瘤、同一流程；Cremasco 2026 显示两者在 CCR5 轴上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共用同一套配体与受体。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但 CD8 T 不变，不等于该变化必为自然杀伤细胞特有 ——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故本步骤是趋同性过滤，不是严格扣除。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3749039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滞留侧的同一对比（氧化磷酸化整组退出）见第 12 页。</a:t>
            </a:r>
            <a:endParaRPr sz="115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8"/>
          <p:cNvSpPr txBox="1"/>
          <p:nvPr/>
        </p:nvSpPr>
        <p:spPr>
          <a:xfrm>
            <a:off x="566928" y="334670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例：Sell 的 T 侧变化占自然杀伤细胞效应的 54%，但 T 侧信噪比仅 1.30 —— 落在 CD8 T 自身噪声内，故第 14 页仍判其为自然杀伤细胞特有。</a:t>
            </a:r>
            <a:endParaRPr sz="115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9D55"/>
                </a:solidFill>
                <a:latin typeface="微软雅黑"/>
                <a:ea typeface="微软雅黑"/>
                <a:cs typeface="微软雅黑"/>
              </a:rPr>
              <a:t>扣除后 · 新浸润细胞</a:t>
            </a:r>
            <a:endParaRPr sz="1200" b="1">
              <a:solidFill>
                <a:srgbClr val="1F9D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扣除后，干扰素与炎症通路的富集显著性大幅回落</a:t>
            </a:r>
            <a:endParaRPr sz="260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左＝扣除前 1,012 个基因，右＝扣除后 595 个基因</a:t>
            </a:r>
            <a:endParaRPr sz="130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930" y="1417320"/>
            <a:ext cx="9147657" cy="29748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483608"/>
            <a:ext cx="11064240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两幅均为通路富集条形图。横轴为 −log₁₀(FDR)，数值越大表示富集越显著；纵轴为通路名。左＝扣除 CD8 T 细胞之前的 1,012 个基因，右＝扣除之后的 595 个基因。</a:t>
            </a:r>
            <a:endParaRPr sz="1050" b="0">
              <a:solidFill>
                <a:srgbClr val="4A50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5029200"/>
            <a:ext cx="110642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扣除前排在首位的干扰素-γ 应答与 TNF-α 经 NF-κB 通路，在扣除后不再具有统计学优势 —— 二者为 CD8 T 细胞同步发生的反应。</a:t>
            </a:r>
            <a:endParaRPr sz="14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9D55"/>
                </a:solidFill>
                <a:latin typeface="微软雅黑"/>
                <a:ea typeface="微软雅黑"/>
                <a:cs typeface="微软雅黑"/>
              </a:rPr>
              <a:t>扣除后 · 新浸润细胞</a:t>
            </a:r>
            <a:endParaRPr sz="1200" b="1">
              <a:solidFill>
                <a:srgbClr val="1F9D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dirty="0" err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新浸润侧可拆分为三个相互独立的共表达模块</a:t>
            </a:r>
            <a:endParaRPr sz="26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共表达过滤后层次聚类 —— 先扔掉没有强共表达伙伴的 342 个基因，剩下 253 个再聚类</a:t>
            </a:r>
            <a:endParaRPr sz="130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601" y="1572768"/>
            <a:ext cx="9904036" cy="261823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34440" y="4828032"/>
          <a:ext cx="9692640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  <a:gridCol w="1615440"/>
                <a:gridCol w="1615440"/>
                <a:gridCol w="161544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  <a:endParaRPr sz="11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基因数</a:t>
                      </a:r>
                      <a:endParaRPr sz="11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模块内相关</a:t>
                      </a:r>
                      <a:endParaRPr sz="11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最显著通路</a:t>
                      </a:r>
                      <a:endParaRPr sz="11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错误发现率</a:t>
                      </a:r>
                      <a:endParaRPr sz="11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代表基因</a:t>
                      </a:r>
                      <a:endParaRPr sz="11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150" b="0" dirty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G①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干扰素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-γ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响应</a:t>
                      </a:r>
                      <a:endParaRPr sz="1150" b="0" dirty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51</a:t>
                      </a:r>
                      <a:endParaRPr sz="115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+0.57</a:t>
                      </a:r>
                      <a:endParaRPr sz="115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干扰素-γ 应答</a:t>
                      </a:r>
                      <a:endParaRPr sz="115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7.0e-07</a:t>
                      </a:r>
                      <a:endParaRPr sz="115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Trim30a, Xaf1</a:t>
                      </a:r>
                      <a:endParaRPr sz="1150" b="0" dirty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G② 细胞毒性</a:t>
                      </a:r>
                      <a:endParaRPr sz="115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</a:t>
                      </a:r>
                      <a:endParaRPr sz="115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+0.37</a:t>
                      </a:r>
                      <a:endParaRPr sz="115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 细胞毒性</a:t>
                      </a:r>
                      <a:endParaRPr sz="115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8.2e-04</a:t>
                      </a:r>
                      <a:endParaRPr sz="115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Cd2, Ccl3</a:t>
                      </a:r>
                      <a:endParaRPr sz="1150" b="0" dirty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G③ TNF-α / NF-κB</a:t>
                      </a:r>
                      <a:endParaRPr sz="115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106</a:t>
                      </a:r>
                      <a:endParaRPr sz="115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+0.36</a:t>
                      </a:r>
                      <a:endParaRPr sz="115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TNF-α 经 NF-κB</a:t>
                      </a:r>
                      <a:endParaRPr sz="115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4.5e-07</a:t>
                      </a:r>
                      <a:endParaRPr sz="1150" b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 err="1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Cebpb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, Il12rb2</a:t>
                      </a:r>
                      <a:endParaRPr sz="1150" b="0" dirty="0">
                        <a:solidFill>
                          <a:srgbClr val="1A1A1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234440" y="6144768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Ccl3 归入 G②，Il12rb2 归入 G③；但模块边界不等同于单细胞层面的统计独立 —— 趋化因子与 Il12rb2 的共现可显著高于随机（Ccl5 与 Il12rb2 三库 z = 5.29 / 4.37 / 2.78，见第 25 页）</a:t>
            </a:r>
            <a:endParaRPr sz="135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4282440"/>
            <a:ext cx="11064240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四格为同一张 UMAP，颜色＝该细胞的模块评分（浅黄低、深红高）。前三格是新浸润侧拆出的三个模块，第四格是滞留侧模块。标题下方 n＝模块基因数，mean r＝模块内部基因两两相关的均值。　</a:t>
            </a:r>
            <a:r>
              <a:rPr sz="10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四格的高分区域彼此不重合 —— 这是四群不同的细胞，不是同一群细胞的四种叫法。</a:t>
            </a:r>
            <a:endParaRPr sz="1050" b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9D55"/>
                </a:solidFill>
                <a:latin typeface="微软雅黑"/>
                <a:ea typeface="微软雅黑"/>
                <a:cs typeface="微软雅黑"/>
              </a:rPr>
              <a:t>扣除后 · 新浸润细胞</a:t>
            </a:r>
            <a:endParaRPr sz="1200" b="1">
              <a:solidFill>
                <a:srgbClr val="1F9D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两侧基因集的内部结构存在差异</a:t>
            </a:r>
            <a:endParaRPr sz="260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将细胞聚合为微簇伪 bulk 以降低 dropout 影响后，计算基因集内部的两两共表达</a:t>
            </a:r>
            <a:endParaRPr sz="130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9900" y="1481328"/>
            <a:ext cx="8273078" cy="32441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816940"/>
            <a:ext cx="11064240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0" dirty="0" err="1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左：小提琴图，纵轴＝集合内部基因两两相关系数的平均值；每次随机抽</a:t>
            </a:r>
            <a:r>
              <a:rPr sz="1050" b="0" dirty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 200 </a:t>
            </a:r>
            <a:r>
              <a:rPr sz="1050" b="0" dirty="0" err="1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个基因、重复</a:t>
            </a:r>
            <a:r>
              <a:rPr sz="1050" b="0" dirty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 300 </a:t>
            </a:r>
            <a:r>
              <a:rPr sz="1050" b="0" dirty="0" err="1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次，故两组基因数已匹配。右：横轴为相关系数阈值，纵轴＝集合中至少有一个伙伴超过该阈值的基因比例</a:t>
            </a:r>
            <a:r>
              <a:rPr sz="1050" b="0" dirty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。　</a:t>
            </a:r>
            <a:r>
              <a:rPr sz="1050" b="1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滞留集合的内部一致性是新浸润集合的</a:t>
            </a:r>
            <a:r>
              <a:rPr sz="1050" b="1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3 倍（+0.534 对 +0.171），</a:t>
            </a:r>
            <a:r>
              <a:rPr sz="1050" b="1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且已等基因数匹配</a:t>
            </a:r>
            <a:r>
              <a:rPr sz="1050" b="1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050" b="1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3880" y="5362532"/>
            <a:ext cx="11064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滞留侧基因集表现为一个协调程序：206 个基因中 98% 至少存在一个强共表达伙伴（r &gt; 0.5），等基因数条件下平均相关为 +0.534。</a:t>
            </a:r>
            <a:endParaRPr sz="1400" b="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新浸润侧则较为松散：仅 43% 存在强伙伴，平均相关为 +0.171，二者相差约 3 倍，且已作等基因数匹配。</a:t>
            </a:r>
            <a:endParaRPr sz="1400" b="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据此推测，滞留细胞新增了一套协调程序；而新浸润侧不存在单一的全局协调程序，只有三个规模较小、彼此不重合的局部模块（第 10 页），其差异更可能来自尚未发生的丢失。</a:t>
            </a:r>
            <a:endParaRPr sz="1400" b="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扣除后 · 滞留细胞</a:t>
            </a:r>
            <a:endParaRPr sz="1200" b="1">
              <a:solidFill>
                <a:srgbClr val="C127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dirty="0" err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扣除后，氧化磷酸化相关通路的富集显著性消失</a:t>
            </a:r>
            <a:endParaRPr sz="26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左＝扣除前 563 个基因，右＝扣除后 206 个基因</a:t>
            </a:r>
            <a:endParaRPr sz="130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930" y="1417320"/>
            <a:ext cx="9147657" cy="29748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483608"/>
            <a:ext cx="11064240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同前，横轴为 −log₁₀(FDR)。左＝扣除 CD8 T 细胞之前的 563 个基因，右＝扣除之后的 206 个。</a:t>
            </a:r>
            <a:endParaRPr sz="1050" b="0">
              <a:solidFill>
                <a:srgbClr val="4A50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5029200"/>
            <a:ext cx="110642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氧化磷酸化、电子传递链与细胞呼吸在扣除后不再具有统计学优势 —— 代谢重塑属于 CD8 T 细胞同步发生的反应；保留下来的只有翻译机器与线粒体核糖体。</a:t>
            </a:r>
            <a:endParaRPr sz="14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扣除后 · 滞留细胞</a:t>
            </a:r>
            <a:endParaRPr sz="1200" b="1">
              <a:solidFill>
                <a:srgbClr val="C127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dirty="0" err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滞留细胞特有模块集中于翻译与线粒体核糖体</a:t>
            </a:r>
            <a:endParaRPr sz="26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红色为自然杀伤细胞，灰色为同一文库的 CD8 T 细胞</a:t>
            </a:r>
            <a:endParaRPr sz="130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0" cy="34913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76188"/>
            <a:ext cx="5486400" cy="653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横轴＝滞留细胞相对新浸润细胞的阳性率增幅（百分点）。红条＝自然杀伤细胞，灰条＝同一文库的 CD8 T 细胞。　翻译起始因子与线粒体核糖体蛋白在滞留细胞中普遍升高 10–20 个百分点，而同一文库的 CD8 T 细胞同向变化仅约三分之一（−5.6 / −5.4 个百分点），低于 40% 判定线。</a:t>
            </a:r>
            <a:endParaRPr sz="1050" b="0">
              <a:solidFill>
                <a:srgbClr val="4A50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675120" y="1645920"/>
            <a:ext cx="4937760" cy="21031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扣除后保留的单一主题模块</a:t>
            </a:r>
            <a:endParaRPr sz="145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206 个基因，98% 互相强共表达，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单一主题，FDR 低到 7.9e-11。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原文未就该模块作专门呈现。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75120" y="3931920"/>
            <a:ext cx="4937760" cy="2148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C1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解读时需注意的混杂因素</a:t>
            </a:r>
            <a:endParaRPr sz="1450" b="1">
              <a:solidFill>
                <a:srgbClr val="C1272D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同一批数据中存在一个已知的混杂因素：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红色文库的 ILC1 样细胞比例远高于绿色。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细胞状态改变与细胞组成改变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目前无法区分，需谱系示踪加以确定。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综合分析</a:t>
            </a:r>
            <a:endParaRPr sz="120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关键基因一览（等深度检出率 %）</a:t>
            </a:r>
            <a:endParaRPr sz="260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判定一列为扣除 CD8 T 细胞趋同后的结果</a:t>
            </a:r>
            <a:endParaRPr sz="130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48840" y="1481328"/>
          <a:ext cx="78638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405"/>
                <a:gridCol w="1123405"/>
                <a:gridCol w="1123405"/>
                <a:gridCol w="1123405"/>
                <a:gridCol w="1123405"/>
                <a:gridCol w="1123405"/>
                <a:gridCol w="1123410"/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基因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NK绿%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NK红%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NK差(pp)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信噪比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T差(pp)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判定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Ccl3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12.59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9.79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11.65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0.87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 特有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Ccl4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37.85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12.28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25.58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5.83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-0.03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 特有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Ccl5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90.62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36.52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54.1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51.7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25.58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 T 趋同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Ifng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35.94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18.83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17.11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10.79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-6.53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 特有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Fasl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52.22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32.37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19.85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6.48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-0.56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 特有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Eomes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53.59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31.19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22.39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7.36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4.16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 特有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Sell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63.19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42.91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20.28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4.67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11.01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 特有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Il12rb2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31.14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16.68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14.46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13.34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-2.64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 特有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Vegfa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60.57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47.9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12.67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4.35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0.51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 特有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Itga1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8.76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19.34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-10.58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4.03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-3.18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 特有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Cd160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7.78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17.24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-9.45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6.51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-3.72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 特有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Gzma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95.64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78.62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17.02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27.42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30.18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 T 趋同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Gzmc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36.0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89.8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-53.8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2.68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-41.28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未达门槛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Spp1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10.05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38.82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-28.77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5.23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-14.55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 T 趋同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Ldha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75.07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88.93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-13.86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5.69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-8.43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 T 趋同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Xcl1</a:t>
                      </a:r>
                      <a:endParaRPr sz="1100" b="1">
                        <a:solidFill>
                          <a:srgbClr val="6B728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76.02</a:t>
                      </a:r>
                      <a:endParaRPr sz="1100" b="1">
                        <a:solidFill>
                          <a:srgbClr val="6B728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81.95</a:t>
                      </a:r>
                      <a:endParaRPr sz="1100" b="1">
                        <a:solidFill>
                          <a:srgbClr val="6B728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-5.93</a:t>
                      </a:r>
                      <a:endParaRPr sz="1100" b="1">
                        <a:solidFill>
                          <a:srgbClr val="6B728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0.75</a:t>
                      </a:r>
                      <a:endParaRPr sz="1100" b="1">
                        <a:solidFill>
                          <a:srgbClr val="6B728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8.57</a:t>
                      </a:r>
                      <a:endParaRPr sz="1100" b="1">
                        <a:solidFill>
                          <a:srgbClr val="6B728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噪声内</a:t>
                      </a:r>
                      <a:endParaRPr sz="1100" b="1">
                        <a:solidFill>
                          <a:srgbClr val="6B728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Gzmb</a:t>
                      </a:r>
                      <a:endParaRPr sz="1100" b="1">
                        <a:solidFill>
                          <a:srgbClr val="6B728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93.75</a:t>
                      </a:r>
                      <a:endParaRPr sz="1100" b="1">
                        <a:solidFill>
                          <a:srgbClr val="6B728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93.05</a:t>
                      </a:r>
                      <a:endParaRPr sz="1100" b="1">
                        <a:solidFill>
                          <a:srgbClr val="6B728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</a:t>
                      </a:r>
                      <a:endParaRPr sz="1100" b="1">
                        <a:solidFill>
                          <a:srgbClr val="6B728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0.27</a:t>
                      </a:r>
                      <a:endParaRPr sz="1100" b="1">
                        <a:solidFill>
                          <a:srgbClr val="6B728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-8.87</a:t>
                      </a:r>
                      <a:endParaRPr sz="1100" b="1">
                        <a:solidFill>
                          <a:srgbClr val="6B728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噪声内</a:t>
                      </a:r>
                      <a:endParaRPr sz="1100" b="1">
                        <a:solidFill>
                          <a:srgbClr val="6B728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综合分析</a:t>
            </a:r>
            <a:endParaRPr sz="120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通过趋同扣除、值得后续跟进的基因</a:t>
            </a:r>
            <a:endParaRPr sz="260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按信噪比排序；各基因的 CD8 T 细胞效应均小于自然杀伤细胞效应的 40%。绿底表示新浸润侧更高，红底表示滞留侧更高</a:t>
            </a:r>
            <a:endParaRPr sz="130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81328"/>
          <a:ext cx="107899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  <a:gridCol w="1348740"/>
                <a:gridCol w="1348740"/>
                <a:gridCol w="1348740"/>
                <a:gridCol w="134874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基因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主题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绿%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红%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差(pp)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信噪比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T差(pp)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方向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Cebpb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转录因子（信噪比最高）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55.59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36.74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18.85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31.82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-4.34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浸润侧高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Eif3i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翻译机器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51.22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68.16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-16.94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21.28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-5.63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滞留侧高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Mrpl23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线粒体核糖体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34.16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50.73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-16.56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20.76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-5.43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滞留侧高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Il12rb2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IL-12 响应能力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31.14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16.68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14.46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13.34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-2.64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浸润侧高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Ccl3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CCR5 配体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12.59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9.79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11.65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0.87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浸润侧高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Ifng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效应细胞因子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35.94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18.83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17.11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10.79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-6.53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浸润侧高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Ccr5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趋化因子受体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46.22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31.33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14.89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8.71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2.98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浸润侧高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Eomes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 谱系 TF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53.59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31.19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22.39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7.36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4.16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浸润侧高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Cd160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抑制性受体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7.78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17.24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-9.45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6.51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-3.72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滞留侧高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Fasl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效应分子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52.22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32.37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19.85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6.48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-0.56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浸润侧高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Mxd1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激活刹车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76.95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44.87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32.08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5.88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9.06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浸润侧高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Ccl4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CCR5 配体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37.85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12.28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25.58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5.83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-0.03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浸润侧高</a:t>
                      </a:r>
                      <a:endParaRPr sz="105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Itga1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组织驻留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8.76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19.34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-10.58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4.03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-3.18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滞留侧高</a:t>
                      </a:r>
                      <a:endParaRPr sz="105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144768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35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Ccl3 与 Ccl4 是本报告的重点：其降幅并非最大，但 CD8 T 细胞几乎无变化（+0.9 与 −0.03 个百分点），T 侧信噪比仅 0.17 与 0.00，趋同程度在全表中属最低的一档。</a:t>
            </a:r>
            <a:endParaRPr sz="135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综合分析</a:t>
            </a:r>
            <a:endParaRPr sz="120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激活刹车、生物合成模块、IL-12 受体的空间分布</a:t>
            </a:r>
            <a:endParaRPr sz="260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六个基因在同一张 UMAP 上的空间分布；前五个均通过 CD8 T 细胞扣除，Mki67 未达信噪比门槛</a:t>
            </a:r>
            <a:endParaRPr sz="130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Picture 7" descr="fig13_feat_my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522" y="1417320"/>
            <a:ext cx="7255564" cy="47487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6257544"/>
            <a:ext cx="11064240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与前面同一张 UMAP，每格一个基因，颜色深浅＝该细胞中的表达量（灰＝未检出，红＝高），括号内为阳性率。　Mxd1 与 Npm1 / Fbl 在图上几乎互补 —— 前者亮的区域后者暗，与第 17 页 ρ ≈ −0.4 的负相关一致；Il12rb2 集中在新浸润区；Mki67 几乎全部挤在左侧一个小簇里，提示增殖差异可能来自细胞组成而非状态，定量拆解见第 18 页。</a:t>
            </a:r>
            <a:endParaRPr sz="1050" b="0">
              <a:solidFill>
                <a:srgbClr val="4A5058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综合分析</a:t>
            </a:r>
            <a:endParaRPr sz="120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dirty="0" err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激活程序与生物合成程序在单细胞层面呈互斥关系</a:t>
            </a:r>
            <a:endParaRPr sz="26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dirty="0" err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新浸润侧高表达 Mxd1，滞留侧高表达生物合成基因，二者在单细胞层面呈负相关</a:t>
            </a:r>
            <a:endParaRPr sz="1300" b="0" dirty="0" err="1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9" name="Picture 8" descr="fig9_mxd1_my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9960" y="1417320"/>
            <a:ext cx="8712688" cy="30046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513416"/>
            <a:ext cx="11064240" cy="653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左为柱状图，纵轴＝Mxd1 阳性率（%），绿＝新浸润、红＝滞留，自然杀伤细胞与同一文库的 CD8 T 细胞并排。右为三个测序文库各自内部的比较，纵轴＝生物合成模块评分（23 个基因），浅蓝＝Mxd1 阴性细胞、深蓝＝Mxd1 阳性细胞，误差棒为标准误；ρ 为该文库内的 Spearman 相关。　</a:t>
            </a:r>
            <a:r>
              <a:rPr sz="10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三个文库内部，Mxd1 阳性细胞的评分都低于阴性细胞；红色文库 KR_rep1 整体水平最高（0.33 / 0.23）却仍是同一方向 —— 高低由文库决定，差值由生物学决定。</a:t>
            </a:r>
            <a:endParaRPr sz="1050" b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1208" y="5240364"/>
            <a:ext cx="11064240" cy="1343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该观察在三个文库中具有良好的一致性：在每个文库内部（批次效应不起作用），Mxd1 与生物合成模块评分呈稳定负相关，ρ 分别为 −0.399、−0.383、−0.307，符号一致、量级相当。</a:t>
            </a:r>
            <a:endParaRPr sz="1250" b="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但不宜将其表述为"MYC 活性上升"：Dean 等 2024 采用 SCENIC 将 Myc 调控子列为随假时间下调（Supplementary Fig 2），与该表述矛盾；本数据中 Myc 转录本本身亦无变化（信噪比 0.89，位于噪声范围内）。Hallmark "MYC Targets V1" 实质为生物合成与增殖签名，并非 MYC 活性的直接读出。</a:t>
            </a:r>
            <a:endParaRPr sz="1250" b="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可稳妥陈述的结论是：Mxd1 所代表的即刻早期／激活程序与翻译-生物合成程序在单细胞层面互斥。本报告使用 Hallmark "MYC Targets V1" 时，取的是其基因成分（翻译与核糖体生物合成基因），而非其名称所隐含的 MYC 活性主张；保留原名是为标明出处。</a:t>
            </a:r>
            <a:endParaRPr sz="125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综合分析</a:t>
            </a:r>
            <a:endParaRPr sz="120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4244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2600" b="1" dirty="0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"功能减弱"描述的是输出，而非细胞的整体状态</a:t>
            </a:r>
            <a:endParaRPr sz="26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dirty="0" err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原文报告了输出功能减弱；本数据显示同一批细胞的生物合成与增殖程序并未减弱</a:t>
            </a:r>
            <a:endParaRPr sz="1300" b="0" dirty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25" y="1444752"/>
            <a:ext cx="9016068" cy="29688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431845"/>
            <a:ext cx="11064240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三组柱状图，纵轴均为阳性率（%），绿＝新浸润、红＝滞留。左＝增殖标志物，中＝生物合成机器，右＝效应分子输出。　左、中两组红柱高于绿柱，右组反过来 —— 滞留侧在增殖区室中占比更高（组成效应，见 ①）、生物合成机器升高，效应分子输出降低。</a:t>
            </a:r>
            <a:endParaRPr sz="1050" b="0">
              <a:solidFill>
                <a:srgbClr val="4A50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4977437"/>
            <a:ext cx="11064240" cy="1420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滞留的自然杀伤细胞在增殖区室中富集、生物合成机器活跃程度更高，同时趋化因子与干扰素-γ 输出下降。这与原文的"功能减弱"并不冲突，而是补充了原文未描述的一面：输出下降的同时，细胞并未整体停摆。</a:t>
            </a:r>
            <a:endParaRPr sz="1250" b="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以下两点限定需一并说明：</a:t>
            </a:r>
            <a:endParaRPr sz="1250" b="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① 增殖差异为组成效应：整体 Mki67 阳性率由 5.7% 升至 19.7%（3.45 倍），但第 1 簇为一个近乎全部处于分裂状态的小簇（79% 为红色）；排除该簇后降至 2.57 倍，进一步排除第 0 簇后仅为 1.25 倍。簇内比较时绿红两组基本一致。</a:t>
            </a:r>
            <a:endParaRPr sz="125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② 生物合成模块不受该效应影响：限定在 G1 期重新计算，效应量由 +0.273 降至 +0.248，保留 91%。</a:t>
            </a:r>
            <a:endParaRPr sz="125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综合分析</a:t>
            </a:r>
            <a:endParaRPr sz="120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4244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2600" b="1" dirty="0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与一篇预印本的结论存在分歧</a:t>
            </a:r>
            <a:endParaRPr sz="26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5394960" cy="2514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该预印本的主张</a:t>
            </a:r>
            <a:endParaRPr sz="1450" b="1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Aguiar CF, … Finlay DK.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bioRxiv 2026-07-09（PPR1277367）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"Tumour microenvironments impose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translational REPRESSION that limits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natural killer cell persistence"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血管内 CD45 时间戳 + 定量蛋白组，跨 4 个模型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36208" y="1508760"/>
            <a:ext cx="5394960" cy="2514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本数据的观察</a:t>
            </a:r>
            <a:endParaRPr sz="145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同一指标，方向相反：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翻译机器转录本在滞留细胞中上调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（Eif3 复合体、Eef1g、Mrpl/Mrps 全套）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错误发现率低至 1e-11，且 CD8 T 细胞的同向变化不足其三分之一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滞留细胞同时在增殖区室中富集（已证实为组成效应，见第 18 页，不作为本条的独立证据）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4297680"/>
            <a:ext cx="11064240" cy="19831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600"/>
              </a:spcAft>
            </a:pPr>
            <a:r>
              <a:rPr sz="140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两种结果并不互斥：转录本上调可能是蛋白合成受阻后的代偿。目前属于观察层面的差异，不是结论层面的矛盾，但这是一个具体且可检验的分歧点，</a:t>
            </a:r>
            <a:endParaRPr sz="140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8000"/>
              </a:lnSpc>
              <a:spcAft>
                <a:spcPts val="600"/>
              </a:spcAft>
            </a:pPr>
            <a:r>
              <a:rPr sz="140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通过多聚核糖体分析或</a:t>
            </a:r>
            <a:r>
              <a:rPr sz="140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OP-Puro </a:t>
            </a:r>
            <a:r>
              <a:rPr sz="140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掺入实验，即可判定滞留细胞究竟是合成增加，还是合成受限</a:t>
            </a:r>
            <a:r>
              <a:rPr sz="140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40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8000"/>
              </a:lnSpc>
              <a:spcAft>
                <a:spcPts val="600"/>
              </a:spcAft>
            </a:pPr>
            <a:endParaRPr sz="140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8000"/>
              </a:lnSpc>
              <a:spcAft>
                <a:spcPts val="600"/>
              </a:spcAft>
            </a:pPr>
            <a:r>
              <a:rPr sz="140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需要注意的是，该方向已有同行跟进，且其数据形式（按停留时间分箱的定量蛋白组）恰好适合回答这一问题。投稿前应复核该预印本的更新版本。</a:t>
            </a:r>
            <a:endParaRPr sz="140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综合分析</a:t>
            </a:r>
            <a:endParaRPr sz="120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dirty="0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Il12rb2 是调和两篇文献分歧的关键依据</a:t>
            </a:r>
            <a:endParaRPr sz="26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dirty="0" err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Kirchhammer 等（Sci Transl Med 2022）主张 CD49a 阳性（滞留侧）细胞才是 CCL5 的来源</a:t>
            </a:r>
            <a:endParaRPr sz="1300" b="0" dirty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6492240" cy="31089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694768"/>
            <a:ext cx="6492240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柱状图，纵轴＝阳性率（%）。深色＝自然杀伤细胞，浅色＝CD8 T 细胞；绿＝新浸润，红＝滞留。　Il12rb2 的深色柱从绿到红明显下落，而同组浅色柱未见下降；Il12rb1 的四根柱几乎等高。</a:t>
            </a:r>
            <a:endParaRPr sz="1050" b="0">
              <a:solidFill>
                <a:srgbClr val="4A50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60920" y="1481328"/>
            <a:ext cx="4297680" cy="2560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数据</a:t>
            </a:r>
            <a:endParaRPr sz="145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Il12rb2  31.1% → 16.7%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信噪比 13.3；CD8 T 未见变化（−2.6 pp，信噪比 0.41）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判为自然杀伤细胞特有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Il12rb1 不变（噪声内）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Stat4 与 T 趋同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提示丢失的是信号链中特异的一环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60920" y="4160520"/>
            <a:ext cx="4297680" cy="2560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1F9D55"/>
                </a:solidFill>
                <a:latin typeface="微软雅黑"/>
                <a:ea typeface="微软雅黑"/>
                <a:cs typeface="微软雅黑"/>
              </a:rPr>
              <a:t>为什么可作为关键依据</a:t>
            </a:r>
            <a:endParaRPr sz="1450" b="1">
              <a:solidFill>
                <a:srgbClr val="1F9D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其报告的 CCL5 由 IL-12 诱导产生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（Wu 2002 在人 T 细胞克隆中未见此诱导，见第 26 页；两者体系不同，此处采信前者）。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而滞留细胞丢失了 IL-12 受体 β2 亚基，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在基线状态下难以对 IL-12 作出应答。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两篇文献的分歧可据此调和。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5240360"/>
            <a:ext cx="64922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由此引出一个值得跟进的开放问题：</a:t>
            </a:r>
            <a:endParaRPr sz="1400" b="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IL-12 能否重新开启长停留细胞的趋化因子输出窗口。</a:t>
            </a:r>
            <a:endParaRPr sz="140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该问题目前尚无文献占位，且实验设计可沿用原文方案。</a:t>
            </a:r>
            <a:endParaRPr sz="1400" b="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B87A00"/>
                </a:solidFill>
                <a:latin typeface="微软雅黑"/>
                <a:ea typeface="微软雅黑"/>
                <a:cs typeface="微软雅黑"/>
              </a:rPr>
              <a:t>重点基因</a:t>
            </a:r>
            <a:endParaRPr sz="1200" b="1">
              <a:solidFill>
                <a:srgbClr val="B87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观察一：CCR5 配体输出崩塌，其中 Ccl3 与 Ccl4 为自然杀伤细胞特有</a:t>
            </a:r>
            <a:endParaRPr sz="260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" name="Picture 12" descr="fig20_flagg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899" y="1144988"/>
            <a:ext cx="8970857" cy="27614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044695"/>
            <a:ext cx="11064240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左：柱状图，纵轴＝「新浸润减滞留」的阳性率差（百分点）；蓝＝自然杀伤细胞，灰＝CD8 T 细胞。右：横轴＝CD8 T 细胞的效应占自然杀伤细胞效应的百分比，虚线 40% 为判定线。　</a:t>
            </a:r>
            <a:r>
              <a:rPr sz="10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左图 Ccl5 的蓝柱最高，但它的灰柱也跟着高；右图 Ccl5 越过 40% 判定线（红），Ccl3、Ccl4 贴在最左端（绿）。</a:t>
            </a:r>
            <a:endParaRPr sz="1050" b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4590288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C1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1450" b="1" dirty="0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Ccl5 </a:t>
            </a: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降幅最大（54 </a:t>
            </a: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pp，信噪比</a:t>
            </a: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51.7），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但 CD8 T </a:t>
            </a: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同步降</a:t>
            </a: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25.6 </a:t>
            </a: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pp（占</a:t>
            </a: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47%）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因此判为与 T 细胞趋同，不宜作为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自然杀伤细胞特异性的主要证据。</a:t>
            </a:r>
            <a:endParaRPr sz="120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15968" y="4590288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1450" b="1" dirty="0">
                <a:solidFill>
                  <a:srgbClr val="1F9D55"/>
                </a:solidFill>
                <a:latin typeface="微软雅黑"/>
                <a:ea typeface="微软雅黑"/>
                <a:cs typeface="微软雅黑"/>
              </a:rPr>
              <a:t>Ccl3 / Ccl4 </a:t>
            </a: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降幅小得多（9.8 / 25.6 pp），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但 CD8 T </a:t>
            </a: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几乎完全不动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（+0.9 pp / −0.03 pp）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因此判为自然杀伤细胞特有。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65008" y="4590288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1450" b="1" dirty="0">
                <a:solidFill>
                  <a:srgbClr val="1F9D55"/>
                </a:solidFill>
                <a:latin typeface="微软雅黑"/>
                <a:ea typeface="微软雅黑"/>
                <a:cs typeface="微软雅黑"/>
              </a:rPr>
              <a:t>Il12rb2 为自然杀伤细胞特有</a:t>
            </a:r>
            <a:endParaRPr sz="1450" b="1" dirty="0">
              <a:solidFill>
                <a:srgbClr val="1F9D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（CD8 T 未见变化：−2.6 pp，信噪比 0.41）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但模块边界不等同于统计独立，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单细胞层面其与 Ccl5 仍显著共现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（见第 25 页）</a:t>
            </a:r>
            <a:endParaRPr sz="120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113385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注：Ccl5 判为与 T 细胞趋同后自此退出主线，完整数据见第 14 页；共表达模块划分见第 10 页。图中 Gzmc 信噪比仅 2.68，未达 ≥3 门槛，证据不足；Xcl1 的 145% 已截断。</a:t>
            </a:r>
            <a:endParaRPr sz="105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9D55"/>
                </a:solidFill>
                <a:latin typeface="微软雅黑"/>
                <a:ea typeface="微软雅黑"/>
                <a:cs typeface="微软雅黑"/>
              </a:rPr>
              <a:t>重点基因</a:t>
            </a:r>
            <a:endParaRPr sz="1200" b="1">
              <a:solidFill>
                <a:srgbClr val="1F9D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4244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dirty="0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观察二：配体与受体的时间尺度不同</a:t>
            </a:r>
            <a:endParaRPr sz="26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dirty="0" err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接入 24 小时与 72 小时两个时间点后方可观察；该时间维度为本数据集所特有</a:t>
            </a:r>
            <a:endParaRPr sz="1300" b="0" dirty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9" name="Picture 8" descr="fig22_tempor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44752"/>
            <a:ext cx="10607040" cy="34792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047488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左图纵轴为「差分中的差分」：自然杀伤细胞中滞留减新浸润的阳性率差，再减去同一文库 CD8 T 细胞的同一差值；浅色柱＝24 小时，深色柱＝72 小时。右图横轴为「24 小时时已达到 72 小时效应的百分比」，虚线 100% 为完成线。　</a:t>
            </a:r>
            <a:r>
              <a:rPr sz="10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Ccl3、Ccl4、Ccl5 在 24 小时即达到 72 小时的全部效应（100–118%）；Ccr5 为 78%、Ifng 为 72%，二者均未走完 —— 蓝色为已完成，红色为未完成。</a:t>
            </a:r>
            <a:endParaRPr sz="1050" b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5742432"/>
            <a:ext cx="11064240" cy="7795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趋化因子（Ccl3、Ccl4、Ccl5）在 24 小时内即完成全部降幅，而 Ccr5 的差分中的差分由 −8.6 扩大至 −26.9。</a:t>
            </a:r>
            <a:endParaRPr sz="125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因此可以说的是「配体与受体的时间尺度不同」，而不是「Ccr5 是唯一的晚发事件」—— Ifng（72%）比 Ccr5（78%）更未走完，且仅两个时间点不足以支撑动力学结论。</a:t>
            </a:r>
            <a:endParaRPr sz="1250" b="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数据来源：E-MTAB-10176（小鼠 Kaede，24 h / 72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B87A00"/>
                </a:solidFill>
                <a:latin typeface="微软雅黑"/>
                <a:ea typeface="微软雅黑"/>
                <a:cs typeface="微软雅黑"/>
              </a:rPr>
              <a:t>假说与文献查新</a:t>
            </a:r>
            <a:endParaRPr sz="1200" b="1">
              <a:solidFill>
                <a:srgbClr val="B87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08021"/>
            <a:ext cx="11064240" cy="4244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2600" b="1" dirty="0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基于此前发掘的</a:t>
            </a:r>
            <a:r>
              <a:rPr sz="2600" b="1" dirty="0" err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五条假说</a:t>
            </a:r>
            <a:endParaRPr sz="26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1700" b="1" dirty="0">
                <a:solidFill>
                  <a:srgbClr val="1F9D55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700" b="1" dirty="0">
              <a:solidFill>
                <a:srgbClr val="1F9D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72768" y="1627632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600"/>
              </a:spcAft>
            </a:pPr>
            <a:r>
              <a:rPr sz="135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自然杀伤细胞进入肿瘤后，配体（Ccl3、Ccl4）与其受体 Ccr5 协同下降，表现为从 CCR5 趋化因子网络中整体退出，而不仅是分泌减少。</a:t>
            </a:r>
            <a:endParaRPr sz="135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72768" y="2103120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依据：Ccl3、Ccl4 与 Ccr5 均为自然杀伤细胞特有且随滞留下降。初始提法为"同步"，第 22 页的时序结果将其修正为"协同退出但时间尺度不同"</a:t>
            </a:r>
            <a:endParaRPr sz="1150" b="0" dirty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263347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dirty="0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700" b="1" dirty="0">
              <a:solidFill>
                <a:srgbClr val="C127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72768" y="2615184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Ccr5 的下降方向与 IL-12 通路及干扰素-γ 通路的预测均相反，与基于人 T 细胞的既有调控框架不一致，且其时间尺度与配体不同。</a:t>
            </a:r>
            <a:endParaRPr sz="135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72768" y="2889504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依据：Ccr5 46.2% → 31.3%（信噪比 8.7）；差分中的差分由 24 h 的 −8.6 扩大至 72 h 的 −26.9，而既有框架预测应为上调</a:t>
            </a:r>
            <a:endParaRPr sz="1150" b="0" dirty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3419856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1700" b="1" dirty="0">
                <a:solidFill>
                  <a:srgbClr val="B87A00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700" b="1" dirty="0">
              <a:solidFill>
                <a:srgbClr val="B87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72768" y="3401568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35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瘤内自然杀伤细胞因丢失 Il12rb2 而失去对 IL-12 的感知，此为 CCL3/CCL4 输出下降的上游原因，而非并行现象。</a:t>
            </a:r>
            <a:endParaRPr sz="1350" b="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72768" y="3675888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依据：Il12rb2 为自然杀伤细胞特有的下降，信噪比 13.3；CD8 T 未见变化（−2.6 pp，信噪比 0.41）</a:t>
            </a:r>
            <a:endParaRPr sz="1150" b="0" dirty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1700" b="1" dirty="0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700" b="1" dirty="0">
              <a:solidFill>
                <a:srgbClr val="C127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72768" y="4187952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新进入的自然杀伤细胞通过自身分泌的 CCL3/CCL4/CCL5 作用于其表达的 CCR5，招募更多同类细胞，构成自我放大回路。</a:t>
            </a:r>
            <a:endParaRPr sz="135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72768" y="4462272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依据：自然杀伤细胞同时表达配体与受体，且 Ccr5 在该群中最高（41.2%，高于 T 细胞、树突状细胞与 B 细胞）</a:t>
            </a:r>
            <a:endParaRPr sz="1150" b="0" dirty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16"/>
          <p:cNvSpPr txBox="1"/>
          <p:nvPr/>
        </p:nvSpPr>
        <p:spPr>
          <a:xfrm>
            <a:off x="640080" y="4992623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1700" b="1" dirty="0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700" b="1" dirty="0">
              <a:solidFill>
                <a:srgbClr val="C127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17"/>
          <p:cNvSpPr txBox="1"/>
          <p:nvPr/>
        </p:nvSpPr>
        <p:spPr>
          <a:xfrm>
            <a:off x="1572768" y="4974336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趋化因子输出下降与 IL-12 感知丧失为两个相互独立的事件。</a:t>
            </a:r>
            <a:endParaRPr sz="135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18"/>
          <p:cNvSpPr txBox="1"/>
          <p:nvPr/>
        </p:nvSpPr>
        <p:spPr>
          <a:xfrm>
            <a:off x="1572768" y="5248655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依据：Ccl3 归入 G② 模块，Il12rb2 归入 G③ 模块</a:t>
            </a:r>
            <a:endParaRPr sz="1150" b="0" dirty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B87A00"/>
                </a:solidFill>
                <a:latin typeface="微软雅黑"/>
                <a:ea typeface="微软雅黑"/>
                <a:cs typeface="微软雅黑"/>
              </a:rPr>
              <a:t>假说与文献查新</a:t>
            </a:r>
            <a:endParaRPr sz="1200" b="1">
              <a:solidFill>
                <a:srgbClr val="B87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4244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2600" b="1" dirty="0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五项假设的验证结果</a:t>
            </a:r>
            <a:endParaRPr sz="26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2271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dirty="0" err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每项假设需同时通过两项检验：本地数据检验，以及文献查新（是否已有研究占位）</a:t>
            </a:r>
            <a:endParaRPr sz="1300" b="0" dirty="0" err="1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假说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数据关</a:t>
                      </a:r>
                      <a:endParaRPr sz="1100" b="1" dirty="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查新关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 / 引用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　趋化因子与其受体协同退出，但时间尺度不同</a:t>
                      </a:r>
                      <a:endParaRPr sz="1100" b="1" dirty="0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成立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空白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主命题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见第 22 页（时序）与第 25 页（共现）</a:t>
                      </a:r>
                      <a:endParaRPr sz="1100" b="1" dirty="0" err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　CCR5 的变化逆着已知通路；与配体的时间尺度不同</a:t>
                      </a:r>
                      <a:endParaRPr sz="1100" b="1" dirty="0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成立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空白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最反常</a:t>
                      </a:r>
                      <a:endParaRPr sz="1100" b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1F9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见第 22 页（晚发）与第 27 页（既有框架）</a:t>
                      </a:r>
                      <a:endParaRPr sz="1100" b="1" dirty="0" err="1">
                        <a:solidFill>
                          <a:srgbClr val="1F9D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B8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　IL-12 感知丧失导致趋化因子停产</a:t>
                      </a:r>
                      <a:endParaRPr sz="1100" b="1" dirty="0">
                        <a:solidFill>
                          <a:srgbClr val="B87A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B8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有先验支持</a:t>
                      </a:r>
                      <a:endParaRPr sz="1100" b="1">
                        <a:solidFill>
                          <a:srgbClr val="B87A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B8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机制前提已有研究</a:t>
                      </a:r>
                      <a:endParaRPr sz="1100" b="1">
                        <a:solidFill>
                          <a:srgbClr val="B87A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B8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可进，须引证</a:t>
                      </a:r>
                      <a:endParaRPr sz="1100" b="1">
                        <a:solidFill>
                          <a:srgbClr val="B87A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B87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Wu et al. J Leukoc Biol 2002</a:t>
                      </a:r>
                      <a:endParaRPr sz="1100" b="1">
                        <a:solidFill>
                          <a:srgbClr val="B87A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4D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　自然杀伤细胞的自我招募回路</a:t>
                      </a:r>
                      <a:endParaRPr sz="1100" b="1" dirty="0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已有研究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出局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Cremasco J, et al. Cell Reports 2026;45(6):117415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　趋化因子丢失与 IL-12 感知丧失彼此独立</a:t>
                      </a:r>
                      <a:endParaRPr sz="1100" b="1" dirty="0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证伪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出局</a:t>
                      </a:r>
                      <a:endParaRPr sz="1100" b="1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本数据：Ccl5 与 Il12rb2 </a:t>
                      </a:r>
                      <a:r>
                        <a:rPr sz="1100" b="1" dirty="0" err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三库</a:t>
                      </a:r>
                      <a:r>
                        <a:rPr sz="1100" b="1" dirty="0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z = 2.8–5.3</a:t>
                      </a:r>
                      <a:endParaRPr sz="1100" b="1" dirty="0">
                        <a:solidFill>
                          <a:srgbClr val="C1272D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CE8E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160520"/>
            <a:ext cx="110642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判据在查看数据之前即已确定。基于上述判据，假说 4 与假说 5 因已有研究占位或被证伪，仅作文献备注；通过检验的观察见正文，第 28 页给出研究方向。</a:t>
            </a:r>
            <a:endParaRPr sz="1350" b="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endParaRPr sz="135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9D55"/>
                </a:solidFill>
                <a:latin typeface="微软雅黑"/>
                <a:ea typeface="微软雅黑"/>
                <a:cs typeface="微软雅黑"/>
              </a:rPr>
              <a:t>假说与文献查新</a:t>
            </a:r>
            <a:endParaRPr sz="1200" b="1">
              <a:solidFill>
                <a:srgbClr val="1F9D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altLang="en-US" sz="2600" b="1" dirty="0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展开：配体与受体协同退出，而非仅分泌减少</a:t>
            </a:r>
            <a:endParaRPr lang="zh-CN" altLang="en-US" sz="26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Picture 4" descr="fig21_cooccurre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3997" y="1737360"/>
            <a:ext cx="6784006" cy="2455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4624696"/>
            <a:ext cx="11064240" cy="653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 dirty="0" err="1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纵轴＝该基因对的共现程度相对「表达量匹配的随机基因对」的标准化得分</a:t>
            </a:r>
            <a:r>
              <a:rPr sz="1050" b="0" dirty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50" b="0" dirty="0" err="1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z；每组三根柱依次为三个测序文库（深→浅</a:t>
            </a:r>
            <a:r>
              <a:rPr sz="1050" b="0" dirty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）；</a:t>
            </a:r>
            <a:r>
              <a:rPr sz="1050" b="0" dirty="0" err="1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蓝＝趋化因子与其受体，灰＝对照基因对，红＝趋化因子与</a:t>
            </a:r>
            <a:r>
              <a:rPr sz="1050" b="0" dirty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 Il12rb2；虚线 z=2。　</a:t>
            </a:r>
            <a:r>
              <a:rPr sz="1050" b="1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Ccl4 与 Ccr5 </a:t>
            </a:r>
            <a:r>
              <a:rPr sz="1050" b="1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的共现在三个文库全部超过</a:t>
            </a:r>
            <a:r>
              <a:rPr sz="1050" b="1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z=2（3.94 / 2.90 / 2.14）且高于对照基因对；Ccl5 与 Il12rb2 更高（5.29 / 4.37 / 2.78），</a:t>
            </a:r>
            <a:r>
              <a:rPr sz="1050" b="1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因此「两者相互独立」被证伪</a:t>
            </a:r>
            <a:r>
              <a:rPr sz="1050" b="1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050" b="1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3880" y="5303520"/>
            <a:ext cx="110642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Ccl4 与 Ccr5 </a:t>
            </a:r>
            <a:r>
              <a:rPr sz="125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的共现在三个文库中均超过判定线（z</a:t>
            </a:r>
            <a:r>
              <a:rPr sz="125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分别为</a:t>
            </a:r>
            <a:r>
              <a:rPr sz="125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3.94、2.90、2.14），并高于表达量匹配的对照基因对（Itga1 与 Ccr5：1.48、−1.96、−0.55）。</a:t>
            </a:r>
            <a:endParaRPr sz="125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结果支持配体与受体存在协同变化，表现为从</a:t>
            </a:r>
            <a:r>
              <a:rPr sz="125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CCR5 </a:t>
            </a:r>
            <a:r>
              <a:rPr sz="125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趋化因子网络中整体退出，而不仅是分泌减少</a:t>
            </a:r>
            <a:r>
              <a:rPr sz="125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25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同一批检验同时证伪了假说 5：Ccl5 与 Il12rb2 的共现更高（z 分别为 5.29、4.37、2.78），二者并非相互独立。</a:t>
            </a:r>
            <a:endParaRPr sz="1250" b="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ubtitle 25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dirty="0" err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假设内容：自然杀伤细胞进入肿瘤后，配体（Ccl3、Ccl4）与其受体 Ccr5 协同下降，表现为从 CCR5 趋化因子网络中整体退出，而不仅是分泌减少。且 Ccr5 的下降方向与 IL-12 通路及干扰素-γ 通路的预测均相反，与基于人 T 细胞的既有调控框架不一致。</a:t>
            </a:r>
            <a:endParaRPr sz="1300" b="0" dirty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B87A00"/>
                </a:solidFill>
                <a:latin typeface="微软雅黑"/>
                <a:ea typeface="微软雅黑"/>
                <a:cs typeface="微软雅黑"/>
              </a:rPr>
              <a:t>假说与文献查新</a:t>
            </a:r>
            <a:endParaRPr sz="1200" b="1">
              <a:solidFill>
                <a:srgbClr val="B87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zh-CN" altLang="en-US" sz="2600" b="1" dirty="0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展开：IL-12 感知丧失是上游原因，还是并行现象</a:t>
            </a:r>
            <a:endParaRPr lang="zh-CN" altLang="en-US" sz="26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dirty="0" err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假设内容：瘤内自然杀伤细胞因丢失</a:t>
            </a:r>
            <a:r>
              <a:rPr sz="1300" b="0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Il12rb2 </a:t>
            </a:r>
            <a:r>
              <a:rPr sz="1300" b="0" dirty="0" err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而失去对</a:t>
            </a:r>
            <a:r>
              <a:rPr sz="1300" b="0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IL-12 </a:t>
            </a:r>
            <a:r>
              <a:rPr sz="1300" b="0" dirty="0" err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的感知，此为</a:t>
            </a:r>
            <a:r>
              <a:rPr sz="1300" b="0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CCL3/CCL4 </a:t>
            </a:r>
            <a:r>
              <a:rPr sz="1300" b="0" dirty="0" err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输出下降的上游原因，而非并行现象</a:t>
            </a:r>
            <a:endParaRPr sz="1300" b="0" dirty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773936"/>
            <a:ext cx="5394960" cy="2322576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1450" b="1" dirty="0" err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已有研究</a:t>
            </a:r>
            <a:endParaRPr lang="zh-CN" altLang="en-US" sz="1450" b="1" dirty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lang="en-US"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Wu C, et al. Journal of Leukocyte Biology 2002</a:t>
            </a:r>
            <a:endParaRPr lang="en-US"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PMID 12377943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人 IL-12 </a:t>
            </a: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受体</a:t>
            </a: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β1 </a:t>
            </a: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亚基缺陷病人的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CD4⁺ / CD8⁺ T </a:t>
            </a: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细胞克隆</a:t>
            </a: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：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CCL3 与 CCL4 </a:t>
            </a: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产量缺陷</a:t>
            </a: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；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而 IL-12 </a:t>
            </a: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在健康克隆里并不诱导</a:t>
            </a: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CCL5。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36208" y="1773936"/>
            <a:ext cx="5394960" cy="2322576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1450" b="1" dirty="0" err="1">
                <a:solidFill>
                  <a:srgbClr val="1F9D55"/>
                </a:solidFill>
                <a:latin typeface="微软雅黑"/>
                <a:ea typeface="微软雅黑"/>
                <a:cs typeface="微软雅黑"/>
              </a:rPr>
              <a:t>本数据</a:t>
            </a:r>
            <a:endParaRPr lang="zh-CN" altLang="en-US" sz="1450" b="1" dirty="0">
              <a:solidFill>
                <a:srgbClr val="1F9D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Ccl3 / Ccl4 </a:t>
            </a: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是自然杀伤细胞特有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（CD8 T </a:t>
            </a: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效应仅占</a:t>
            </a: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9% / 0%）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Ccl5 与 CD8 T </a:t>
            </a: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细胞趋同（占</a:t>
            </a: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47%）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两套完全独立的证据指向同一条界线</a:t>
            </a:r>
            <a:r>
              <a:rPr sz="12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2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3880" y="4626864"/>
            <a:ext cx="11064240" cy="46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Il12rb2 </a:t>
            </a:r>
            <a:r>
              <a:rPr sz="125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阳性细胞的</a:t>
            </a:r>
            <a:r>
              <a:rPr sz="125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Ccl</a:t>
            </a:r>
            <a:r>
              <a:rPr sz="125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表达确实更高（比值</a:t>
            </a:r>
            <a:r>
              <a:rPr sz="125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1.26、1.09、1.48），</a:t>
            </a:r>
            <a:r>
              <a:rPr sz="125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但同样的模式在</a:t>
            </a:r>
            <a:r>
              <a:rPr sz="125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Ccr5（1.13、1.12、1.19）与 Ifng（1.19、1.12、1.04）上同时存在，提示这是一条通用的"新鲜度"轴，而非 IL-12 </a:t>
            </a:r>
            <a:r>
              <a:rPr sz="125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特异性地驱动趋化因子；且该结果为纯相关，无法判定先后</a:t>
            </a:r>
            <a:r>
              <a:rPr sz="125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25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>
                <a:solidFill>
                  <a:srgbClr val="1F9D55"/>
                </a:solidFill>
                <a:latin typeface="微软雅黑"/>
                <a:ea typeface="微软雅黑"/>
                <a:cs typeface="微软雅黑"/>
              </a:rPr>
              <a:t>假说与文献查新</a:t>
            </a:r>
            <a:endParaRPr sz="1200" b="1">
              <a:solidFill>
                <a:srgbClr val="1F9D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4514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2600" b="1" dirty="0" err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文献</a:t>
            </a:r>
            <a:r>
              <a:rPr lang="zh-CN" altLang="en-US" sz="2600" b="1" dirty="0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基础</a:t>
            </a:r>
            <a:endParaRPr sz="26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664208"/>
            <a:ext cx="5394960" cy="1975104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09728" rIns="155448" rtlCol="0" anchor="ctr"/>
          <a:lstStyle/>
          <a:p>
            <a:pPr algn="ctr">
              <a:spcAft>
                <a:spcPts val="600"/>
              </a:spcAft>
            </a:pPr>
            <a:r>
              <a:rPr sz="1250" b="1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Cremasco J, et al. Cell Reports 2026</a:t>
            </a:r>
            <a:endParaRPr sz="1250" b="1" dirty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证明该回路存在且有功能：分别与联合中和</a:t>
            </a:r>
            <a:r>
              <a:rPr sz="11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CCL3／CCL4／CCL5，</a:t>
            </a:r>
            <a:endParaRPr sz="11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并以序贯过继转移在体验证，小鼠与人两个系统</a:t>
            </a:r>
            <a:r>
              <a:rPr sz="11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1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→ </a:t>
            </a:r>
            <a:r>
              <a:rPr sz="11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回路的存在不必我们重证</a:t>
            </a:r>
            <a:r>
              <a:rPr sz="11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1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1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但其表达测量仅有静息与接触靶细胞</a:t>
            </a:r>
            <a:r>
              <a:rPr sz="11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11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小时两个时间点</a:t>
            </a:r>
            <a:r>
              <a:rPr sz="11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，</a:t>
            </a:r>
            <a:endParaRPr sz="11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未按停留时间分层，全文未涉及回路的终止</a:t>
            </a:r>
            <a:r>
              <a:rPr sz="11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1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36208" y="1664208"/>
            <a:ext cx="5394960" cy="1975104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09728" rIns="155448" rtlCol="0" anchor="ctr"/>
          <a:lstStyle/>
          <a:p>
            <a:pPr algn="ctr">
              <a:spcAft>
                <a:spcPts val="600"/>
              </a:spcAft>
            </a:pPr>
            <a:r>
              <a:rPr sz="1250" b="1" dirty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Kienle K, Science 2021 ／ Strickland E, Dev Cell 2024</a:t>
            </a:r>
            <a:endParaRPr sz="1250" b="1" dirty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自限性</a:t>
            </a:r>
            <a:r>
              <a:rPr sz="11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swarming </a:t>
            </a:r>
            <a:r>
              <a:rPr sz="11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作为概念已成立：前者为</a:t>
            </a:r>
            <a:r>
              <a:rPr sz="11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GRK2 </a:t>
            </a:r>
            <a:r>
              <a:rPr sz="11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使受体脱敏</a:t>
            </a:r>
            <a:r>
              <a:rPr sz="11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，</a:t>
            </a:r>
            <a:endParaRPr sz="11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后者为</a:t>
            </a:r>
            <a:r>
              <a:rPr sz="11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NADPH </a:t>
            </a:r>
            <a:r>
              <a:rPr sz="11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氧化酶负反馈</a:t>
            </a:r>
            <a:r>
              <a:rPr sz="11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1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→ </a:t>
            </a:r>
            <a:r>
              <a:rPr sz="11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这个概念不必我们辩护</a:t>
            </a:r>
            <a:r>
              <a:rPr sz="11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1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1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但两者均为中性粒细胞、蛋白层面、分钟至小时</a:t>
            </a:r>
            <a:r>
              <a:rPr sz="11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1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→ </a:t>
            </a:r>
            <a:r>
              <a:rPr sz="110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层次与时间尺度正是我们可能的位置</a:t>
            </a:r>
            <a:r>
              <a:rPr sz="110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10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3803904"/>
            <a:ext cx="5394960" cy="1975104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09728" rIns="155448" rtlCol="0" anchor="ctr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Wu C, et al. J Leukoc Biol 2002</a:t>
            </a:r>
            <a:endParaRPr sz="1250" b="1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CCR5 与 CCL3／CCL4 的既有调控框架：IL-12 受体缺失时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CCR5 上调，CCR5 的下调由干扰素-γ 驱动。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但为人 T 细胞克隆、先天性缺陷、慢性状态。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→ 只能作参照框架，不能作对本数据的预测。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36208" y="3803904"/>
            <a:ext cx="5394960" cy="1975104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09728" rIns="155448" rtlCol="0" anchor="ctr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Bosco MC, et al. Cellular Immunology 2004</a:t>
            </a:r>
            <a:endParaRPr sz="1250" b="1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缺氧可下调 CCR5 转录，并压过干扰素-γ 的上调。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→ 弥散性微环境因子不被支持（同文库 CD8 T 未见相应变化），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但尚未排除 —— 两个谱系的敏感性本就可能不同。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须由判定性实验 ②（第 29 页）判定。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5925312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查新口径：Europe PMC 中标题或摘要同时包含 swarm 与 NK／细胞毒性 T 的论文共 7 篇，均未涉及回路的终止。</a:t>
            </a:r>
            <a:endParaRPr sz="110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2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研究方向</a:t>
            </a:r>
            <a:endParaRPr sz="1200" b="1">
              <a:solidFill>
                <a:srgbClr val="C127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2600" b="1" dirty="0" err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我们要判定的是什么</a:t>
            </a:r>
            <a:endParaRPr sz="26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64240" cy="841248"/>
          </a:xfrm>
          <a:prstGeom prst="roundRect">
            <a:avLst>
              <a:gd name="adj" fmla="val 10000"/>
            </a:avLst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91440" rIns="256032" rtlCol="0" anchor="ctr"/>
          <a:lstStyle/>
          <a:p>
            <a:pPr algn="ctr">
              <a:lnSpc>
                <a:spcPct val="124000"/>
              </a:lnSpc>
            </a:pPr>
            <a:r>
              <a:rPr sz="15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MC38 模型中，自然杀伤细胞进入肿瘤后，CCL3／CCL4 </a:t>
            </a:r>
            <a:r>
              <a:rPr sz="155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输出与</a:t>
            </a:r>
            <a:r>
              <a:rPr sz="15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CCR5 </a:t>
            </a:r>
            <a:r>
              <a:rPr sz="155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表达呈现不同的时间尺度</a:t>
            </a:r>
            <a:r>
              <a:rPr sz="15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55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4000"/>
              </a:lnSpc>
            </a:pPr>
            <a:r>
              <a:rPr sz="155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需判定 CCR5 的功能性响应能力何时丧失、由什么触发，以及这一步是否真正影响 CCR5 依赖的接力招募。</a:t>
            </a:r>
            <a:endParaRPr sz="1550" b="1" dirty="0" err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481328" y="2560320"/>
            <a:ext cx="4206240" cy="26517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6459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9D55"/>
                </a:solidFill>
                <a:latin typeface="微软雅黑"/>
                <a:ea typeface="微软雅黑"/>
                <a:cs typeface="微软雅黑"/>
              </a:rPr>
              <a:t>一、三条结果收束到这里</a:t>
            </a:r>
            <a:endParaRPr sz="1300" b="1" dirty="0">
              <a:solidFill>
                <a:srgbClr val="1F9D55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5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CCL3 / CCL4 / CCL5 与 CCR5 </a:t>
            </a:r>
            <a:r>
              <a:rPr sz="105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的时间尺度不同</a:t>
            </a:r>
            <a:r>
              <a:rPr sz="105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：</a:t>
            </a:r>
            <a:endParaRPr sz="105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5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前者在</a:t>
            </a:r>
            <a:r>
              <a:rPr sz="105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24 </a:t>
            </a:r>
            <a:r>
              <a:rPr sz="105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小时内即达到</a:t>
            </a:r>
            <a:r>
              <a:rPr sz="105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72 </a:t>
            </a:r>
            <a:r>
              <a:rPr sz="105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小时的</a:t>
            </a:r>
            <a:endParaRPr sz="105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5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全部效应，后者仅完成 78%（第 22 页）。</a:t>
            </a:r>
            <a:endParaRPr sz="105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05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5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配体与受体在单细胞层面协同</a:t>
            </a:r>
            <a:endParaRPr sz="105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5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（Ccl4 与 Ccr5 三库 z = 3.94 / 2.90 / 2.14，第 25 页）。</a:t>
            </a:r>
            <a:endParaRPr sz="105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05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5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受体的下降方向，与基于人</a:t>
            </a:r>
            <a:r>
              <a:rPr sz="105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T </a:t>
            </a:r>
            <a:r>
              <a:rPr sz="105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细胞的</a:t>
            </a:r>
            <a:endParaRPr sz="105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5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既有调控框架不一致（第 27 页）。</a:t>
            </a:r>
            <a:endParaRPr sz="105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44768" y="2560320"/>
            <a:ext cx="4206240" cy="26517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64592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 dirty="0" err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二、本方向要判定的三件事</a:t>
            </a:r>
            <a:endParaRPr sz="1300" b="1" dirty="0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5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① CCR5 </a:t>
            </a:r>
            <a:r>
              <a:rPr sz="105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的功能性响应能力何时丧失</a:t>
            </a:r>
            <a:r>
              <a:rPr sz="105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：</a:t>
            </a:r>
            <a:endParaRPr sz="105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5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　 </a:t>
            </a:r>
            <a:r>
              <a:rPr sz="105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须同时测转录本、表面蛋白与功能反应</a:t>
            </a:r>
            <a:r>
              <a:rPr sz="105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05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05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5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② 该丧失由什么触发：是否由细胞自身</a:t>
            </a:r>
            <a:endParaRPr sz="105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5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　 分泌的 CCL3／CCL4 驱动。</a:t>
            </a:r>
            <a:endParaRPr sz="105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05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5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③ </a:t>
            </a:r>
            <a:r>
              <a:rPr sz="105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这一步是否为</a:t>
            </a:r>
            <a:r>
              <a:rPr sz="105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CCR5 </a:t>
            </a:r>
            <a:r>
              <a:rPr sz="105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依赖的接力招募</a:t>
            </a:r>
            <a:endParaRPr sz="105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5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　 </a:t>
            </a:r>
            <a:r>
              <a:rPr sz="105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的限速节点</a:t>
            </a:r>
            <a:r>
              <a:rPr sz="105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05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05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5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① </a:t>
            </a:r>
            <a:r>
              <a:rPr sz="105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若不成立，本主线立即放弃</a:t>
            </a:r>
            <a:r>
              <a:rPr sz="105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05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54406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1" dirty="0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判</a:t>
            </a:r>
            <a:r>
              <a:rPr lang="zh-CN" altLang="en-US" sz="1300" b="1" dirty="0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定</a:t>
            </a:r>
            <a:r>
              <a:rPr sz="1300" b="1" dirty="0" err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性实验见下一页。三件事中</a:t>
            </a:r>
            <a:r>
              <a:rPr sz="1300" b="1" dirty="0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 ① </a:t>
            </a:r>
            <a:r>
              <a:rPr sz="1300" b="1" dirty="0" err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若不成立，本主线立即放弃</a:t>
            </a:r>
            <a:r>
              <a:rPr sz="1300" b="1" dirty="0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 —— </a:t>
            </a:r>
            <a:r>
              <a:rPr sz="1300" b="1" dirty="0" err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因此它排在最前，且在其成立之前不做</a:t>
            </a:r>
            <a:r>
              <a:rPr sz="1300" b="1" dirty="0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 ②。</a:t>
            </a:r>
            <a:endParaRPr sz="13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研究方向</a:t>
            </a:r>
            <a:endParaRPr sz="1200" b="1">
              <a:solidFill>
                <a:srgbClr val="C127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26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判定性实验：三件事，各自带否定判据</a:t>
            </a:r>
            <a:endParaRPr sz="260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① 未成立之前不做 ②；三条都不依赖 Kaede 系统的转录组测序，因此不受共线问题影响</a:t>
            </a:r>
            <a:endParaRPr sz="125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664208"/>
            <a:ext cx="3566160" cy="3749039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5875">
            <a:solidFill>
              <a:srgbClr val="C1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09728" rIns="155448" rtlCol="0" anchor="ctr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① 功能关闭发生在什么时候</a:t>
            </a:r>
            <a:endParaRPr sz="1250" b="1">
              <a:solidFill>
                <a:srgbClr val="C1272D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【判定什么】CCR5 的功能性响应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能力是在几小时内丧失，还是到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72 小时才丧失。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【怎么判】按停留时间分层，同时读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取 Ccr5 转录本、表面 CCR5 蛋白，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以及配体诱导的钙流／ERK 磷酸化／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趋化反应；表面蛋白与转录本是否同降，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可分辨脱敏内吞与转录层关闭。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【否定判据】CCR5 是典型 G 蛋白偶联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受体，配体可在分钟至小时尺度引起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脱敏与内吞。若功能早已关闭，则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72 小时的转录本下降只是后果 ——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本主线立即放弃。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15968" y="1664208"/>
            <a:ext cx="3566160" cy="3749039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5875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09728" rIns="155448" rtlCol="0" anchor="ctr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② 关闭由什么触发</a:t>
            </a:r>
            <a:endParaRPr sz="125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【判定什么】关闭是否由细胞自身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分泌的配体驱动。仅当 ① 显示功能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关闭确为晚发才做。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【怎么判】两组小鼠分别转移野生型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与 Ccl3／Ccl4 缺陷的自然杀伤细胞，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比较 Ccr5 随停留时间的下降。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不能用敲除 CCR5 来做 —— 受体一敲，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其转录本即读不到。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【否定判据】若缺陷组同样下降，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则触发者另有其人。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65008" y="1664208"/>
            <a:ext cx="3566160" cy="3749039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09728" rIns="155448" rtlCol="0" anchor="ctr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1F9D55"/>
                </a:solidFill>
                <a:latin typeface="微软雅黑"/>
                <a:ea typeface="微软雅黑"/>
                <a:cs typeface="微软雅黑"/>
              </a:rPr>
              <a:t>③ 这一步是否为限速节点</a:t>
            </a:r>
            <a:endParaRPr sz="1250" b="1">
              <a:solidFill>
                <a:srgbClr val="1F9D55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【判定什么】受体关闭是否真正限制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CCR5 依赖的接力招募 —— 也就是它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有没有临床含义。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【怎么判】令细胞无法关闭（组成型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表达 Ccr5），在 Cremasco 已建立的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序贯过继转移体系上读后续淋巴细胞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的浸润与肿瘤控制。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【否定判据】若浸润不变，则关闭不是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瓶颈，本命题的临床含义不成立，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0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只剩描述性价值。</a:t>
            </a:r>
            <a:endParaRPr sz="10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55778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① 的结果决定本方向是机制研究还是现象研究：功能关闭若确为晚发，才谈得上「受体侧的开关」；若早已关闭，本报告观察到的转录本下降只是下游读数。</a:t>
            </a:r>
            <a:endParaRPr sz="125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局限</a:t>
            </a:r>
            <a:endParaRPr sz="120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6928" y="603504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本报告的局限与已修正的问题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1170432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8AB4E8"/>
                </a:solidFill>
                <a:latin typeface="微软雅黑"/>
                <a:ea typeface="微软雅黑"/>
                <a:cs typeface="微软雅黑"/>
              </a:rPr>
              <a:t>以下内容在解读本报告结果时需一并考虑</a:t>
            </a:r>
            <a:endParaRPr sz="1300" b="0">
              <a:solidFill>
                <a:srgbClr val="8AB4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F2A09E"/>
                </a:solidFill>
                <a:latin typeface="微软雅黑"/>
                <a:ea typeface="微软雅黑"/>
                <a:cs typeface="微软雅黑"/>
              </a:rPr>
              <a:t>① 实验设计的固有局限（需重点关注）</a:t>
            </a:r>
            <a:endParaRPr sz="1350" b="1">
              <a:solidFill>
                <a:srgbClr val="F2A09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20440" y="1700784"/>
            <a:ext cx="8110727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150" b="0">
                <a:solidFill>
                  <a:srgbClr val="DCE4EE"/>
                </a:solidFill>
                <a:latin typeface="微软雅黑"/>
                <a:ea typeface="微软雅黑"/>
                <a:cs typeface="微软雅黑"/>
              </a:rPr>
              <a:t>Kaede 颜色与测序文库完全共线，48 小时红侧仅 KR_rep1 一个文库，"滞留时间"与"文库批次"无法拆解；噪声亦仅能由绿侧两个重复估计。故不提供 p 值，仅以效应量推断。　根治办法是以 cell hashing 将同一只小鼠的绿色与红色细胞装入同一个 GEM well，使颜色比较变为井内比较；该改动不影响本方向的命题，只消除数据本身的缺陷。</a:t>
            </a:r>
            <a:endParaRPr sz="1150" b="0">
              <a:solidFill>
                <a:srgbClr val="DCE4E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2542032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F2A09E"/>
                </a:solidFill>
                <a:latin typeface="微软雅黑"/>
                <a:ea typeface="微软雅黑"/>
                <a:cs typeface="微软雅黑"/>
              </a:rPr>
              <a:t>② 环境 RNA 无法校正</a:t>
            </a:r>
            <a:endParaRPr sz="1350" b="1">
              <a:solidFill>
                <a:srgbClr val="F2A09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20440" y="2542032"/>
            <a:ext cx="8110727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150" b="0">
                <a:solidFill>
                  <a:srgbClr val="DCE4EE"/>
                </a:solidFill>
                <a:latin typeface="微软雅黑"/>
                <a:ea typeface="微软雅黑"/>
                <a:cs typeface="微软雅黑"/>
              </a:rPr>
              <a:t>GEO 仅沉积过滤后的矩阵，CellBender 与 SoupX 无法运行；已用 B 细胞估过本底，但红库仅 10 个 B 细胞。</a:t>
            </a:r>
            <a:endParaRPr sz="1150" b="0">
              <a:solidFill>
                <a:srgbClr val="DCE4E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338328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F2A09E"/>
                </a:solidFill>
                <a:latin typeface="微软雅黑"/>
                <a:ea typeface="微软雅黑"/>
                <a:cs typeface="微软雅黑"/>
              </a:rPr>
              <a:t>③ 两处注释已修正</a:t>
            </a:r>
            <a:endParaRPr sz="1350" b="1">
              <a:solidFill>
                <a:srgbClr val="F2A09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20440" y="3383280"/>
            <a:ext cx="8110727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150" b="0">
                <a:solidFill>
                  <a:srgbClr val="DCE4EE"/>
                </a:solidFill>
                <a:latin typeface="微软雅黑"/>
                <a:ea typeface="微软雅黑"/>
                <a:cs typeface="微软雅黑"/>
              </a:rPr>
              <a:t>4,126 个细胞曾误标为中性粒细胞（实为 T 细胞）；自然杀伤细胞内第 3 簇为 T/NKT 污染。剔除后 16 个核心基因效应量变化 ≤1.4 个百分点，判定无一改变。</a:t>
            </a:r>
            <a:endParaRPr sz="1150" b="0">
              <a:solidFill>
                <a:srgbClr val="DCE4E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4224528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F2A09E"/>
                </a:solidFill>
                <a:latin typeface="微软雅黑"/>
                <a:ea typeface="微软雅黑"/>
                <a:cs typeface="微软雅黑"/>
              </a:rPr>
              <a:t>④ 细胞组成与细胞状态难以区分</a:t>
            </a:r>
            <a:endParaRPr sz="1350" b="1">
              <a:solidFill>
                <a:srgbClr val="F2A09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20440" y="4224528"/>
            <a:ext cx="8110727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150" b="0">
                <a:solidFill>
                  <a:srgbClr val="DCE4EE"/>
                </a:solidFill>
                <a:latin typeface="微软雅黑"/>
                <a:ea typeface="微软雅黑"/>
                <a:cs typeface="微软雅黑"/>
              </a:rPr>
              <a:t>红库 ILC1 样细胞比例高于绿库；增殖差异已证实为组成效应。状态改变与组成改变本数据无法区分。</a:t>
            </a:r>
            <a:endParaRPr sz="1150" b="0">
              <a:solidFill>
                <a:srgbClr val="DCE4E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065776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F2A09E"/>
                </a:solidFill>
                <a:latin typeface="微软雅黑"/>
                <a:ea typeface="微软雅黑"/>
                <a:cs typeface="微软雅黑"/>
              </a:rPr>
              <a:t>⑤ 人源数据无法验证特异性</a:t>
            </a:r>
            <a:endParaRPr sz="1350" b="1">
              <a:solidFill>
                <a:srgbClr val="F2A09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20440" y="5065776"/>
            <a:ext cx="8110727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150" b="0">
                <a:solidFill>
                  <a:srgbClr val="DCE4EE"/>
                </a:solidFill>
                <a:latin typeface="微软雅黑"/>
                <a:ea typeface="微软雅黑"/>
                <a:cs typeface="微软雅黑"/>
              </a:rPr>
              <a:t>人源数据中两个谱系按不同维度分亚群，缺乏可匹配对照；CCR5 与 IL12RB2 低于检出限，仅能作描述性支持。</a:t>
            </a:r>
            <a:endParaRPr sz="1150" b="0">
              <a:solidFill>
                <a:srgbClr val="DCE4E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928" y="5907024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F2A09E"/>
                </a:solidFill>
                <a:latin typeface="微软雅黑"/>
                <a:ea typeface="微软雅黑"/>
                <a:cs typeface="微软雅黑"/>
              </a:rPr>
              <a:t>⑥ 存档不完整</a:t>
            </a:r>
            <a:endParaRPr sz="1350" b="1">
              <a:solidFill>
                <a:srgbClr val="F2A09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20440" y="5907024"/>
            <a:ext cx="8110727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150" b="0">
                <a:solidFill>
                  <a:srgbClr val="DCE4EE"/>
                </a:solidFill>
                <a:latin typeface="微软雅黑"/>
                <a:ea typeface="微软雅黑"/>
                <a:cs typeface="微软雅黑"/>
              </a:rPr>
              <a:t>GEO 存档 34,781 个 barcode，原文称分析 46,342 个；存档矩阵标注 CellRanger 6.0.1，原文写 6.1.2。</a:t>
            </a:r>
            <a:endParaRPr sz="1150" b="0">
              <a:solidFill>
                <a:srgbClr val="DCE4E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总结</a:t>
            </a:r>
            <a:endParaRPr sz="120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4514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2600" b="1" dirty="0" err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总结与请教三问</a:t>
            </a:r>
            <a:endParaRPr sz="26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642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当前数据可支持的表述：</a:t>
            </a:r>
            <a:endParaRPr sz="125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「MC38 模型中，肿瘤内自然杀伤细胞的 CCR5 配体（Ccl3、Ccl4、Ccl5）输出在进入肿瘤后大幅下降，其中 Ccl3 与 Ccl4 的下降为自然杀伤细胞所特有；配体在 24 小时内即完成下降，受体 Ccr5 至 72 小时仍在继续下降。」</a:t>
            </a:r>
            <a:endParaRPr sz="125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2670048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5875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09728" rIns="155448" rtlCol="0" anchor="ctr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一、候选机制对不对</a:t>
            </a:r>
            <a:endParaRPr sz="125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IL-12 通路与干扰素-γ 已排除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（两者都预测 CCR5 升高）；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弥散性微环境因子不被支持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但尚未排除。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我们的排除逻辑站得住吗？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还有没有漏掉的候选？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15968" y="2670048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09728" rIns="155448" rtlCol="0" anchor="ctr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1F9D55"/>
                </a:solidFill>
                <a:latin typeface="微软雅黑"/>
                <a:ea typeface="微软雅黑"/>
                <a:cs typeface="微软雅黑"/>
              </a:rPr>
              <a:t>二、判定性实验能否成立</a:t>
            </a:r>
            <a:endParaRPr sz="1250" b="1">
              <a:solidFill>
                <a:srgbClr val="1F9D55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① 同时读转录本、表面蛋白与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配体诱导的功能反应；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② 用 Ccl3／Ccl4 缺陷细胞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判定触发者。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这两步做得到吗？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功能读出用哪一个更稳？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65008" y="2670048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5875">
            <a:solidFill>
              <a:srgbClr val="C1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09728" rIns="155448" rtlCol="0" anchor="ctr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三、要不要先补数据</a:t>
            </a:r>
            <a:endParaRPr sz="1250" b="1">
              <a:solidFill>
                <a:srgbClr val="C1272D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红侧单文库的限制见第 30 页 ①。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我们的判断是不必先补 ——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判定性实验本身就产生新数据，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sz="11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且不依赖 Kaede 转录组。</a:t>
            </a:r>
            <a:endParaRPr sz="11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4974336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落点：下一步不是继续描述，而是先判定 CCR5 的功能关闭发生在什么时候 —— 这一步决定本方向是机制研究还是现象研究。</a:t>
            </a:r>
            <a:endParaRPr sz="125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需要说明的是，上述表述未使用 Xcl1、颗粒酶换库现象与糖酵解／氧化磷酸化 —— 三者均未通过趋同性过滤；全部结论限于 MC38 模型。</a:t>
            </a:r>
            <a:endParaRPr sz="125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210312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以下为备份材料</a:t>
            </a:r>
            <a:endParaRPr sz="40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600" b="0" dirty="0" err="1">
                <a:solidFill>
                  <a:srgbClr val="8AB4E8"/>
                </a:solidFill>
                <a:latin typeface="微软雅黑"/>
                <a:ea typeface="微软雅黑"/>
                <a:cs typeface="微软雅黑"/>
              </a:rPr>
              <a:t>方法　　　三重质控（第 33 页）</a:t>
            </a:r>
            <a:endParaRPr sz="1600" b="0" dirty="0">
              <a:solidFill>
                <a:srgbClr val="8AB4E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4000"/>
              </a:lnSpc>
              <a:spcAft>
                <a:spcPts val="500"/>
              </a:spcAft>
            </a:pPr>
            <a:r>
              <a:rPr sz="1600" dirty="0" err="1">
                <a:solidFill>
                  <a:srgbClr val="8AB4E8"/>
                </a:solidFill>
                <a:latin typeface="微软雅黑"/>
                <a:ea typeface="微软雅黑"/>
                <a:cs typeface="微软雅黑"/>
              </a:rPr>
              <a:t>模块拆分　转录因子层面的独立验证（第 34 页）</a:t>
            </a:r>
            <a:endParaRPr sz="1600" dirty="0">
              <a:solidFill>
                <a:srgbClr val="8AB4E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4000"/>
              </a:lnSpc>
              <a:spcAft>
                <a:spcPts val="500"/>
              </a:spcAft>
            </a:pPr>
            <a:r>
              <a:rPr sz="1600" dirty="0" err="1">
                <a:solidFill>
                  <a:srgbClr val="8AB4E8"/>
                </a:solidFill>
                <a:latin typeface="微软雅黑"/>
                <a:ea typeface="微软雅黑"/>
                <a:cs typeface="微软雅黑"/>
              </a:rPr>
              <a:t>外部验证　人结直肠癌跨物种比较（第 35 页）</a:t>
            </a:r>
            <a:endParaRPr sz="1600" dirty="0">
              <a:solidFill>
                <a:srgbClr val="8AB4E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4000"/>
              </a:lnSpc>
              <a:spcAft>
                <a:spcPts val="500"/>
              </a:spcAft>
            </a:pPr>
            <a:r>
              <a:rPr sz="1600" dirty="0" err="1">
                <a:solidFill>
                  <a:srgbClr val="8AB4E8"/>
                </a:solidFill>
                <a:latin typeface="微软雅黑"/>
                <a:ea typeface="微软雅黑"/>
                <a:cs typeface="微软雅黑"/>
              </a:rPr>
              <a:t>附录　　　重复间差异的分布（第 36 页）</a:t>
            </a:r>
            <a:endParaRPr sz="1600" dirty="0">
              <a:solidFill>
                <a:srgbClr val="8AB4E8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方法</a:t>
            </a:r>
            <a:endParaRPr sz="120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三重质控：控制技术混杂对差异的贡献</a:t>
            </a:r>
            <a:endParaRPr sz="260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原始数据存在三类技术混杂，每一重质控对应其中一类</a:t>
            </a:r>
            <a:endParaRPr sz="130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3566160" cy="2514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质控一　统一测序深度</a:t>
            </a:r>
            <a:endParaRPr sz="145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15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混杂：红色文库的测序深度约为绿色的 2.9 倍</a:t>
            </a:r>
            <a:endParaRPr sz="115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15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（唯一分子标识符 UMI 中位数</a:t>
            </a:r>
            <a:endParaRPr sz="115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15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16,745 对 5,874 / 7,707）</a:t>
            </a:r>
            <a:endParaRPr sz="115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15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15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处理：对每个细胞随机降采样至</a:t>
            </a:r>
            <a:endParaRPr sz="115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15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相同的 4,095 个 UMI</a:t>
            </a:r>
            <a:endParaRPr sz="115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15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（三个文库降采样后一致，已核验）</a:t>
            </a:r>
            <a:endParaRPr sz="115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15968" y="1600200"/>
            <a:ext cx="3566160" cy="2514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质控二　不作归一化的读出</a:t>
            </a:r>
            <a:endParaRPr sz="145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混杂：CPM 归一化存在组成效应，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高丰度基因下降会机械性抬高其余基因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处理：主读出采用检出率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（表达量大于 0 的细胞百分比），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不经任何归一化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65008" y="1600200"/>
            <a:ext cx="3566160" cy="2514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0B5394"/>
                </a:solidFill>
                <a:latin typeface="微软雅黑"/>
                <a:ea typeface="微软雅黑"/>
                <a:cs typeface="微软雅黑"/>
              </a:rPr>
              <a:t>质控三　以重复估计噪声水平</a:t>
            </a:r>
            <a:endParaRPr sz="1450" b="1">
              <a:solidFill>
                <a:srgbClr val="0B5394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混杂：红侧仅 1 个文库，无法计算 p 值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KG_rep1 与 KG_rep2 为同一条件下的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两个生物学重复，二者之差即为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无真实差异时的波动范围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Aft>
                <a:spcPts val="350"/>
              </a:spcAft>
            </a:pPr>
            <a:r>
              <a:rPr sz="120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信噪比（SNR）＝绿红差 ÷ 重复间差</a:t>
            </a:r>
            <a:endParaRPr sz="120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4434840"/>
            <a:ext cx="11064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重复间差异的完整分布见第 36 页。本报告仅采纳信噪比 ≥ 3 且检出率差 ≥ 3 个百分点的基因。</a:t>
            </a:r>
            <a:endParaRPr sz="15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8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CD8 T 细胞采用完全相同的流程独立处理（同样降采样至 4,095 UMI），随后进行趋同性判定。</a:t>
            </a:r>
            <a:endParaRPr sz="1500" b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0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Aft>
                <a:spcPts val="200"/>
              </a:spcAft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三点方法学说明：</a:t>
            </a:r>
            <a:endParaRPr sz="100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2000"/>
              </a:lnSpc>
              <a:spcAft>
                <a:spcPts val="200"/>
              </a:spcAft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① 单细胞共现须与表达量匹配的随机基因对比较，而非仅与独立假设比较：任意两个基因均会因细胞质量产生轻微共现，缺少该基准会将真实信号误判为噪声。</a:t>
            </a:r>
            <a:endParaRPr sz="100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2000"/>
              </a:lnSpc>
              <a:spcAft>
                <a:spcPts val="200"/>
              </a:spcAft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② 模块聚类的边界不等同于单细胞层面的统计独立（假说 5 即据此被证伪）。</a:t>
            </a:r>
            <a:endParaRPr sz="100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2000"/>
              </a:lnSpc>
              <a:spcAft>
                <a:spcPts val="200"/>
              </a:spcAft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③ 计算转录因子（transcription factor，TF）与模块的相关时，若该转录因子本身为模块成员，即构成循环论证，须予剔除。</a:t>
            </a:r>
            <a:endParaRPr sz="100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9D55"/>
                </a:solidFill>
                <a:latin typeface="微软雅黑"/>
                <a:ea typeface="微软雅黑"/>
                <a:cs typeface="微软雅黑"/>
              </a:rPr>
              <a:t>模块拆分</a:t>
            </a:r>
            <a:endParaRPr sz="1200" b="1">
              <a:solidFill>
                <a:srgbClr val="1F9D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转录因子层面的独立验证支持模块的真实性</a:t>
            </a:r>
            <a:endParaRPr sz="260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模块由共表达聚类得到，过程中未使用任何转录因子（TF）信息；× 表示该转录因子本身为模块成员，属循环论证，已剔除</a:t>
            </a:r>
            <a:endParaRPr sz="130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Picture 4" descr="fig24_t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218" y="1444752"/>
            <a:ext cx="8617083" cy="36194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155645"/>
            <a:ext cx="11064240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热图。行＝转录因子，列＝四个共表达模块，格内数字与颜色＝该转录因子表达量与该模块评分的文库内 Spearman 相关系数（红正蓝负）。× 表示该转录因子本身是该模块成员，属循环论证，已排除。　</a:t>
            </a:r>
            <a:r>
              <a:rPr sz="10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G① 那一列里只有 Irf7 与 Stat1 两行是非成员的强正相关（深红）；R 模块整列没有任何非成员的正相关格子。</a:t>
            </a:r>
            <a:endParaRPr sz="1050" b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5701237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G① 模块耦合最强的两个非成员转录因子为 Irf7（ρ = 0.453，零分布 z = +3.2、+3.3、+3.9）与 Stat1（ρ = 0.385，z = +3.6、+3.7、+3.7），二者恰为干扰素通路的规范转录因子，可作为模块分解的独立验证。</a:t>
            </a:r>
            <a:endParaRPr sz="125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Cebpb 未通过预设阈值（与 G③ 的 ρ = 0.241，低于 0.25，且其本身即为 G③ 成员），故不再投入。</a:t>
            </a:r>
            <a:endParaRPr sz="1250" b="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R 模块未检出任何有效转录因子，与 Dean 等 2024 采用 SCENIC 得到的阴性结论（"no regulons significantly upregulated"）一致，两种方法独立复现。</a:t>
            </a:r>
            <a:endParaRPr sz="125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9D55"/>
                </a:solidFill>
                <a:latin typeface="微软雅黑"/>
                <a:ea typeface="微软雅黑"/>
                <a:cs typeface="微软雅黑"/>
              </a:rPr>
              <a:t>假说与文献查新</a:t>
            </a:r>
            <a:endParaRPr sz="1200" b="1">
              <a:solidFill>
                <a:srgbClr val="1F9D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dirty="0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跨物种验证：CCL3、CCL4、CCL5 在人结直肠癌中方向一致</a:t>
            </a:r>
            <a:endParaRPr sz="2600" b="1" dirty="0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人源一侧采用该文自身的自然杀伤细胞亚群标签：CD16A 阳性（循环样）对比 XCL1 阳性（组织驻留样）</a:t>
            </a:r>
            <a:endParaRPr sz="130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9" name="Picture 8" descr="fig23_hum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7209" y="1572768"/>
            <a:ext cx="8378190" cy="33512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015484"/>
            <a:ext cx="11064240" cy="653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横轴为基因；纵轴为两组细胞的阳性率之差（百分点），正值表示循环样一侧更高。灰柱为小鼠（光转换绿色减红色），彩柱为人（CD16A 阳性减 XCL1 阳性）；绿=两物种方向一致，红并带 ✗=方向相反，浅灰=人这边低于检出限，斜纹=循环论证不计入。　CCL3、CCL4 的彩柱高于灰柱，CCL5 同向但低于灰柱；SELL、LDHA、CD160 的彩柱反向（带 ✗）；CCR5 与 IL12RB2 的人源柱几乎贴着零线，低于检出限。</a:t>
            </a:r>
            <a:endParaRPr sz="1050" b="0">
              <a:solidFill>
                <a:srgbClr val="4A50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5742432"/>
            <a:ext cx="110642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0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CCL3（+48.2）、CCL4（+57.0）、CCL5（+31.0）在人源数据中，对应小鼠的 +9.8、+25.7、+54.1，方向全部一致；其中 CCL3 与 CCL4 的人源幅度更大，CCL5 同向但小于小鼠（+31.0 对 +54.1）。IFNG、KLF2、CEBPB 亦为同向。</a:t>
            </a:r>
            <a:endParaRPr sz="120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0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需要说明的是，人源数据仅能提供描述性支持，无法验证自然杀伤细胞的特异性：人的 CD8 T 细胞按 CXCL13、GZMK、IL7R 分亚群，与自然杀伤细胞的 CD16A、XCL1 不属同一维度，缺乏可匹配的对照，本方法的定义性步骤在人源数据中无法执行。此外 CCR5（0.3%）与 IL12RB2（0.7%）均低于检出限。</a:t>
            </a:r>
            <a:endParaRPr sz="120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数据来源：GSE178341（人 CRC，彩柱）＋ GSE221064（小鼠，灰柱）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附录</a:t>
            </a:r>
            <a:endParaRPr sz="1200" b="1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附录：重复间差异的分布</a:t>
            </a:r>
            <a:endParaRPr sz="2600" b="1">
              <a:solidFill>
                <a:srgbClr val="142B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横轴为同条件重复间的阳性率绝对差；KG_rep1 与 KG_rep2 的定义见第 33 页</a:t>
            </a:r>
            <a:endParaRPr sz="1300" b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919" y="1554480"/>
            <a:ext cx="5750320" cy="30548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700778"/>
            <a:ext cx="11064240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0">
                <a:solidFill>
                  <a:srgbClr val="4A5058"/>
                </a:solidFill>
                <a:latin typeface="微软雅黑"/>
                <a:ea typeface="微软雅黑"/>
                <a:cs typeface="微软雅黑"/>
              </a:rPr>
              <a:t>直方图。横轴＝两个同条件重复文库（KG_rep1 与 KG_rep2）之间同一基因阳性率的绝对差，即「什么都没发生」时的差；纵轴＝基因数。蓝线为中位数，红虚线为 95 分位数。　</a:t>
            </a:r>
            <a:r>
              <a:rPr sz="10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分布紧贴左端，绝大多数基因的重复间差不到 1 个百分点；Ccl3 与 Ccl5 的标记线落在中位线附近，Ccl4 的标记线正压在 95 分位虚线上。</a:t>
            </a:r>
            <a:endParaRPr sz="1050" b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5246370"/>
            <a:ext cx="11064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 dirty="0" err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全基因组的重复间差异中位为 0.70 个百分点，95 分位为 3.85 个百分点。Ccl5 的绿红差为自身噪声的 51.7 倍，Ccl3 为 11.7 倍，Ccl4 为 5.8 倍。</a:t>
            </a:r>
            <a:endParaRPr sz="1400" b="0" dirty="0" err="1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 dirty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相反，Xcl1 的绿红差（5.9 个百分点）小于其自身的重复间差异（7.5 个百分点），信噪比 0.8，判为落在噪声范围内。</a:t>
            </a:r>
            <a:endParaRPr sz="1400" b="0" dirty="0">
              <a:solidFill>
                <a:srgbClr val="1A1A1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0720" y="256032"/>
            <a:ext cx="5870448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数据来源：GSE221064（小鼠 Kaede，48 h）</a:t>
            </a:r>
            <a:endParaRPr sz="1050" b="0">
              <a:solidFill>
                <a:srgbClr val="9AA3A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777" y="287269"/>
            <a:ext cx="11131656" cy="4821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趋化因子检测　数据汇报</a:t>
            </a:r>
            <a:endParaRPr sz="25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7777" y="969532"/>
            <a:ext cx="11131656" cy="36722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两次试验，目的是看 NK 细胞在不同部位对 CCL3、CCL4、CCL5 三个趋化因子的表达情况。</a:t>
            </a:r>
            <a:endParaRPr sz="13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</a:pPr>
            <a:r>
              <a:rPr sz="7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endParaRPr sz="70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1295"/>
              </a:spcBef>
            </a:pPr>
            <a:r>
              <a:rPr sz="13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第一次试验　20260915M　（2026-09-15）</a:t>
            </a:r>
            <a:endParaRPr sz="13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3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妊娠母鼠 1、2、3，取胎盘、肝、脾。胎盘 6 管、肝 7 管、脾 9 管，共 22 管。未做分选，未做单染补偿对照。</a:t>
            </a:r>
            <a:endParaRPr sz="13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</a:pPr>
            <a:r>
              <a:rPr sz="7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endParaRPr sz="70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1295"/>
              </a:spcBef>
            </a:pPr>
            <a:r>
              <a:rPr sz="13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第二次试验　20260917sl　（2026-09-17）　对肝和脾脏细胞进行了分选</a:t>
            </a:r>
            <a:endParaRPr sz="13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3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小鼠 1、2、3，取肝、脾，每份 3 管技术重复，共 18 管；另带 9 管单染补偿对照。</a:t>
            </a:r>
            <a:endParaRPr sz="13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3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分选把肝的可用细胞比例提上来了：活率由 35.6 % 升到 71.9 %，CD45.2⁺ 由 39.4 % 升到 87.4 %。</a:t>
            </a:r>
            <a:endParaRPr sz="13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</a:pPr>
            <a:r>
              <a:rPr sz="7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endParaRPr sz="70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1295"/>
              </a:spcBef>
            </a:pPr>
            <a:r>
              <a:rPr sz="13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本版与 2026-09-19 那版的关系</a:t>
            </a:r>
            <a:endParaRPr sz="13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3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两个工作区的补偿与门控都重做过，所有数字为 2026-09-20 重算值，与旧版不可逐格对照。</a:t>
            </a:r>
            <a:endParaRPr sz="13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3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仪器 BD LSRFortessa X-20；分析 FlowJo 10.9。逐管门控链原图见《原始数据分析.pptx》（39 页）。</a:t>
            </a:r>
            <a:endParaRPr sz="13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7777" y="6427633"/>
            <a:ext cx="11131656" cy="1759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分析亚群：胎盘与肝取 CD49a⁺ NK（组织驻留型），脾取 CD49a⁻ NK（常规循环型）。</a:t>
            </a:r>
            <a:endParaRPr sz="9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00001" name="ExpDate"/>
          <p:cNvSpPr txBox="1"/>
          <p:nvPr/>
        </p:nvSpPr>
        <p:spPr>
          <a:xfrm>
            <a:off x="9750000" y="6530000"/>
            <a:ext cx="2300000" cy="27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r>
              <a:rPr lang="zh-CN" altLang="en-US" sz="900">
                <a:solidFill>
                  <a:srgbClr val="808080"/>
                </a:solidFill>
              </a:rPr>
              <a:t>试验日期：2026-09-15 / 09-17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777" y="287269"/>
            <a:ext cx="11131656" cy="4821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门控策略与分析亚群</a:t>
            </a:r>
            <a:endParaRPr sz="25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7777" y="969532"/>
            <a:ext cx="11131656" cy="85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逐级门控（两次试验一致）</a:t>
            </a:r>
            <a:endParaRPr sz="13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3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淋巴细胞 (FSC-A/SSC-A) → 单一细胞 (FSC-A/FSC-H) → 活细胞 (Live/Dead 阴性) → CD45.2⁺ (FITC) → NK = CD3e⁻ (BV 421) NK1.1⁺ (BV 605) → CD49a 亚群 (PerCP-Cy5-5) → 亚群内 CCL3 (APC)、CCL4 (PE)、CCL5 (PE-Cy7)</a:t>
            </a:r>
            <a:endParaRPr sz="13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7777" y="1939063"/>
          <a:ext cx="11131656" cy="9156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1065"/>
                <a:gridCol w="2226331"/>
                <a:gridCol w="2226331"/>
                <a:gridCol w="4897928"/>
              </a:tblGrid>
              <a:tr h="30522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部位</a:t>
                      </a:r>
                      <a:endParaRPr sz="13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 门占 NK</a:t>
                      </a:r>
                      <a:endParaRPr sz="13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分析的是</a:t>
                      </a:r>
                      <a:endParaRPr sz="13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  <a:endParaRPr sz="13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0522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胎盘、肝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– 47 %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 NK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组织驻留型（trNK）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0522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89 – 98 %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 NK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常规循环型（cNK）</a:t>
                      </a:r>
                      <a:endParaRPr sz="13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7777" y="3303587"/>
            <a:ext cx="11131656" cy="19020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两次试验之间的差别</a:t>
            </a:r>
            <a:endParaRPr sz="13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3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· 第二次试验对肝、脾细胞做了分选，第一次没有。</a:t>
            </a:r>
            <a:endParaRPr sz="13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3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· 第二次试验带 9 管单染补偿对照，第一次一管都没有。</a:t>
            </a:r>
            <a:endParaRPr sz="13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3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· 第二次试验脾组的活/死门画在 FSC-H 上，其余全部画在 FSC-A 上。</a:t>
            </a:r>
            <a:endParaRPr sz="13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3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· BV 421 电压第一次 450 V、第二次 380 V，8 个通道里共有 6 个电压不同，两次的荧光强度不可横向比较。</a:t>
            </a:r>
            <a:endParaRPr sz="13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3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· 两次都没有 FMO 对照，所有阳性率的阈值按各管阴性群人工划定。</a:t>
            </a:r>
            <a:endParaRPr sz="13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00001" name="ExpDate"/>
          <p:cNvSpPr txBox="1"/>
          <p:nvPr/>
        </p:nvSpPr>
        <p:spPr>
          <a:xfrm>
            <a:off x="9750000" y="6530000"/>
            <a:ext cx="2300000" cy="27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r>
              <a:rPr lang="zh-CN" altLang="en-US" sz="900">
                <a:solidFill>
                  <a:srgbClr val="808080"/>
                </a:solidFill>
              </a:rPr>
              <a:t>试验日期：2026-09-15 / 09-17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777" y="287269"/>
            <a:ext cx="11131656" cy="4821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第一次试验　20260915M　门控代表图</a:t>
            </a:r>
            <a:endParaRPr sz="25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2326" y="897715"/>
            <a:ext cx="3788354" cy="2315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胎盘　fepal-2_001　（CD49a⁺）</a:t>
            </a:r>
            <a:endParaRPr sz="12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Picture 3" descr="幻灯片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326" y="1184983"/>
            <a:ext cx="3788354" cy="31793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6360" y="897715"/>
            <a:ext cx="3788354" cy="2315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肝　liver-2_001　（CD49a⁺）</a:t>
            </a:r>
            <a:endParaRPr sz="12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" name="Picture 5" descr="幻灯片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360" y="1184983"/>
            <a:ext cx="3788354" cy="31793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60393" y="897715"/>
            <a:ext cx="3788354" cy="2315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脾　spleen-1_001　（CD49a⁻）</a:t>
            </a:r>
            <a:endParaRPr sz="12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Picture 7" descr="幻灯片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393" y="1184983"/>
            <a:ext cx="3788354" cy="31793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7777" y="4560389"/>
            <a:ext cx="11131656" cy="851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三张图均为 FlowJo 排版编辑器导出的原始图像，未经再绘制；22 管逐管原图见《原始数据分析.pptx》。</a:t>
            </a:r>
            <a:endParaRPr sz="12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2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本次未做分选，肝的可用细胞少：活率 35.6 ± 10.9 %、CD45.2⁺ 39.4 ± 18.3 %，NK 亚群事件数低至 74。</a:t>
            </a:r>
            <a:endParaRPr sz="12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2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脾脏 9 管中的 8 管，门由 spleen-1_001 整链克隆。</a:t>
            </a:r>
            <a:endParaRPr sz="12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00001" name="ExpDate"/>
          <p:cNvSpPr txBox="1"/>
          <p:nvPr/>
        </p:nvSpPr>
        <p:spPr>
          <a:xfrm>
            <a:off x="9750000" y="6530000"/>
            <a:ext cx="2300000" cy="27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r>
              <a:rPr lang="zh-CN" altLang="en-US" sz="900">
                <a:solidFill>
                  <a:srgbClr val="808080"/>
                </a:solidFill>
              </a:rPr>
              <a:t>试验日期：2026-09-15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777" y="287269"/>
            <a:ext cx="11131656" cy="4821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第一次试验　各部位趋化因子表达</a:t>
            </a:r>
            <a:endParaRPr sz="25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" name="Picture 2" descr="ck_09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868" y="825896"/>
            <a:ext cx="11167564" cy="428389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7777" y="5206742"/>
          <a:ext cx="11131657" cy="1034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2381"/>
                <a:gridCol w="779216"/>
                <a:gridCol w="1558432"/>
                <a:gridCol w="1558432"/>
                <a:gridCol w="1335799"/>
                <a:gridCol w="1335799"/>
                <a:gridCol w="1335799"/>
                <a:gridCol w="1335799"/>
              </a:tblGrid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部位（分析亚群）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管数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 / CD45.2⁺ %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 / NK %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亚群事件数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CCL3⁺ %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CCL4⁺ %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CCL5⁺ %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胎盘　CD49a⁺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48.6 ± 10.9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43.9 ± 2.6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408 – 1481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43.8 ± 8.6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90.7 ± 1.6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68.6 ± 2.0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肝　CD49a⁺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29.0 ± 2.9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18.3 ± 2.7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74 – 382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42.7 ± 5.7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72.4 ± 16.0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68.6 ± 14.0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　CD49a⁻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6.8 ± 1.1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 ± 0.5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921 – 3785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 ± 0.0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24.0 ± 5.9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67.3 ± 6.6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7777" y="6427633"/>
            <a:ext cx="11131656" cy="1762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均值 ± SD，胎盘 6 管 / 肝 7 管 / 脾 9 管，每点一管（小鼠 1 = 圆、2 = 三角、3 = 方块）；n = 2–3 只小鼠，不做统计检验。CCL3 一列不可用，见「补偿说明」一页。</a:t>
            </a:r>
            <a:endParaRPr sz="9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00001" name="ExpDate"/>
          <p:cNvSpPr txBox="1"/>
          <p:nvPr/>
        </p:nvSpPr>
        <p:spPr>
          <a:xfrm>
            <a:off x="9750000" y="6530000"/>
            <a:ext cx="2300000" cy="27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r>
              <a:rPr lang="zh-CN" altLang="en-US" sz="900">
                <a:solidFill>
                  <a:srgbClr val="808080"/>
                </a:solidFill>
              </a:rPr>
              <a:t>试验日期：2026-09-15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777" y="287269"/>
            <a:ext cx="11131656" cy="4821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第一次试验　逐管数据（22 管）</a:t>
            </a:r>
            <a:endParaRPr sz="25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40052" y="861806"/>
          <a:ext cx="11311192" cy="5314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2814"/>
                <a:gridCol w="622635"/>
                <a:gridCol w="622635"/>
                <a:gridCol w="830179"/>
                <a:gridCol w="933952"/>
                <a:gridCol w="933952"/>
                <a:gridCol w="726406"/>
                <a:gridCol w="933952"/>
                <a:gridCol w="1037724"/>
                <a:gridCol w="726406"/>
                <a:gridCol w="830179"/>
                <a:gridCol w="830179"/>
                <a:gridCol w="830179"/>
              </a:tblGrid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</a:t>
                      </a:r>
                      <a:endParaRPr sz="8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部位</a:t>
                      </a:r>
                      <a:endParaRPr sz="8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小鼠</a:t>
                      </a:r>
                      <a:endParaRPr sz="8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活率 %</a:t>
                      </a:r>
                      <a:endParaRPr sz="8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CD45.2⁺ %</a:t>
                      </a:r>
                      <a:endParaRPr sz="8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 / CD45 %</a:t>
                      </a:r>
                      <a:endParaRPr sz="8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 数</a:t>
                      </a:r>
                      <a:endParaRPr sz="8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分析亚群</a:t>
                      </a:r>
                      <a:endParaRPr sz="8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亚群 % of NK</a:t>
                      </a:r>
                      <a:endParaRPr sz="8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亚群数</a:t>
                      </a:r>
                      <a:endParaRPr sz="8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CCL3⁺ %</a:t>
                      </a:r>
                      <a:endParaRPr sz="8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CCL4⁺ %</a:t>
                      </a:r>
                      <a:endParaRPr sz="8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CCL5⁺ %</a:t>
                      </a:r>
                      <a:endParaRPr sz="8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liver-1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肝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42.0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31.9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29.6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40.3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66.2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59.7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liver-2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肝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21.5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467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55.3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55.3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liver-2_001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肝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529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54.1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58.1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liver-2_002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肝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47.2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27.2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28.6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827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54.6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65.0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58.9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liver-3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肝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21.8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60.9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1817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21.0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36.9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92.7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89.0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liver-3_001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肝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61.4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26.0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1710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21.0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359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40.7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86.9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liver-3_002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肝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29.3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52.5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27.9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1610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18.9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39.7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86.6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75.1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fepal-2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胎盘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51.4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60.3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1010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47.5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51.2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91.0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68.3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fepal-2_001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胎盘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50.7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37.7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61.1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1581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684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53.4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88.9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64.8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fepal-2_002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胎盘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51.6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53.2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1024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39.8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408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49.3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89.2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68.9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fepal-3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胎盘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46.7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59.2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38.8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1259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547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39.3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92.3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70.4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fepal-3_001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胎盘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39.1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69.5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39.5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2204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45.5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92.7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69.1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fepal-3_002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胎盘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36.7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70.5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38.3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3395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43.6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1481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90.2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69.9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spleen-1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37.2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1493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97.7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1458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69.8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spleen-1_001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75.0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956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96.3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921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63.6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spleen-1_002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77.9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1226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97.1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1191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62.0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spleen-2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26.4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81.0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2717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96.5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2622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23.8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54.5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spleen-2_001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79.8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2468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97.2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2399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65.0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spleen-2_002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88.2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3303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97.3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3213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35.9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76.0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spleen-3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27.0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83.4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3492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97.5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3406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70.5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spleen-3_001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29.5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3814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97.4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3716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23.4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72.1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106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spleen-3_002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84.4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3866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97.9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3785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20.9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72.5</a:t>
                      </a:r>
                      <a:endParaRPr sz="8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7777" y="6427633"/>
            <a:ext cx="11131656" cy="372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事件数与百分比取自 FlowJo 缓存计数。胎盘、肝的分析亚群为 CD49a⁺，脾为 CD49a⁻。CCL3 一列不可用，见「补偿说明」一页。荧光中位数不在本册中使用（多数细胞为阴性时中位数落在阴性群里），完整数值见数据汇总 xlsx。</a:t>
            </a:r>
            <a:endParaRPr sz="9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00001" name="ExpDate"/>
          <p:cNvSpPr txBox="1"/>
          <p:nvPr/>
        </p:nvSpPr>
        <p:spPr>
          <a:xfrm>
            <a:off x="9750000" y="6530000"/>
            <a:ext cx="2300000" cy="27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r>
              <a:rPr lang="zh-CN" altLang="en-US" sz="900">
                <a:solidFill>
                  <a:srgbClr val="808080"/>
                </a:solidFill>
              </a:rPr>
              <a:t>试验日期：2026-09-15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777" y="287269"/>
            <a:ext cx="11131656" cy="4821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第二次试验　20260917sl　肝、脾细胞分选后　门控代表图</a:t>
            </a:r>
            <a:endParaRPr sz="25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5503" y="897715"/>
            <a:ext cx="5242651" cy="2315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肝　L2_001　（CD49a⁺）</a:t>
            </a:r>
            <a:endParaRPr sz="12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Picture 3" descr="幻灯片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503" y="1184983"/>
            <a:ext cx="5242651" cy="4399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49514" y="897715"/>
            <a:ext cx="5242651" cy="2315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脾　S1_001　（CD49a⁻）</a:t>
            </a:r>
            <a:endParaRPr sz="12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" name="Picture 5" descr="幻灯片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514" y="1184983"/>
            <a:ext cx="5242651" cy="43998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7777" y="5709463"/>
            <a:ext cx="11131656" cy="1069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9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本次对肝和脾脏细胞进行了分选，可用细胞明显增多：肝活率 71.9 ± 2.7 %（第一次 35.6 %）、CD45.2⁺ 87.4 ± 5.4 %（第一次 39.4 %）；脾活率 79.8 ± 1.2 %（第一次 30.9 %）。</a:t>
            </a:r>
            <a:endParaRPr sz="119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19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本次带 9 管单染补偿对照，补偿矩阵由单染计算，共 39 项系数。</a:t>
            </a:r>
            <a:endParaRPr sz="119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19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两张图均为 FlowJo 排版编辑器导出的原始图像；17 管逐管原图见《原始数据分析.pptx》。</a:t>
            </a:r>
            <a:endParaRPr sz="119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00001" name="ExpDate"/>
          <p:cNvSpPr txBox="1"/>
          <p:nvPr/>
        </p:nvSpPr>
        <p:spPr>
          <a:xfrm>
            <a:off x="9750000" y="6530000"/>
            <a:ext cx="2300000" cy="27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r>
              <a:rPr lang="zh-CN" altLang="en-US" sz="900">
                <a:solidFill>
                  <a:srgbClr val="808080"/>
                </a:solidFill>
              </a:rPr>
              <a:t>试验日期：2026-09-17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777" y="287269"/>
            <a:ext cx="11131656" cy="4821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第二次试验　各部位趋化因子表达</a:t>
            </a:r>
            <a:endParaRPr sz="25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" name="Picture 2" descr="ck_091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868" y="825896"/>
            <a:ext cx="11167564" cy="428389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7777" y="5206742"/>
          <a:ext cx="11131657" cy="775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2381"/>
                <a:gridCol w="779216"/>
                <a:gridCol w="1558432"/>
                <a:gridCol w="1558432"/>
                <a:gridCol w="1335799"/>
                <a:gridCol w="1335799"/>
                <a:gridCol w="1335799"/>
                <a:gridCol w="1335799"/>
              </a:tblGrid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部位（分析亚群）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管数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 / CD45.2⁺ %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 / NK %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亚群事件数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CCL3⁺ %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CCL4⁺ %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CCL5⁺ %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肝　CD49a⁺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17.0 ± 2.1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27.8 ± 7.5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148 – 693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24.7 ± 9.8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78.5 ± 18.9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62.0 ± 6.1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　CD49a⁻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3.7 ± 0.2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 ± 2.2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201 – 274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10.8 ± 2.4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13.9 ± 4.6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60.0 ± 5.1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7777" y="6427633"/>
            <a:ext cx="11131656" cy="1762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均值 ± SD，肝 9 管 / 脾 9 管，每点一管；n = 3 只小鼠，不做统计检验。本次三个趋化因子通道都没有可辨认的阳性群，阳性率由人工阈值决定，只能作组间相对比较。</a:t>
            </a:r>
            <a:endParaRPr sz="9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00001" name="ExpDate"/>
          <p:cNvSpPr txBox="1"/>
          <p:nvPr/>
        </p:nvSpPr>
        <p:spPr>
          <a:xfrm>
            <a:off x="9750000" y="6530000"/>
            <a:ext cx="2300000" cy="27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r>
              <a:rPr lang="zh-CN" altLang="en-US" sz="900">
                <a:solidFill>
                  <a:srgbClr val="808080"/>
                </a:solidFill>
              </a:rPr>
              <a:t>试验日期：2026-09-17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777" y="287269"/>
            <a:ext cx="11131656" cy="4821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第二次试验　逐管数据（18 管）</a:t>
            </a:r>
            <a:endParaRPr sz="25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40052" y="861806"/>
          <a:ext cx="11311192" cy="45029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2814"/>
                <a:gridCol w="622635"/>
                <a:gridCol w="622635"/>
                <a:gridCol w="830179"/>
                <a:gridCol w="933952"/>
                <a:gridCol w="933952"/>
                <a:gridCol w="726406"/>
                <a:gridCol w="933952"/>
                <a:gridCol w="1037724"/>
                <a:gridCol w="726406"/>
                <a:gridCol w="830179"/>
                <a:gridCol w="830179"/>
                <a:gridCol w="830179"/>
              </a:tblGrid>
              <a:tr h="236997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</a:t>
                      </a:r>
                      <a:endParaRPr sz="10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部位</a:t>
                      </a:r>
                      <a:endParaRPr sz="10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小鼠</a:t>
                      </a:r>
                      <a:endParaRPr sz="10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活率 %</a:t>
                      </a:r>
                      <a:endParaRPr sz="10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CD45.2⁺ %</a:t>
                      </a:r>
                      <a:endParaRPr sz="10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 / CD45 %</a:t>
                      </a:r>
                      <a:endParaRPr sz="10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NK 数</a:t>
                      </a:r>
                      <a:endParaRPr sz="10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分析亚群</a:t>
                      </a:r>
                      <a:endParaRPr sz="10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亚群 % of NK</a:t>
                      </a:r>
                      <a:endParaRPr sz="10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亚群数</a:t>
                      </a:r>
                      <a:endParaRPr sz="10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CCL3⁺ %</a:t>
                      </a:r>
                      <a:endParaRPr sz="10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CCL4⁺ %</a:t>
                      </a:r>
                      <a:endParaRPr sz="10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CCL5⁺ %</a:t>
                      </a:r>
                      <a:endParaRPr sz="10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3699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肝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72.2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91.6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1812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31.8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577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27.4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84.4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56.5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699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L1_001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肝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67.1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96.2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11.9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1441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148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2.0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28.4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53.4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699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L1_002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肝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70.9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91.3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2044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24.9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508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26.4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57.1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699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肝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70.0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80.8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18.4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1920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577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23.6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88.7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58.6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699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L2_001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肝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75.7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90.8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17.0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1986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637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38.0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85.4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70.0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699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L2_002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肝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74.8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86.0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18.8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2206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25.4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560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32.7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83.4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67.5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699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肝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72.7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80.1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1559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27.6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24.6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83.1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68.4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699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L3_001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肝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73.5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83.9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18.4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1908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36.3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693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65.9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699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L3_002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肝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70.3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85.6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1622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31.5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511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25.2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60.7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699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80.9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57.6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3.8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225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89.3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14.9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16.9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60.7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699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S1_001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77.9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62.4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3.7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236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96.6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228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9.6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21.9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61.4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699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S1_002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79.0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74.0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3.7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94.2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274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11.7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15.0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52.6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699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79.6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56.3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229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92.1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9.0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61.1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699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S2_001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78.4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68.4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95.9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68.5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699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S2_002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80.1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76.0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3.6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280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92.9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260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11.9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64.6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699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80.9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72.1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93.1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10.7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9.5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60.9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699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S3_001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81.4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74.6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3.6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277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92.4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256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12.1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55.5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3699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S3_002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79.7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57.5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3.8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219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95.0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208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8.2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9.6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54.3</a:t>
                      </a:r>
                      <a:endParaRPr sz="10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7777" y="6427633"/>
            <a:ext cx="11131656" cy="1759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肝的分析亚群为 CD49a⁺，脾为 CD49a⁻。CCL3/4/5 无可辨认阳性群，阳性率取决于人工阈值，只能作组间相对比较。L1_001 为离群管（亚群 10.3 %、CCL4 28.4 %）。</a:t>
            </a:r>
            <a:endParaRPr sz="9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00001" name="ExpDate"/>
          <p:cNvSpPr txBox="1"/>
          <p:nvPr/>
        </p:nvSpPr>
        <p:spPr>
          <a:xfrm>
            <a:off x="9750000" y="6530000"/>
            <a:ext cx="2300000" cy="27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r>
              <a:rPr lang="zh-CN" altLang="en-US" sz="900">
                <a:solidFill>
                  <a:srgbClr val="808080"/>
                </a:solidFill>
              </a:rPr>
              <a:t>试验日期：2026-09-17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777" y="287269"/>
            <a:ext cx="11131656" cy="4821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补偿说明</a:t>
            </a:r>
            <a:endParaRPr sz="25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7777" y="969532"/>
            <a:ext cx="11131656" cy="18609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9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· 第一次试验没有单染补偿管，补偿由全染样本反解，只定出 6 项系数，其余留 0。荧光强度只能作定性比较。</a:t>
            </a:r>
            <a:endParaRPr sz="139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39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· 缺的 PerCP-Cy5-5 → APC 让 CD49a 的信号漏进了 CCL3 通道，所以第一次试验的 CCL3 两列不可用（补上 11 % 后，胎盘 43.8 → 8.6 %、肝 42.9 → 12.6 %）。</a:t>
            </a:r>
            <a:endParaRPr sz="139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39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· 第二次试验带 9 管单染对照，补偿由单染计算，共 39 项系数；在用的副本曾被手改 5 格（其中 APC → PerCP 由 1.20 % 改成 18 %，会把 CD49a 压成阴性），已全部还原。</a:t>
            </a:r>
            <a:endParaRPr sz="139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39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· 两次试验的 PMT 电压 8 个通道里有 6 个不同，两批的荧光强度不可横向比较。</a:t>
            </a:r>
            <a:endParaRPr sz="139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7777" y="6427633"/>
            <a:ext cx="11131656" cy="1762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补偿留档与完整矩阵见 D:\flow_comp_backup\，逐项说明见《原始数据分析.pptx》第 3 页。</a:t>
            </a:r>
            <a:endParaRPr sz="9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00001" name="ExpDate"/>
          <p:cNvSpPr txBox="1"/>
          <p:nvPr/>
        </p:nvSpPr>
        <p:spPr>
          <a:xfrm>
            <a:off x="9750000" y="6530000"/>
            <a:ext cx="2300000" cy="27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r>
              <a:rPr lang="zh-CN" altLang="en-US" sz="900">
                <a:solidFill>
                  <a:srgbClr val="808080"/>
                </a:solidFill>
              </a:rPr>
              <a:t>试验日期：2026-09-15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172" y="287269"/>
            <a:ext cx="11131656" cy="4821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95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2595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7777" y="969532"/>
            <a:ext cx="11131656" cy="49904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95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各部位趋化因子</a:t>
            </a:r>
            <a:endParaRPr sz="1295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29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1. CCL4：随部位差别最大。第一次试验阳性率 </a:t>
            </a:r>
            <a:r>
              <a:rPr sz="1295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胎盘</a:t>
            </a:r>
            <a:r>
              <a:rPr sz="129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90.7 ± 1.6 % ＞ 肝 72.4 ± 16.0 % ＞ 脾 24.0 ± 5.9 %；</a:t>
            </a:r>
            <a:r>
              <a:rPr sz="1295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第二次试验分选后同向，肝</a:t>
            </a:r>
            <a:r>
              <a:rPr sz="129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78.5 ± 18.9 % ＞ 脾 13.9 ± 4.6 %。</a:t>
            </a:r>
            <a:endParaRPr sz="1295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29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2. CCL5：各部位都在 60–70 %，</a:t>
            </a:r>
            <a:r>
              <a:rPr sz="1295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看不出差别。第一次</a:t>
            </a:r>
            <a:r>
              <a:rPr sz="129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95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胎盘</a:t>
            </a:r>
            <a:r>
              <a:rPr sz="129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68.6、肝 68.6、脾 67.3 %；</a:t>
            </a:r>
            <a:r>
              <a:rPr sz="1295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第二次</a:t>
            </a:r>
            <a:r>
              <a:rPr sz="129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肝 62.0、脾 60.0 %。</a:t>
            </a:r>
            <a:endParaRPr sz="1295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295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3. CCL3：两次试验均未检出</a:t>
            </a:r>
            <a:r>
              <a:rPr lang="zh-CN" altLang="en-US" sz="1295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，可能需要刺激</a:t>
            </a:r>
            <a:r>
              <a:rPr sz="1295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295" dirty="0">
              <a:solidFill>
                <a:srgbClr val="FF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</a:pPr>
            <a:r>
              <a:rPr sz="7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 </a:t>
            </a:r>
            <a:endParaRPr sz="700" dirty="0">
              <a:solidFill>
                <a:srgbClr val="FF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1295"/>
              </a:spcBef>
            </a:pPr>
            <a:r>
              <a:rPr sz="1295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其他</a:t>
            </a:r>
            <a:endParaRPr sz="1295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29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4. CD49a⁺ 占 </a:t>
            </a:r>
            <a:r>
              <a:rPr sz="1295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NK：胎盘</a:t>
            </a:r>
            <a:r>
              <a:rPr sz="129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44 % ＞ 肝 18–28 % ＞ 脾 3–6 %。</a:t>
            </a:r>
            <a:endParaRPr sz="1295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sz="129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5. </a:t>
            </a:r>
            <a:r>
              <a:rPr sz="1295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分选有效：肝活率由</a:t>
            </a:r>
            <a:r>
              <a:rPr sz="129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36 % </a:t>
            </a:r>
            <a:r>
              <a:rPr sz="1295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升到</a:t>
            </a:r>
            <a:r>
              <a:rPr sz="129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72 %，CD45.2⁺ 由 39 % </a:t>
            </a:r>
            <a:r>
              <a:rPr sz="1295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升到</a:t>
            </a:r>
            <a:r>
              <a:rPr sz="129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87 %。</a:t>
            </a:r>
            <a:endParaRPr sz="1295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</a:pPr>
            <a:r>
              <a:rPr sz="7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endParaRPr lang="en-US" sz="7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</a:pPr>
            <a:endParaRPr lang="en-US" sz="7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</a:pPr>
            <a:endParaRPr lang="en-US" sz="7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</a:pPr>
            <a:endParaRPr lang="en-US" sz="7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1295"/>
              </a:spcBef>
            </a:pPr>
            <a:r>
              <a:rPr lang="zh-CN" altLang="en-US" sz="2595" b="1" dirty="0">
                <a:solidFill>
                  <a:srgbClr val="000000"/>
                </a:solidFill>
                <a:latin typeface="微软雅黑"/>
                <a:ea typeface="微软雅黑"/>
              </a:rPr>
              <a:t>后续计划</a:t>
            </a:r>
            <a:endParaRPr lang="en-US" altLang="zh-CN" sz="2595" b="1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  <a:spcBef>
                <a:spcPts val="1295"/>
              </a:spcBef>
            </a:pPr>
            <a:r>
              <a:rPr lang="zh-CN" altLang="en-US" sz="1295" b="1" dirty="0">
                <a:solidFill>
                  <a:srgbClr val="000000"/>
                </a:solidFill>
                <a:latin typeface="微软雅黑"/>
                <a:ea typeface="微软雅黑"/>
              </a:rPr>
              <a:t>下周会再测一次，包含外周血，因为此前灌流得同时无法提取外周血，下次从心脏直接取血。</a:t>
            </a:r>
            <a:r>
              <a:rPr lang="zh-CN" altLang="en-US" sz="1295" b="1" dirty="0">
                <a:solidFill>
                  <a:srgbClr val="FF0000"/>
                </a:solidFill>
                <a:latin typeface="微软雅黑"/>
                <a:ea typeface="微软雅黑"/>
              </a:rPr>
              <a:t>另外</a:t>
            </a:r>
            <a:r>
              <a:rPr lang="en-US" altLang="zh-CN" sz="1295" b="1" dirty="0" err="1">
                <a:solidFill>
                  <a:srgbClr val="FF0000"/>
                </a:solidFill>
                <a:latin typeface="微软雅黑"/>
                <a:ea typeface="微软雅黑"/>
              </a:rPr>
              <a:t>dNK</a:t>
            </a:r>
            <a:r>
              <a:rPr lang="zh-CN" altLang="en-US" sz="1295" b="1" dirty="0">
                <a:solidFill>
                  <a:srgbClr val="FF0000"/>
                </a:solidFill>
                <a:latin typeface="微软雅黑"/>
                <a:ea typeface="微软雅黑"/>
              </a:rPr>
              <a:t>效果一般是因为此前都是使用单细胞悬液进行美天旎磁珠阳选，如果可能能否在正式试验前采购。</a:t>
            </a:r>
            <a:endParaRPr lang="en-US" altLang="zh-CN" sz="1295" b="1" dirty="0">
              <a:solidFill>
                <a:srgbClr val="FF0000"/>
              </a:solidFill>
              <a:latin typeface="微软雅黑"/>
              <a:ea typeface="微软雅黑"/>
            </a:endParaRPr>
          </a:p>
          <a:p>
            <a:pPr>
              <a:lnSpc>
                <a:spcPct val="135000"/>
              </a:lnSpc>
            </a:pPr>
            <a:endParaRPr lang="en-US" sz="7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</a:pPr>
            <a:endParaRPr sz="7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00001" name="ExpDate"/>
          <p:cNvSpPr txBox="1"/>
          <p:nvPr/>
        </p:nvSpPr>
        <p:spPr>
          <a:xfrm>
            <a:off x="9750000" y="6530000"/>
            <a:ext cx="2300000" cy="27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r>
              <a:rPr lang="zh-CN" altLang="en-US" sz="900">
                <a:solidFill>
                  <a:srgbClr val="808080"/>
                </a:solidFill>
              </a:rPr>
              <a:t>试验日期：2026-09-15 / 09-17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777" y="287269"/>
            <a:ext cx="11131656" cy="3893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门控策略　组二　肝 / 胎盘 / 淋巴结 / 脾</a:t>
            </a:r>
            <a:endParaRPr sz="20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7777" y="754080"/>
            <a:ext cx="5745371" cy="2039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9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Experiment 20261009CCL（PLANT 管）</a:t>
            </a:r>
            <a:endParaRPr sz="109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7777" y="1077257"/>
            <a:ext cx="1579977" cy="215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1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Picture 4" descr="门控2_r1c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777" y="1292709"/>
            <a:ext cx="1579977" cy="15261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71389" y="1077257"/>
            <a:ext cx="1579977" cy="215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1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Picture 6" descr="门控2_r1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389" y="1292709"/>
            <a:ext cx="1579977" cy="15261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95000" y="1077257"/>
            <a:ext cx="1579977" cy="215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1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9" name="Picture 8" descr="门控2_r1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000" y="1292709"/>
            <a:ext cx="1579977" cy="152611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7777" y="2872686"/>
            <a:ext cx="1579977" cy="215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1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1" name="Picture 10" descr="门控2_r2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77" y="3088137"/>
            <a:ext cx="1579977" cy="15261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71389" y="2872686"/>
            <a:ext cx="1579977" cy="215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1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" name="Picture 12" descr="门控2_r2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1389" y="3088137"/>
            <a:ext cx="1579977" cy="15261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95000" y="2872686"/>
            <a:ext cx="1579977" cy="215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1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5" name="Picture 14" descr="门控2_r2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5000" y="3088137"/>
            <a:ext cx="1579977" cy="152611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7777" y="4668114"/>
            <a:ext cx="1579977" cy="215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11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7" name="Picture 16" descr="门控2_r3c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777" y="4883565"/>
            <a:ext cx="1579977" cy="152611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71389" y="4668114"/>
            <a:ext cx="1579977" cy="215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8</a:t>
            </a:r>
            <a:endParaRPr sz="11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9" name="Picture 18" descr="门控2_r3c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1389" y="4883565"/>
            <a:ext cx="1579977" cy="152611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95000" y="4668114"/>
            <a:ext cx="1579977" cy="215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9</a:t>
            </a:r>
            <a:endParaRPr sz="11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1" name="Picture 20" descr="门控2_r3c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95000" y="4883565"/>
            <a:ext cx="1579977" cy="1526114"/>
          </a:xfrm>
          <a:prstGeom prst="rect">
            <a:avLst/>
          </a:prstGeom>
        </p:spPr>
      </p:pic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969971" y="1292709"/>
          <a:ext cx="5853094" cy="26011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8964"/>
                <a:gridCol w="2799306"/>
                <a:gridCol w="2544824"/>
              </a:tblGrid>
              <a:tr h="273623">
                <a:tc>
                  <a:txBody>
                    <a:bodyPr/>
                    <a:lstStyle/>
                    <a:p>
                      <a:pPr algn="l"/>
                      <a:endParaRPr sz="1800"/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双参数</a:t>
                      </a:r>
                      <a:endParaRPr sz="11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门控群体</a:t>
                      </a:r>
                      <a:endParaRPr sz="11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FSC-A / SSC-A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淋巴细胞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FSC-A / FSC-H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单细胞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APC-Cy7 / FSC-H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活细胞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FITC / FSC-H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CD45.2⁺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BV421 / BV605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CD3e⁻NK1.1⁺（NK）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PerCP-Cy5.5 / BUV396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 × CD49b 四象限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APC / FSC-H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CCL3⁺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 / FSC-H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CCL4⁺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PE-Cy7 / FSC-H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CCL5⁺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47777" y="6427633"/>
            <a:ext cx="11131656" cy="1759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图内数字为该门占上一级的百分比。肝与胎盘读 Q3（CD49a⁺CD49b⁻），淋巴结与脾读 Q1（CD49a⁻CD49b⁺）。</a:t>
            </a:r>
            <a:endParaRPr sz="9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00001" name="ExpDate"/>
          <p:cNvSpPr txBox="1"/>
          <p:nvPr/>
        </p:nvSpPr>
        <p:spPr>
          <a:xfrm>
            <a:off x="9750000" y="6530000"/>
            <a:ext cx="2300000" cy="27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r>
              <a:rPr lang="zh-CN" altLang="en-US" sz="900">
                <a:solidFill>
                  <a:srgbClr val="808080"/>
                </a:solidFill>
              </a:rPr>
              <a:t>试验日期：2026-10-09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777" y="287269"/>
            <a:ext cx="11131656" cy="3893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门控策略　组一　血 / 肿瘤</a:t>
            </a:r>
            <a:endParaRPr sz="20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7777" y="754080"/>
            <a:ext cx="5745371" cy="2039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9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Experiment 20261009CCL（BLOOD 管）</a:t>
            </a:r>
            <a:endParaRPr sz="109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7777" y="1077257"/>
            <a:ext cx="1579977" cy="215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1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Picture 4" descr="门控1_r1c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777" y="1292709"/>
            <a:ext cx="1579977" cy="15261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71389" y="1077257"/>
            <a:ext cx="1579977" cy="215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1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Picture 6" descr="门控1_r1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389" y="1292709"/>
            <a:ext cx="1579977" cy="15261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95000" y="1077257"/>
            <a:ext cx="1579977" cy="215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1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9" name="Picture 8" descr="门控1_r1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000" y="1292709"/>
            <a:ext cx="1579977" cy="152611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7777" y="2872686"/>
            <a:ext cx="1579977" cy="215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1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1" name="Picture 10" descr="门控1_r2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77" y="3088137"/>
            <a:ext cx="1579977" cy="15261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71389" y="2872686"/>
            <a:ext cx="1579977" cy="215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1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" name="Picture 12" descr="门控1_r2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1389" y="3088137"/>
            <a:ext cx="1579977" cy="15261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95000" y="2872686"/>
            <a:ext cx="1579977" cy="215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1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5" name="Picture 14" descr="门控1_r2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5000" y="3088137"/>
            <a:ext cx="1579977" cy="152611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7777" y="4668114"/>
            <a:ext cx="1579977" cy="215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11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7" name="Picture 16" descr="门控1_r3c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777" y="4883565"/>
            <a:ext cx="1579977" cy="152611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71389" y="4668114"/>
            <a:ext cx="1579977" cy="215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4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8</a:t>
            </a:r>
            <a:endParaRPr sz="114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9" name="Picture 18" descr="门控1_r3c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1389" y="4883565"/>
            <a:ext cx="1579977" cy="1526114"/>
          </a:xfrm>
          <a:prstGeom prst="rect">
            <a:avLst/>
          </a:prstGeom>
        </p:spPr>
      </p:pic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969971" y="1292709"/>
          <a:ext cx="5853094" cy="2342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8964"/>
                <a:gridCol w="2799306"/>
                <a:gridCol w="2544824"/>
              </a:tblGrid>
              <a:tr h="273623">
                <a:tc>
                  <a:txBody>
                    <a:bodyPr/>
                    <a:lstStyle/>
                    <a:p>
                      <a:pPr algn="l"/>
                      <a:endParaRPr sz="1800"/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双参数</a:t>
                      </a:r>
                      <a:endParaRPr sz="11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门控群体</a:t>
                      </a:r>
                      <a:endParaRPr sz="11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FSC-A / SSC-A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淋巴细胞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FSC-A / FSC-H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单细胞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APC-Cy7 / FSC-H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活细胞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FITC / Alexa 700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CD45.2⁺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BV421 / BUV396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CD3e⁻CD49b⁺（NK）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APC / FSC-H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CCL3⁺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 / FSC-H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CCL4⁺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85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PE-Cy7 / FSC-H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CCL5⁺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7777" y="6427633"/>
            <a:ext cx="11131656" cy="1759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本链不经 NK1.1，直接取 CD3e⁻CD49b⁺。Alexa 700 通道未加抗体，第 4 格的纵轴仅作背景。</a:t>
            </a:r>
            <a:endParaRPr sz="9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00001" name="ExpDate"/>
          <p:cNvSpPr txBox="1"/>
          <p:nvPr/>
        </p:nvSpPr>
        <p:spPr>
          <a:xfrm>
            <a:off x="9750000" y="6530000"/>
            <a:ext cx="2300000" cy="27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r>
              <a:rPr lang="zh-CN" altLang="en-US" sz="900">
                <a:solidFill>
                  <a:srgbClr val="808080"/>
                </a:solidFill>
              </a:rPr>
              <a:t>试验日期：2026-10-09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777" y="287269"/>
            <a:ext cx="11131656" cy="3893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NK 细胞 CCL3 / CCL4 / CCL5 表达　六个组织</a:t>
            </a:r>
            <a:endParaRPr sz="20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0040" y="933623"/>
            <a:ext cx="1077257" cy="2225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CCL3</a:t>
            </a:r>
            <a:endParaRPr sz="11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79114" y="933623"/>
            <a:ext cx="1077257" cy="2225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CCL4</a:t>
            </a:r>
            <a:endParaRPr sz="11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28188" y="933623"/>
            <a:ext cx="1077257" cy="2225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CCL5</a:t>
            </a:r>
            <a:endParaRPr sz="11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4143" y="1328617"/>
            <a:ext cx="789988" cy="377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血</a:t>
            </a:r>
            <a:endParaRPr sz="11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5000"/>
              </a:lnSpc>
            </a:pPr>
            <a:r>
              <a:rPr sz="70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CD3e⁻CD49b⁺</a:t>
            </a:r>
            <a:endParaRPr sz="70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Picture 6" descr="门控1_r2c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0040" y="1149075"/>
            <a:ext cx="1077257" cy="825896"/>
          </a:xfrm>
          <a:prstGeom prst="rect">
            <a:avLst/>
          </a:prstGeom>
        </p:spPr>
      </p:pic>
      <p:pic>
        <p:nvPicPr>
          <p:cNvPr id="8" name="Picture 7" descr="门控1_r3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114" y="1149075"/>
            <a:ext cx="1077257" cy="825896"/>
          </a:xfrm>
          <a:prstGeom prst="rect">
            <a:avLst/>
          </a:prstGeom>
        </p:spPr>
      </p:pic>
      <p:pic>
        <p:nvPicPr>
          <p:cNvPr id="9" name="Picture 8" descr="门控1_r3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8188" y="1149075"/>
            <a:ext cx="1077257" cy="825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4143" y="2165287"/>
            <a:ext cx="789988" cy="377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肿瘤</a:t>
            </a:r>
            <a:endParaRPr sz="11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5000"/>
              </a:lnSpc>
            </a:pPr>
            <a:r>
              <a:rPr sz="70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CD3e⁻CD49b⁺</a:t>
            </a:r>
            <a:endParaRPr sz="70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1" name="Picture 10" descr="结果_r2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040" y="1985744"/>
            <a:ext cx="1077257" cy="825896"/>
          </a:xfrm>
          <a:prstGeom prst="rect">
            <a:avLst/>
          </a:prstGeom>
        </p:spPr>
      </p:pic>
      <p:pic>
        <p:nvPicPr>
          <p:cNvPr id="12" name="Picture 11" descr="结果_r2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9114" y="1985744"/>
            <a:ext cx="1077257" cy="825896"/>
          </a:xfrm>
          <a:prstGeom prst="rect">
            <a:avLst/>
          </a:prstGeom>
        </p:spPr>
      </p:pic>
      <p:pic>
        <p:nvPicPr>
          <p:cNvPr id="13" name="Picture 12" descr="结果_r2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8188" y="1985744"/>
            <a:ext cx="1077257" cy="825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4143" y="3001957"/>
            <a:ext cx="789988" cy="377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肝</a:t>
            </a:r>
            <a:endParaRPr sz="11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5000"/>
              </a:lnSpc>
            </a:pPr>
            <a:r>
              <a:rPr sz="70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CD49a⁺CD49b⁻</a:t>
            </a:r>
            <a:endParaRPr sz="70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5" name="Picture 14" descr="结果_r3c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0040" y="2822414"/>
            <a:ext cx="1077257" cy="825896"/>
          </a:xfrm>
          <a:prstGeom prst="rect">
            <a:avLst/>
          </a:prstGeom>
        </p:spPr>
      </p:pic>
      <p:pic>
        <p:nvPicPr>
          <p:cNvPr id="16" name="Picture 15" descr="结果_r3c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9114" y="2822414"/>
            <a:ext cx="1077257" cy="825896"/>
          </a:xfrm>
          <a:prstGeom prst="rect">
            <a:avLst/>
          </a:prstGeom>
        </p:spPr>
      </p:pic>
      <p:pic>
        <p:nvPicPr>
          <p:cNvPr id="17" name="Picture 16" descr="结果_r3c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8188" y="2822414"/>
            <a:ext cx="1077257" cy="825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04143" y="3838626"/>
            <a:ext cx="789988" cy="377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胎盘</a:t>
            </a:r>
            <a:endParaRPr sz="11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5000"/>
              </a:lnSpc>
            </a:pPr>
            <a:r>
              <a:rPr sz="70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CD49a⁺CD49b⁻</a:t>
            </a:r>
            <a:endParaRPr sz="70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9" name="Picture 18" descr="门控2_r3c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0040" y="3659084"/>
            <a:ext cx="1077257" cy="825896"/>
          </a:xfrm>
          <a:prstGeom prst="rect">
            <a:avLst/>
          </a:prstGeom>
        </p:spPr>
      </p:pic>
      <p:pic>
        <p:nvPicPr>
          <p:cNvPr id="20" name="Picture 19" descr="门控2_r3c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79114" y="3659084"/>
            <a:ext cx="1077257" cy="825896"/>
          </a:xfrm>
          <a:prstGeom prst="rect">
            <a:avLst/>
          </a:prstGeom>
        </p:spPr>
      </p:pic>
      <p:pic>
        <p:nvPicPr>
          <p:cNvPr id="21" name="Picture 20" descr="门控2_r3c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28188" y="3659084"/>
            <a:ext cx="1077257" cy="825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04143" y="4675296"/>
            <a:ext cx="789988" cy="377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淋巴结</a:t>
            </a:r>
            <a:endParaRPr sz="11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5000"/>
              </a:lnSpc>
            </a:pPr>
            <a:r>
              <a:rPr sz="70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CD49a⁻CD49b⁺</a:t>
            </a:r>
            <a:endParaRPr sz="70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3" name="Picture 22" descr="结果_r5c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0040" y="4495753"/>
            <a:ext cx="1077257" cy="825896"/>
          </a:xfrm>
          <a:prstGeom prst="rect">
            <a:avLst/>
          </a:prstGeom>
        </p:spPr>
      </p:pic>
      <p:pic>
        <p:nvPicPr>
          <p:cNvPr id="24" name="Picture 23" descr="结果_r5c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79114" y="4495753"/>
            <a:ext cx="1077257" cy="825896"/>
          </a:xfrm>
          <a:prstGeom prst="rect">
            <a:avLst/>
          </a:prstGeom>
        </p:spPr>
      </p:pic>
      <p:pic>
        <p:nvPicPr>
          <p:cNvPr id="25" name="Picture 24" descr="结果_r5c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28188" y="4495753"/>
            <a:ext cx="1077257" cy="82589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04143" y="5511965"/>
            <a:ext cx="789988" cy="377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脾</a:t>
            </a:r>
            <a:endParaRPr sz="11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5000"/>
              </a:lnSpc>
            </a:pPr>
            <a:r>
              <a:rPr sz="70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CD49a⁻CD49b⁺</a:t>
            </a:r>
            <a:endParaRPr sz="70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7" name="Picture 26" descr="结果_r6c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30040" y="5332423"/>
            <a:ext cx="1077257" cy="825896"/>
          </a:xfrm>
          <a:prstGeom prst="rect">
            <a:avLst/>
          </a:prstGeom>
        </p:spPr>
      </p:pic>
      <p:pic>
        <p:nvPicPr>
          <p:cNvPr id="28" name="Picture 27" descr="结果_r6c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79114" y="5332423"/>
            <a:ext cx="1077257" cy="825896"/>
          </a:xfrm>
          <a:prstGeom prst="rect">
            <a:avLst/>
          </a:prstGeom>
        </p:spPr>
      </p:pic>
      <p:pic>
        <p:nvPicPr>
          <p:cNvPr id="29" name="Picture 28" descr="结果_r6c3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28188" y="5332423"/>
            <a:ext cx="1077257" cy="8258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04143" y="6176274"/>
            <a:ext cx="789988" cy="1668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FSC-H ↑</a:t>
            </a:r>
            <a:endParaRPr sz="90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30040" y="6176274"/>
            <a:ext cx="1077257" cy="1668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APC →</a:t>
            </a:r>
            <a:endParaRPr sz="90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379114" y="6176274"/>
            <a:ext cx="1077257" cy="1668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PE →</a:t>
            </a:r>
            <a:endParaRPr sz="90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528188" y="6176274"/>
            <a:ext cx="1077257" cy="1668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PE-Cy7 →</a:t>
            </a:r>
            <a:endParaRPr sz="90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4" name="Picture 33" descr="side_ccl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36348" y="861806"/>
            <a:ext cx="2513600" cy="5781279"/>
          </a:xfrm>
          <a:prstGeom prst="rect">
            <a:avLst/>
          </a:prstGeom>
        </p:spPr>
      </p:pic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7909033" y="933623"/>
          <a:ext cx="3806305" cy="19606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3920"/>
                <a:gridCol w="1350625"/>
                <a:gridCol w="613920"/>
                <a:gridCol w="613920"/>
                <a:gridCol w="613920"/>
              </a:tblGrid>
              <a:tr h="28008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组织</a:t>
                      </a:r>
                      <a:endParaRPr sz="11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读出群</a:t>
                      </a:r>
                      <a:endParaRPr sz="11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CCL3</a:t>
                      </a:r>
                      <a:endParaRPr sz="11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CCL4</a:t>
                      </a:r>
                      <a:endParaRPr sz="11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CCL5</a:t>
                      </a:r>
                      <a:endParaRPr sz="11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800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血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CD3e⁻CD49b⁺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22.4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62.9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00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肿瘤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CD3e⁻CD49b⁺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26.5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5.6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27.0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00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肝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CD49a⁺CD49b⁻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16.2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31.3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00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胎盘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CD49a⁺CD49b⁻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31.9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11.7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15.2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00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淋巴结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CD49a⁻CD49b⁺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2.4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88.3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00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脾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CD49a⁻CD49b⁺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88.5</a:t>
                      </a:r>
                      <a:endParaRPr sz="11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5909" marR="3590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7909033" y="3124045"/>
            <a:ext cx="3806308" cy="3352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实验信息</a:t>
            </a:r>
            <a:endParaRPr sz="11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300"/>
              </a:spcBef>
            </a:pPr>
            <a:r>
              <a:rPr sz="10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小鼠组织，2026-10-09 采集</a:t>
            </a:r>
            <a:endParaRPr sz="10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300"/>
              </a:spcBef>
            </a:pPr>
            <a:r>
              <a:rPr sz="10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BD LSRFortessa X-20</a:t>
            </a:r>
            <a:endParaRPr sz="10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300"/>
              </a:spcBef>
            </a:pPr>
            <a:r>
              <a:rPr sz="10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每组织 4 管（肿瘤 5 管）</a:t>
            </a:r>
            <a:endParaRPr sz="10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300"/>
              </a:spcBef>
            </a:pPr>
            <a:r>
              <a:rPr sz="10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另有 11 管单染补偿对照</a:t>
            </a:r>
            <a:endParaRPr sz="10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1295"/>
              </a:spcBef>
            </a:pPr>
            <a:r>
              <a:rPr sz="11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染色方案</a:t>
            </a:r>
            <a:endParaRPr sz="11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300"/>
              </a:spcBef>
            </a:pPr>
            <a:r>
              <a:rPr sz="10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死活-FVD eFluor 780（APC-Cy7）</a:t>
            </a:r>
            <a:endParaRPr sz="10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300"/>
              </a:spcBef>
            </a:pPr>
            <a:r>
              <a:rPr sz="10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CD45.2-FITC　CD3e-BV421　NK1.1-BV605</a:t>
            </a:r>
            <a:endParaRPr sz="10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300"/>
              </a:spcBef>
            </a:pPr>
            <a:r>
              <a:rPr sz="10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CD49a-PerCP-Cy5.5　CD49b-BUV395</a:t>
            </a:r>
            <a:endParaRPr sz="10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300"/>
              </a:spcBef>
            </a:pPr>
            <a:r>
              <a:rPr sz="10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CCL3-APC　CCL4-PE　CCL5-PE-Cy7</a:t>
            </a:r>
            <a:endParaRPr sz="10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1295"/>
              </a:spcBef>
            </a:pPr>
            <a:r>
              <a:rPr sz="11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阳性门</a:t>
            </a:r>
            <a:endParaRPr sz="11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300"/>
              </a:spcBef>
            </a:pPr>
            <a:r>
              <a:rPr sz="1045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CCL3 90　CCL4 564　CCL5 95，三个读出群共用</a:t>
            </a:r>
            <a:endParaRPr sz="1045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7777" y="6535360"/>
            <a:ext cx="11131656" cy="1762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每组织展示一支代表管，图内数字为该门占所在读出群的百分比；右侧柱状图为该组织全部管，PLANT-W 未计入。</a:t>
            </a:r>
            <a:endParaRPr sz="9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00001" name="ExpDate"/>
          <p:cNvSpPr txBox="1"/>
          <p:nvPr/>
        </p:nvSpPr>
        <p:spPr>
          <a:xfrm>
            <a:off x="9750000" y="6530000"/>
            <a:ext cx="2300000" cy="27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r>
              <a:rPr lang="zh-CN" altLang="en-US" sz="900">
                <a:solidFill>
                  <a:srgbClr val="808080"/>
                </a:solidFill>
              </a:rPr>
              <a:t>试验日期：2026-10-09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777" y="287269"/>
            <a:ext cx="11131656" cy="4821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9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2595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7777" y="1005439"/>
            <a:ext cx="11131656" cy="20351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4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1. CD49a⁺CD49b⁻ </a:t>
            </a:r>
            <a:r>
              <a:rPr sz="1345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的组织驻留型</a:t>
            </a:r>
            <a:r>
              <a:rPr sz="134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45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NK（肝、胎盘）以</a:t>
            </a:r>
            <a:r>
              <a:rPr sz="134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CCL3 与 CCL4 为主：CCL3 35.1 % 与 31.9 %，CCL4 16.2 % 与 11.7 %。</a:t>
            </a:r>
            <a:endParaRPr sz="1345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34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2. CD49a⁻CD49b⁺ </a:t>
            </a:r>
            <a:r>
              <a:rPr sz="1345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的常规</a:t>
            </a:r>
            <a:r>
              <a:rPr sz="134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45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NK（淋巴结、脾）方向相反，以</a:t>
            </a:r>
            <a:r>
              <a:rPr sz="134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CCL5 为主：CCL5 88.3 % 与 88.5 %，而 CCL3 仅 2.4 % 与 3.1 %、CCL4 仅 1.6 % 与 3.4 %。</a:t>
            </a:r>
            <a:endParaRPr sz="1345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34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345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血与肿瘤的</a:t>
            </a:r>
            <a:r>
              <a:rPr sz="134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CD3e⁻CD49b⁺ NK 居中：CCL3 22.4 % 与 26.5 %，CCL5 62.9 % 与 27.0 %，CCL4 </a:t>
            </a:r>
            <a:r>
              <a:rPr sz="1345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均低于</a:t>
            </a:r>
            <a:r>
              <a:rPr sz="134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6 %。</a:t>
            </a:r>
            <a:endParaRPr sz="1345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34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345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三个趋化因子的阳性门已统一为</a:t>
            </a:r>
            <a:r>
              <a:rPr sz="134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90 / 564 / 95，三个读出群共用，组织之间可直接比较。阈值经管内 CD45.2⁻ 细胞核对，CCL4 的 564 </a:t>
            </a:r>
            <a:r>
              <a:rPr sz="1345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落在该阴性群的第</a:t>
            </a:r>
            <a:r>
              <a:rPr sz="134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99.6 </a:t>
            </a:r>
            <a:r>
              <a:rPr sz="1345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百分位</a:t>
            </a:r>
            <a:r>
              <a:rPr sz="1345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345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00001" name="ExpDate"/>
          <p:cNvSpPr txBox="1"/>
          <p:nvPr/>
        </p:nvSpPr>
        <p:spPr>
          <a:xfrm>
            <a:off x="9750000" y="6530000"/>
            <a:ext cx="2300000" cy="27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r>
              <a:rPr lang="zh-CN" altLang="en-US" sz="900">
                <a:solidFill>
                  <a:srgbClr val="808080"/>
                </a:solidFill>
              </a:rPr>
              <a:t>试验日期：2026-10-09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24685</Words>
  <Application>WPS 演示</Application>
  <PresentationFormat>宽屏</PresentationFormat>
  <Paragraphs>3191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4" baseType="lpstr">
      <vt:lpstr>Arial</vt:lpstr>
      <vt:lpstr>宋体</vt:lpstr>
      <vt:lpstr>Wingdings</vt:lpstr>
      <vt:lpstr>Arial</vt:lpstr>
      <vt:lpstr>微软雅黑</vt:lpstr>
      <vt:lpstr>方正雅意黑 GB18030L2</vt:lpstr>
      <vt:lpstr>微软雅黑</vt:lpstr>
      <vt:lpstr>宋体</vt:lpstr>
      <vt:lpstr>Arial Unicode MS</vt:lpstr>
      <vt:lpstr>汉仪书宋二KW</vt:lpstr>
      <vt:lpstr>Calibri</vt:lpstr>
      <vt:lpstr>Helvetica Neue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月满西楼</cp:lastModifiedBy>
  <cp:revision>12</cp:revision>
  <dcterms:created xsi:type="dcterms:W3CDTF">2026-10-10T06:23:21Z</dcterms:created>
  <dcterms:modified xsi:type="dcterms:W3CDTF">2026-10-10T06:23:21Z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987CFA37EB2FA3F3D9D9C96A722A1D9E_43</vt:lpwstr>
  </property>
  <property fmtid="{D5CDD505-2E9C-101B-9397-08002B2CF9AE}" pid="3" name="KSOProductBuildVer">
    <vt:lpwstr>2052-12.1.26046.26046</vt:lpwstr>
  </property>
</Properties>
</file>